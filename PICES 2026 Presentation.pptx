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0_E033BACA.xml" ContentType="application/vnd.ms-powerpoint.comments+xml"/>
  <Override PartName="/ppt/comments/modernComment_101_F7DFE6D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2_2A521A9.xml" ContentType="application/vnd.ms-powerpoint.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modernComment_106_EBF76C5C.xml" ContentType="application/vnd.ms-powerpoint.comments+xml"/>
  <Override PartName="/ppt/notesSlides/notesSlide5.xml" ContentType="application/vnd.openxmlformats-officedocument.presentationml.notesSlide+xml"/>
  <Override PartName="/ppt/comments/modernComment_10B_B832C5FC.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256" r:id="rId2"/>
    <p:sldId id="257" r:id="rId3"/>
    <p:sldId id="263" r:id="rId4"/>
    <p:sldId id="259" r:id="rId5"/>
    <p:sldId id="258" r:id="rId6"/>
    <p:sldId id="264" r:id="rId7"/>
    <p:sldId id="260" r:id="rId8"/>
    <p:sldId id="262" r:id="rId9"/>
    <p:sldId id="265" r:id="rId10"/>
    <p:sldId id="267" r:id="rId11"/>
    <p:sldId id="266" r:id="rId12"/>
    <p:sldId id="268" r:id="rId13"/>
    <p:sldId id="269" r:id="rId14"/>
    <p:sldId id="270" r:id="rId15"/>
    <p:sldId id="271" r:id="rId16"/>
    <p:sldId id="272" r:id="rId17"/>
    <p:sldId id="273" r:id="rId18"/>
    <p:sldId id="274" r:id="rId19"/>
    <p:sldId id="275" r:id="rId20"/>
    <p:sldId id="276"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531" autoAdjust="0"/>
  </p:normalViewPr>
  <p:slideViewPr>
    <p:cSldViewPr snapToGrid="0">
      <p:cViewPr>
        <p:scale>
          <a:sx n="83" d="100"/>
          <a:sy n="83" d="100"/>
        </p:scale>
        <p:origin x="908" y="19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modMainMaster">
      <pc:chgData name="McCloskey, Ross" userId="b1990487-ee44-4922-b58f-5b2980a02730" providerId="ADAL" clId="{7D443C21-FD7D-4E65-8C72-B41829F67170}" dt="2026-10-01T19:03:29.317" v="28415" actId="14100"/>
      <pc:docMkLst>
        <pc:docMk/>
      </pc:docMkLst>
      <pc:sldChg chg="modSp new mod">
        <pc:chgData name="McCloskey, Ross" userId="b1990487-ee44-4922-b58f-5b2980a02730" providerId="ADAL" clId="{7D443C21-FD7D-4E65-8C72-B41829F67170}" dt="2026-09-28T22:15:01.494" v="73" actId="27636"/>
        <pc:sldMkLst>
          <pc:docMk/>
          <pc:sldMk cId="3761486538" sldId="256"/>
        </pc:sldMkLst>
        <pc:spChg chg="mod">
          <ac:chgData name="McCloskey, Ross" userId="b1990487-ee44-4922-b58f-5b2980a02730" providerId="ADAL" clId="{7D443C21-FD7D-4E65-8C72-B41829F67170}" dt="2026-09-28T22:15:01.494" v="73" actId="27636"/>
          <ac:spMkLst>
            <pc:docMk/>
            <pc:sldMk cId="3761486538" sldId="256"/>
            <ac:spMk id="2" creationId="{9414B15A-1BA8-FAE0-F178-B785304BAB9C}"/>
          </ac:spMkLst>
        </pc:spChg>
        <pc:spChg chg="mod">
          <ac:chgData name="McCloskey, Ross" userId="b1990487-ee44-4922-b58f-5b2980a02730" providerId="ADAL" clId="{7D443C21-FD7D-4E65-8C72-B41829F67170}" dt="2026-09-28T22:14:45.435" v="70" actId="1076"/>
          <ac:spMkLst>
            <pc:docMk/>
            <pc:sldMk cId="3761486538" sldId="256"/>
            <ac:spMk id="3" creationId="{762E0F39-94FA-771E-FB61-BEBEF98967E4}"/>
          </ac:spMkLst>
        </pc:spChg>
      </pc:sldChg>
      <pc:sldChg chg="modSp new mod modClrScheme chgLayout">
        <pc:chgData name="McCloskey, Ross" userId="b1990487-ee44-4922-b58f-5b2980a02730" providerId="ADAL" clId="{7D443C21-FD7D-4E65-8C72-B41829F67170}" dt="2026-09-30T00:35:55.606" v="6970" actId="255"/>
        <pc:sldMkLst>
          <pc:docMk/>
          <pc:sldMk cId="4158645981" sldId="257"/>
        </pc:sldMkLst>
        <pc:spChg chg="mod ord">
          <ac:chgData name="McCloskey, Ross" userId="b1990487-ee44-4922-b58f-5b2980a02730" providerId="ADAL" clId="{7D443C21-FD7D-4E65-8C72-B41829F67170}" dt="2026-09-30T00:35:55.606" v="6970" actId="255"/>
          <ac:spMkLst>
            <pc:docMk/>
            <pc:sldMk cId="4158645981" sldId="257"/>
            <ac:spMk id="2" creationId="{CF81FE7A-9C51-A2F5-5A24-379FB7082CB8}"/>
          </ac:spMkLst>
        </pc:spChg>
        <pc:spChg chg="mod ord">
          <ac:chgData name="McCloskey, Ross" userId="b1990487-ee44-4922-b58f-5b2980a02730" providerId="ADAL" clId="{7D443C21-FD7D-4E65-8C72-B41829F67170}" dt="2026-09-28T23:01:57.985" v="3267" actId="255"/>
          <ac:spMkLst>
            <pc:docMk/>
            <pc:sldMk cId="4158645981" sldId="257"/>
            <ac:spMk id="3" creationId="{A57A7D49-2131-463F-4C9D-F7C5639F17BA}"/>
          </ac:spMkLst>
        </pc:spChg>
      </pc:sldChg>
      <pc:sldChg chg="modSp new mod ord modNotesTx">
        <pc:chgData name="McCloskey, Ross" userId="b1990487-ee44-4922-b58f-5b2980a02730" providerId="ADAL" clId="{7D443C21-FD7D-4E65-8C72-B41829F67170}" dt="2026-10-01T17:06:28.651" v="15728" actId="255"/>
        <pc:sldMkLst>
          <pc:docMk/>
          <pc:sldMk cId="44376489" sldId="258"/>
        </pc:sldMkLst>
        <pc:spChg chg="mod">
          <ac:chgData name="McCloskey, Ross" userId="b1990487-ee44-4922-b58f-5b2980a02730" providerId="ADAL" clId="{7D443C21-FD7D-4E65-8C72-B41829F67170}" dt="2026-10-01T15:30:13.848" v="8900" actId="14100"/>
          <ac:spMkLst>
            <pc:docMk/>
            <pc:sldMk cId="44376489" sldId="258"/>
            <ac:spMk id="2" creationId="{F63A7BD9-A216-C803-5B99-4B6B1936302A}"/>
          </ac:spMkLst>
        </pc:spChg>
        <pc:spChg chg="mod">
          <ac:chgData name="McCloskey, Ross" userId="b1990487-ee44-4922-b58f-5b2980a02730" providerId="ADAL" clId="{7D443C21-FD7D-4E65-8C72-B41829F67170}" dt="2026-10-01T17:06:28.651" v="15728" actId="255"/>
          <ac:spMkLst>
            <pc:docMk/>
            <pc:sldMk cId="44376489" sldId="258"/>
            <ac:spMk id="3" creationId="{E199FAA9-8CCF-7FDF-EDB5-A953AF356B0E}"/>
          </ac:spMkLst>
        </pc:spChg>
      </pc:sldChg>
      <pc:sldChg chg="addSp delSp modSp new mod chgLayout modNotesTx">
        <pc:chgData name="McCloskey, Ross" userId="b1990487-ee44-4922-b58f-5b2980a02730" providerId="ADAL" clId="{7D443C21-FD7D-4E65-8C72-B41829F67170}" dt="2026-10-01T16:46:30.287" v="15456" actId="20577"/>
        <pc:sldMkLst>
          <pc:docMk/>
          <pc:sldMk cId="2055671180" sldId="259"/>
        </pc:sldMkLst>
        <pc:spChg chg="mod ord">
          <ac:chgData name="McCloskey, Ross" userId="b1990487-ee44-4922-b58f-5b2980a02730" providerId="ADAL" clId="{7D443C21-FD7D-4E65-8C72-B41829F67170}" dt="2026-10-01T14:52:37.244" v="8177" actId="14100"/>
          <ac:spMkLst>
            <pc:docMk/>
            <pc:sldMk cId="2055671180" sldId="259"/>
            <ac:spMk id="2" creationId="{1B7B1884-9909-6996-B1EF-F9DB304B33C9}"/>
          </ac:spMkLst>
        </pc:spChg>
        <pc:spChg chg="add del mod">
          <ac:chgData name="McCloskey, Ross" userId="b1990487-ee44-4922-b58f-5b2980a02730" providerId="ADAL" clId="{7D443C21-FD7D-4E65-8C72-B41829F67170}" dt="2026-09-30T00:34:19.785" v="6957" actId="700"/>
          <ac:spMkLst>
            <pc:docMk/>
            <pc:sldMk cId="2055671180" sldId="259"/>
            <ac:spMk id="3" creationId="{8ABD6A78-7D89-0D0C-9654-28524A21C501}"/>
          </ac:spMkLst>
        </pc:spChg>
        <pc:spChg chg="add mod">
          <ac:chgData name="McCloskey, Ross" userId="b1990487-ee44-4922-b58f-5b2980a02730" providerId="ADAL" clId="{7D443C21-FD7D-4E65-8C72-B41829F67170}" dt="2026-10-01T14:48:55.772" v="8150" actId="14100"/>
          <ac:spMkLst>
            <pc:docMk/>
            <pc:sldMk cId="2055671180" sldId="259"/>
            <ac:spMk id="3" creationId="{8D7A6167-BF80-593C-A7D0-A97C8E1BD395}"/>
          </ac:spMkLst>
        </pc:spChg>
        <pc:spChg chg="mod ord">
          <ac:chgData name="McCloskey, Ross" userId="b1990487-ee44-4922-b58f-5b2980a02730" providerId="ADAL" clId="{7D443C21-FD7D-4E65-8C72-B41829F67170}" dt="2026-10-01T15:29:18.763" v="8893" actId="20577"/>
          <ac:spMkLst>
            <pc:docMk/>
            <pc:sldMk cId="2055671180" sldId="259"/>
            <ac:spMk id="4" creationId="{BB902A2A-9B25-5B79-B90D-5A644898C111}"/>
          </ac:spMkLst>
        </pc:spChg>
        <pc:spChg chg="add del mod ord">
          <ac:chgData name="McCloskey, Ross" userId="b1990487-ee44-4922-b58f-5b2980a02730" providerId="ADAL" clId="{7D443C21-FD7D-4E65-8C72-B41829F67170}" dt="2026-09-30T00:34:33.138" v="6958" actId="931"/>
          <ac:spMkLst>
            <pc:docMk/>
            <pc:sldMk cId="2055671180" sldId="259"/>
            <ac:spMk id="9" creationId="{08AD9B25-AD8A-09FD-9307-5DB57898D6E5}"/>
          </ac:spMkLst>
        </pc:spChg>
        <pc:picChg chg="add del mod ord">
          <ac:chgData name="McCloskey, Ross" userId="b1990487-ee44-4922-b58f-5b2980a02730" providerId="ADAL" clId="{7D443C21-FD7D-4E65-8C72-B41829F67170}" dt="2026-09-30T00:28:04.635" v="6897" actId="931"/>
          <ac:picMkLst>
            <pc:docMk/>
            <pc:sldMk cId="2055671180" sldId="259"/>
            <ac:picMk id="6" creationId="{B378F897-A8F6-2A91-42E7-EB629FF694F0}"/>
          </ac:picMkLst>
        </pc:picChg>
        <pc:picChg chg="add del mod ord">
          <ac:chgData name="McCloskey, Ross" userId="b1990487-ee44-4922-b58f-5b2980a02730" providerId="ADAL" clId="{7D443C21-FD7D-4E65-8C72-B41829F67170}" dt="2026-09-30T00:33:55.991" v="6956" actId="931"/>
          <ac:picMkLst>
            <pc:docMk/>
            <pc:sldMk cId="2055671180" sldId="259"/>
            <ac:picMk id="8" creationId="{6F584DCA-4581-C3BF-00F9-520CF65958B5}"/>
          </ac:picMkLst>
        </pc:picChg>
        <pc:picChg chg="add mod ord modCrop">
          <ac:chgData name="McCloskey, Ross" userId="b1990487-ee44-4922-b58f-5b2980a02730" providerId="ADAL" clId="{7D443C21-FD7D-4E65-8C72-B41829F67170}" dt="2026-10-01T14:40:28.826" v="8032" actId="14100"/>
          <ac:picMkLst>
            <pc:docMk/>
            <pc:sldMk cId="2055671180" sldId="259"/>
            <ac:picMk id="11" creationId="{D81E69B6-8227-DAEF-3877-AA8B03C6F6A2}"/>
          </ac:picMkLst>
        </pc:picChg>
      </pc:sldChg>
      <pc:sldChg chg="modSp new mod modNotesTx">
        <pc:chgData name="McCloskey, Ross" userId="b1990487-ee44-4922-b58f-5b2980a02730" providerId="ADAL" clId="{7D443C21-FD7D-4E65-8C72-B41829F67170}" dt="2026-10-01T17:58:45.347" v="19677" actId="20577"/>
        <pc:sldMkLst>
          <pc:docMk/>
          <pc:sldMk cId="3460423272" sldId="260"/>
        </pc:sldMkLst>
        <pc:spChg chg="mod">
          <ac:chgData name="McCloskey, Ross" userId="b1990487-ee44-4922-b58f-5b2980a02730" providerId="ADAL" clId="{7D443C21-FD7D-4E65-8C72-B41829F67170}" dt="2026-10-01T17:11:29.128" v="15729" actId="14100"/>
          <ac:spMkLst>
            <pc:docMk/>
            <pc:sldMk cId="3460423272" sldId="260"/>
            <ac:spMk id="2" creationId="{751DC292-6437-72C8-FE7E-358DAA2DE035}"/>
          </ac:spMkLst>
        </pc:spChg>
        <pc:spChg chg="mod">
          <ac:chgData name="McCloskey, Ross" userId="b1990487-ee44-4922-b58f-5b2980a02730" providerId="ADAL" clId="{7D443C21-FD7D-4E65-8C72-B41829F67170}" dt="2026-10-01T17:58:45.347" v="19677" actId="20577"/>
          <ac:spMkLst>
            <pc:docMk/>
            <pc:sldMk cId="3460423272" sldId="260"/>
            <ac:spMk id="3" creationId="{ECB50B18-4FB1-0283-6385-E05038C7DFF4}"/>
          </ac:spMkLst>
        </pc:spChg>
      </pc:sldChg>
      <pc:sldChg chg="addSp delSp modSp new mod modNotesTx">
        <pc:chgData name="McCloskey, Ross" userId="b1990487-ee44-4922-b58f-5b2980a02730" providerId="ADAL" clId="{7D443C21-FD7D-4E65-8C72-B41829F67170}" dt="2026-10-01T18:44:26.925" v="25866" actId="20577"/>
        <pc:sldMkLst>
          <pc:docMk/>
          <pc:sldMk cId="3958860892" sldId="262"/>
        </pc:sldMkLst>
        <pc:spChg chg="mod">
          <ac:chgData name="McCloskey, Ross" userId="b1990487-ee44-4922-b58f-5b2980a02730" providerId="ADAL" clId="{7D443C21-FD7D-4E65-8C72-B41829F67170}" dt="2026-09-30T00:35:40.982" v="6968" actId="255"/>
          <ac:spMkLst>
            <pc:docMk/>
            <pc:sldMk cId="3958860892" sldId="262"/>
            <ac:spMk id="2" creationId="{ED8F4F21-E44A-8428-88A9-5472B256D169}"/>
          </ac:spMkLst>
        </pc:spChg>
        <pc:spChg chg="mod">
          <ac:chgData name="McCloskey, Ross" userId="b1990487-ee44-4922-b58f-5b2980a02730" providerId="ADAL" clId="{7D443C21-FD7D-4E65-8C72-B41829F67170}" dt="2026-09-28T22:29:52.235" v="694" actId="255"/>
          <ac:spMkLst>
            <pc:docMk/>
            <pc:sldMk cId="3958860892" sldId="262"/>
            <ac:spMk id="3" creationId="{811B784F-B0FE-B134-DE85-B82BC9CF9725}"/>
          </ac:spMkLst>
        </pc:spChg>
        <pc:spChg chg="mod">
          <ac:chgData name="McCloskey, Ross" userId="b1990487-ee44-4922-b58f-5b2980a02730" providerId="ADAL" clId="{7D443C21-FD7D-4E65-8C72-B41829F67170}" dt="2026-10-01T18:14:16.462" v="20994" actId="20577"/>
          <ac:spMkLst>
            <pc:docMk/>
            <pc:sldMk cId="3958860892" sldId="262"/>
            <ac:spMk id="4" creationId="{9E5096C5-3BD2-27F3-58AD-14865937D002}"/>
          </ac:spMkLst>
        </pc:spChg>
        <pc:spChg chg="add del mod">
          <ac:chgData name="McCloskey, Ross" userId="b1990487-ee44-4922-b58f-5b2980a02730" providerId="ADAL" clId="{7D443C21-FD7D-4E65-8C72-B41829F67170}" dt="2026-09-28T22:29:59.904" v="695" actId="255"/>
          <ac:spMkLst>
            <pc:docMk/>
            <pc:sldMk cId="3958860892" sldId="262"/>
            <ac:spMk id="5" creationId="{941A9FE0-0831-3314-E63A-403E0F0F6E75}"/>
          </ac:spMkLst>
        </pc:spChg>
        <pc:spChg chg="mod">
          <ac:chgData name="McCloskey, Ross" userId="b1990487-ee44-4922-b58f-5b2980a02730" providerId="ADAL" clId="{7D443C21-FD7D-4E65-8C72-B41829F67170}" dt="2026-10-01T18:13:55.936" v="20965" actId="27636"/>
          <ac:spMkLst>
            <pc:docMk/>
            <pc:sldMk cId="3958860892" sldId="262"/>
            <ac:spMk id="6" creationId="{E709375E-380E-E0E4-AABB-C3C82F7FD360}"/>
          </ac:spMkLst>
        </pc:spChg>
        <pc:spChg chg="add mod">
          <ac:chgData name="McCloskey, Ross" userId="b1990487-ee44-4922-b58f-5b2980a02730" providerId="ADAL" clId="{7D443C21-FD7D-4E65-8C72-B41829F67170}" dt="2026-09-28T22:30:10.489" v="702" actId="255"/>
          <ac:spMkLst>
            <pc:docMk/>
            <pc:sldMk cId="3958860892" sldId="262"/>
            <ac:spMk id="10" creationId="{4897BA95-02F0-B7E1-1044-1BA7DA428238}"/>
          </ac:spMkLst>
        </pc:spChg>
        <pc:spChg chg="add mod">
          <ac:chgData name="McCloskey, Ross" userId="b1990487-ee44-4922-b58f-5b2980a02730" providerId="ADAL" clId="{7D443C21-FD7D-4E65-8C72-B41829F67170}" dt="2026-10-01T18:33:25.900" v="24146" actId="20577"/>
          <ac:spMkLst>
            <pc:docMk/>
            <pc:sldMk cId="3958860892" sldId="262"/>
            <ac:spMk id="14" creationId="{B6290506-0F17-7A96-BD89-BF7282E95E12}"/>
          </ac:spMkLst>
        </pc:spChg>
        <pc:cxnChg chg="add mod">
          <ac:chgData name="McCloskey, Ross" userId="b1990487-ee44-4922-b58f-5b2980a02730" providerId="ADAL" clId="{7D443C21-FD7D-4E65-8C72-B41829F67170}" dt="2026-09-28T22:44:29.434" v="1291" actId="13822"/>
          <ac:cxnSpMkLst>
            <pc:docMk/>
            <pc:sldMk cId="3958860892" sldId="262"/>
            <ac:cxnSpMk id="16" creationId="{50253486-C68C-51C9-A40E-06E059ABBD6E}"/>
          </ac:cxnSpMkLst>
        </pc:cxnChg>
        <pc:cxnChg chg="add mod">
          <ac:chgData name="McCloskey, Ross" userId="b1990487-ee44-4922-b58f-5b2980a02730" providerId="ADAL" clId="{7D443C21-FD7D-4E65-8C72-B41829F67170}" dt="2026-09-28T22:44:39.326" v="1294" actId="1076"/>
          <ac:cxnSpMkLst>
            <pc:docMk/>
            <pc:sldMk cId="3958860892" sldId="262"/>
            <ac:cxnSpMk id="17" creationId="{4338D88A-853D-90FD-85D3-713F2340645C}"/>
          </ac:cxnSpMkLst>
        </pc:cxnChg>
        <pc:cxnChg chg="add mod">
          <ac:chgData name="McCloskey, Ross" userId="b1990487-ee44-4922-b58f-5b2980a02730" providerId="ADAL" clId="{7D443C21-FD7D-4E65-8C72-B41829F67170}" dt="2026-09-28T22:44:49.810" v="1295" actId="1076"/>
          <ac:cxnSpMkLst>
            <pc:docMk/>
            <pc:sldMk cId="3958860892" sldId="262"/>
            <ac:cxnSpMk id="18" creationId="{50713E81-6361-0A83-AB67-A91F8B3DCF06}"/>
          </ac:cxnSpMkLst>
        </pc:cxnChg>
      </pc:sldChg>
      <pc:sldChg chg="delSp modSp new mod">
        <pc:chgData name="McCloskey, Ross" userId="b1990487-ee44-4922-b58f-5b2980a02730" providerId="ADAL" clId="{7D443C21-FD7D-4E65-8C72-B41829F67170}" dt="2026-10-01T14:28:30.475" v="7057" actId="478"/>
        <pc:sldMkLst>
          <pc:docMk/>
          <pc:sldMk cId="537475907" sldId="263"/>
        </pc:sldMkLst>
        <pc:spChg chg="mod">
          <ac:chgData name="McCloskey, Ross" userId="b1990487-ee44-4922-b58f-5b2980a02730" providerId="ADAL" clId="{7D443C21-FD7D-4E65-8C72-B41829F67170}" dt="2026-09-28T22:40:58.686" v="1000" actId="122"/>
          <ac:spMkLst>
            <pc:docMk/>
            <pc:sldMk cId="537475907" sldId="263"/>
            <ac:spMk id="2" creationId="{DABE3F03-D8C1-AD38-095D-B69CB01CC9C5}"/>
          </ac:spMkLst>
        </pc:spChg>
        <pc:spChg chg="del">
          <ac:chgData name="McCloskey, Ross" userId="b1990487-ee44-4922-b58f-5b2980a02730" providerId="ADAL" clId="{7D443C21-FD7D-4E65-8C72-B41829F67170}" dt="2026-10-01T14:28:30.475" v="7057" actId="478"/>
          <ac:spMkLst>
            <pc:docMk/>
            <pc:sldMk cId="537475907" sldId="263"/>
            <ac:spMk id="3" creationId="{84462BD9-2371-7068-6CAF-8F7AEBE518EB}"/>
          </ac:spMkLst>
        </pc:spChg>
      </pc:sldChg>
      <pc:sldChg chg="delSp modSp new mod">
        <pc:chgData name="McCloskey, Ross" userId="b1990487-ee44-4922-b58f-5b2980a02730" providerId="ADAL" clId="{7D443C21-FD7D-4E65-8C72-B41829F67170}" dt="2026-10-01T14:43:41.048" v="8103" actId="478"/>
        <pc:sldMkLst>
          <pc:docMk/>
          <pc:sldMk cId="4095987181" sldId="264"/>
        </pc:sldMkLst>
        <pc:spChg chg="mod">
          <ac:chgData name="McCloskey, Ross" userId="b1990487-ee44-4922-b58f-5b2980a02730" providerId="ADAL" clId="{7D443C21-FD7D-4E65-8C72-B41829F67170}" dt="2026-09-28T22:41:28.300" v="1047" actId="122"/>
          <ac:spMkLst>
            <pc:docMk/>
            <pc:sldMk cId="4095987181" sldId="264"/>
            <ac:spMk id="2" creationId="{3990C8C9-DCCB-9092-1633-D30892F6B909}"/>
          </ac:spMkLst>
        </pc:spChg>
        <pc:spChg chg="del">
          <ac:chgData name="McCloskey, Ross" userId="b1990487-ee44-4922-b58f-5b2980a02730" providerId="ADAL" clId="{7D443C21-FD7D-4E65-8C72-B41829F67170}" dt="2026-10-01T14:43:41.048" v="8103" actId="478"/>
          <ac:spMkLst>
            <pc:docMk/>
            <pc:sldMk cId="4095987181" sldId="264"/>
            <ac:spMk id="3" creationId="{FBB53ED4-1760-1D89-0CC2-26434F23C431}"/>
          </ac:spMkLst>
        </pc:spChg>
      </pc:sldChg>
      <pc:sldChg chg="addSp delSp modSp new mod modClrScheme chgLayout">
        <pc:chgData name="McCloskey, Ross" userId="b1990487-ee44-4922-b58f-5b2980a02730" providerId="ADAL" clId="{7D443C21-FD7D-4E65-8C72-B41829F67170}" dt="2026-10-01T15:24:33.386" v="8577" actId="478"/>
        <pc:sldMkLst>
          <pc:docMk/>
          <pc:sldMk cId="552340326" sldId="265"/>
        </pc:sldMkLst>
        <pc:spChg chg="mod ord">
          <ac:chgData name="McCloskey, Ross" userId="b1990487-ee44-4922-b58f-5b2980a02730" providerId="ADAL" clId="{7D443C21-FD7D-4E65-8C72-B41829F67170}" dt="2026-09-28T22:45:57.269" v="1304" actId="700"/>
          <ac:spMkLst>
            <pc:docMk/>
            <pc:sldMk cId="552340326" sldId="265"/>
            <ac:spMk id="2" creationId="{5E491BF2-BE1A-1528-5C92-EB5549F9C0A6}"/>
          </ac:spMkLst>
        </pc:spChg>
        <pc:spChg chg="add del mod ord">
          <ac:chgData name="McCloskey, Ross" userId="b1990487-ee44-4922-b58f-5b2980a02730" providerId="ADAL" clId="{7D443C21-FD7D-4E65-8C72-B41829F67170}" dt="2026-10-01T15:24:33.386" v="8577" actId="478"/>
          <ac:spMkLst>
            <pc:docMk/>
            <pc:sldMk cId="552340326" sldId="265"/>
            <ac:spMk id="3" creationId="{D1AEFAF1-D499-19A9-E3D2-E4A0A61A88F8}"/>
          </ac:spMkLst>
        </pc:spChg>
      </pc:sldChg>
      <pc:sldChg chg="addSp delSp modSp new mod modClrScheme chgLayout modNotesTx">
        <pc:chgData name="McCloskey, Ross" userId="b1990487-ee44-4922-b58f-5b2980a02730" providerId="ADAL" clId="{7D443C21-FD7D-4E65-8C72-B41829F67170}" dt="2026-10-01T19:03:29.317" v="28415" actId="14100"/>
        <pc:sldMkLst>
          <pc:docMk/>
          <pc:sldMk cId="1943530923" sldId="266"/>
        </pc:sldMkLst>
        <pc:spChg chg="mod ord">
          <ac:chgData name="McCloskey, Ross" userId="b1990487-ee44-4922-b58f-5b2980a02730" providerId="ADAL" clId="{7D443C21-FD7D-4E65-8C72-B41829F67170}" dt="2026-10-01T14:51:00.317" v="8163" actId="14100"/>
          <ac:spMkLst>
            <pc:docMk/>
            <pc:sldMk cId="1943530923" sldId="266"/>
            <ac:spMk id="2" creationId="{942C52EC-1B0B-CAE3-D686-BE73422DB350}"/>
          </ac:spMkLst>
        </pc:spChg>
        <pc:spChg chg="del mod ord">
          <ac:chgData name="McCloskey, Ross" userId="b1990487-ee44-4922-b58f-5b2980a02730" providerId="ADAL" clId="{7D443C21-FD7D-4E65-8C72-B41829F67170}" dt="2026-09-30T00:36:31.267" v="6972" actId="931"/>
          <ac:spMkLst>
            <pc:docMk/>
            <pc:sldMk cId="1943530923" sldId="266"/>
            <ac:spMk id="3" creationId="{9FF00D4B-CEFF-9983-910F-ABF6C598D1C9}"/>
          </ac:spMkLst>
        </pc:spChg>
        <pc:spChg chg="add del mod ord">
          <ac:chgData name="McCloskey, Ross" userId="b1990487-ee44-4922-b58f-5b2980a02730" providerId="ADAL" clId="{7D443C21-FD7D-4E65-8C72-B41829F67170}" dt="2026-09-30T00:33:49.622" v="6944" actId="700"/>
          <ac:spMkLst>
            <pc:docMk/>
            <pc:sldMk cId="1943530923" sldId="266"/>
            <ac:spMk id="4" creationId="{A528A679-7310-89B7-5F03-B964BA13A7C2}"/>
          </ac:spMkLst>
        </pc:spChg>
        <pc:spChg chg="add mod">
          <ac:chgData name="McCloskey, Ross" userId="b1990487-ee44-4922-b58f-5b2980a02730" providerId="ADAL" clId="{7D443C21-FD7D-4E65-8C72-B41829F67170}" dt="2026-10-01T15:08:12.189" v="8462" actId="1076"/>
          <ac:spMkLst>
            <pc:docMk/>
            <pc:sldMk cId="1943530923" sldId="266"/>
            <ac:spMk id="4" creationId="{BEB2B846-EAB3-403A-6CFB-8DC0144135E8}"/>
          </ac:spMkLst>
        </pc:spChg>
        <pc:spChg chg="add mod ord">
          <ac:chgData name="McCloskey, Ross" userId="b1990487-ee44-4922-b58f-5b2980a02730" providerId="ADAL" clId="{7D443C21-FD7D-4E65-8C72-B41829F67170}" dt="2026-10-01T19:03:11.039" v="28414" actId="27636"/>
          <ac:spMkLst>
            <pc:docMk/>
            <pc:sldMk cId="1943530923" sldId="266"/>
            <ac:spMk id="7" creationId="{37231315-04AE-B570-9CA2-A28B0C7843E7}"/>
          </ac:spMkLst>
        </pc:spChg>
        <pc:spChg chg="add del mod">
          <ac:chgData name="McCloskey, Ross" userId="b1990487-ee44-4922-b58f-5b2980a02730" providerId="ADAL" clId="{7D443C21-FD7D-4E65-8C72-B41829F67170}" dt="2026-09-30T00:38:52.140" v="7015" actId="931"/>
          <ac:spMkLst>
            <pc:docMk/>
            <pc:sldMk cId="1943530923" sldId="266"/>
            <ac:spMk id="13" creationId="{3DAF93A4-26DB-E2C7-1C58-54F751081734}"/>
          </ac:spMkLst>
        </pc:spChg>
        <pc:picChg chg="add del mod ord">
          <ac:chgData name="McCloskey, Ross" userId="b1990487-ee44-4922-b58f-5b2980a02730" providerId="ADAL" clId="{7D443C21-FD7D-4E65-8C72-B41829F67170}" dt="2026-09-30T00:33:49.163" v="6943" actId="931"/>
          <ac:picMkLst>
            <pc:docMk/>
            <pc:sldMk cId="1943530923" sldId="266"/>
            <ac:picMk id="6" creationId="{14B44B99-54AE-90C1-FC63-5DC5BCBC2DE5}"/>
          </ac:picMkLst>
        </pc:picChg>
        <pc:picChg chg="add del mod ord">
          <ac:chgData name="McCloskey, Ross" userId="b1990487-ee44-4922-b58f-5b2980a02730" providerId="ADAL" clId="{7D443C21-FD7D-4E65-8C72-B41829F67170}" dt="2026-09-30T00:38:43.133" v="7014" actId="478"/>
          <ac:picMkLst>
            <pc:docMk/>
            <pc:sldMk cId="1943530923" sldId="266"/>
            <ac:picMk id="9" creationId="{545317A6-8250-55D7-D8C9-744717DDC879}"/>
          </ac:picMkLst>
        </pc:picChg>
        <pc:picChg chg="add del">
          <ac:chgData name="McCloskey, Ross" userId="b1990487-ee44-4922-b58f-5b2980a02730" providerId="ADAL" clId="{7D443C21-FD7D-4E65-8C72-B41829F67170}" dt="2026-09-30T00:38:17.847" v="7009" actId="21"/>
          <ac:picMkLst>
            <pc:docMk/>
            <pc:sldMk cId="1943530923" sldId="266"/>
            <ac:picMk id="11" creationId="{30520A8F-C068-1272-E9F4-83C16346E37A}"/>
          </ac:picMkLst>
        </pc:picChg>
        <pc:picChg chg="add mod ord modCrop">
          <ac:chgData name="McCloskey, Ross" userId="b1990487-ee44-4922-b58f-5b2980a02730" providerId="ADAL" clId="{7D443C21-FD7D-4E65-8C72-B41829F67170}" dt="2026-10-01T19:03:29.317" v="28415" actId="14100"/>
          <ac:picMkLst>
            <pc:docMk/>
            <pc:sldMk cId="1943530923" sldId="266"/>
            <ac:picMk id="15" creationId="{48D38E96-EB96-B298-D1D7-F15B7624B8CC}"/>
          </ac:picMkLst>
        </pc:picChg>
      </pc:sldChg>
      <pc:sldChg chg="addSp delSp modSp new mod ord modClrScheme chgLayout modNotesTx">
        <pc:chgData name="McCloskey, Ross" userId="b1990487-ee44-4922-b58f-5b2980a02730" providerId="ADAL" clId="{7D443C21-FD7D-4E65-8C72-B41829F67170}" dt="2026-10-01T18:51:45.949" v="26803" actId="14100"/>
        <pc:sldMkLst>
          <pc:docMk/>
          <pc:sldMk cId="3090335228" sldId="267"/>
        </pc:sldMkLst>
        <pc:spChg chg="mod ord">
          <ac:chgData name="McCloskey, Ross" userId="b1990487-ee44-4922-b58f-5b2980a02730" providerId="ADAL" clId="{7D443C21-FD7D-4E65-8C72-B41829F67170}" dt="2026-10-01T15:09:55.118" v="8468" actId="14100"/>
          <ac:spMkLst>
            <pc:docMk/>
            <pc:sldMk cId="3090335228" sldId="267"/>
            <ac:spMk id="2" creationId="{A4CFD3E4-2EFF-D8D3-5184-E3EC6B860EEB}"/>
          </ac:spMkLst>
        </pc:spChg>
        <pc:spChg chg="del mod ord">
          <ac:chgData name="McCloskey, Ross" userId="b1990487-ee44-4922-b58f-5b2980a02730" providerId="ADAL" clId="{7D443C21-FD7D-4E65-8C72-B41829F67170}" dt="2026-09-30T00:38:28.614" v="7010" actId="931"/>
          <ac:spMkLst>
            <pc:docMk/>
            <pc:sldMk cId="3090335228" sldId="267"/>
            <ac:spMk id="3" creationId="{BE9147C8-0BE9-DE97-2161-A659EC41FC24}"/>
          </ac:spMkLst>
        </pc:spChg>
        <pc:spChg chg="add mod">
          <ac:chgData name="McCloskey, Ross" userId="b1990487-ee44-4922-b58f-5b2980a02730" providerId="ADAL" clId="{7D443C21-FD7D-4E65-8C72-B41829F67170}" dt="2026-10-01T15:05:47.471" v="8385" actId="255"/>
          <ac:spMkLst>
            <pc:docMk/>
            <pc:sldMk cId="3090335228" sldId="267"/>
            <ac:spMk id="4" creationId="{3D4151DB-09D6-2F42-42B3-F10195BC00EB}"/>
          </ac:spMkLst>
        </pc:spChg>
        <pc:spChg chg="add del mod ord">
          <ac:chgData name="McCloskey, Ross" userId="b1990487-ee44-4922-b58f-5b2980a02730" providerId="ADAL" clId="{7D443C21-FD7D-4E65-8C72-B41829F67170}" dt="2026-09-30T00:33:46.910" v="6940" actId="700"/>
          <ac:spMkLst>
            <pc:docMk/>
            <pc:sldMk cId="3090335228" sldId="267"/>
            <ac:spMk id="4" creationId="{FFC15804-74BD-866B-C7A6-C9E06FE08D46}"/>
          </ac:spMkLst>
        </pc:spChg>
        <pc:spChg chg="add mod ord">
          <ac:chgData name="McCloskey, Ross" userId="b1990487-ee44-4922-b58f-5b2980a02730" providerId="ADAL" clId="{7D443C21-FD7D-4E65-8C72-B41829F67170}" dt="2026-10-01T18:51:45.949" v="26803" actId="14100"/>
          <ac:spMkLst>
            <pc:docMk/>
            <pc:sldMk cId="3090335228" sldId="267"/>
            <ac:spMk id="7" creationId="{37B4AFB3-D8A4-32C0-8A0F-A2A6CF834B2C}"/>
          </ac:spMkLst>
        </pc:spChg>
        <pc:picChg chg="add del mod ord">
          <ac:chgData name="McCloskey, Ross" userId="b1990487-ee44-4922-b58f-5b2980a02730" providerId="ADAL" clId="{7D443C21-FD7D-4E65-8C72-B41829F67170}" dt="2026-09-30T00:33:46.142" v="6939" actId="931"/>
          <ac:picMkLst>
            <pc:docMk/>
            <pc:sldMk cId="3090335228" sldId="267"/>
            <ac:picMk id="6" creationId="{495C0765-8070-9F63-1249-ACAA6B7D5D69}"/>
          </ac:picMkLst>
        </pc:picChg>
        <pc:picChg chg="add mod ord">
          <ac:chgData name="McCloskey, Ross" userId="b1990487-ee44-4922-b58f-5b2980a02730" providerId="ADAL" clId="{7D443C21-FD7D-4E65-8C72-B41829F67170}" dt="2026-10-01T15:04:05.578" v="8373" actId="1076"/>
          <ac:picMkLst>
            <pc:docMk/>
            <pc:sldMk cId="3090335228" sldId="267"/>
            <ac:picMk id="9" creationId="{32A1F273-02B1-F52E-15DB-ECD7D6AC29BC}"/>
          </ac:picMkLst>
        </pc:picChg>
        <pc:picChg chg="add mod">
          <ac:chgData name="McCloskey, Ross" userId="b1990487-ee44-4922-b58f-5b2980a02730" providerId="ADAL" clId="{7D443C21-FD7D-4E65-8C72-B41829F67170}" dt="2026-10-01T18:45:28.608" v="25869" actId="1076"/>
          <ac:picMkLst>
            <pc:docMk/>
            <pc:sldMk cId="3090335228" sldId="267"/>
            <ac:picMk id="11" creationId="{E9DEDAC5-9FE2-AE67-7F01-F1354976CC81}"/>
          </ac:picMkLst>
        </pc:picChg>
      </pc:sldChg>
      <pc:sldChg chg="addSp delSp modSp new mod modClrScheme chgLayout modNotesTx">
        <pc:chgData name="McCloskey, Ross" userId="b1990487-ee44-4922-b58f-5b2980a02730" providerId="ADAL" clId="{7D443C21-FD7D-4E65-8C72-B41829F67170}" dt="2026-10-01T15:10:08.409" v="8469" actId="14100"/>
        <pc:sldMkLst>
          <pc:docMk/>
          <pc:sldMk cId="2246688222" sldId="268"/>
        </pc:sldMkLst>
        <pc:spChg chg="mod ord">
          <ac:chgData name="McCloskey, Ross" userId="b1990487-ee44-4922-b58f-5b2980a02730" providerId="ADAL" clId="{7D443C21-FD7D-4E65-8C72-B41829F67170}" dt="2026-09-30T00:39:22.214" v="7024" actId="255"/>
          <ac:spMkLst>
            <pc:docMk/>
            <pc:sldMk cId="2246688222" sldId="268"/>
            <ac:spMk id="2" creationId="{F2990784-4E31-B4BA-6288-7565D689B707}"/>
          </ac:spMkLst>
        </pc:spChg>
        <pc:spChg chg="del mod ord">
          <ac:chgData name="McCloskey, Ross" userId="b1990487-ee44-4922-b58f-5b2980a02730" providerId="ADAL" clId="{7D443C21-FD7D-4E65-8C72-B41829F67170}" dt="2026-09-30T00:39:59.766" v="7025" actId="931"/>
          <ac:spMkLst>
            <pc:docMk/>
            <pc:sldMk cId="2246688222" sldId="268"/>
            <ac:spMk id="3" creationId="{3E2C210A-4F9D-84CB-CCDE-57A33032D43F}"/>
          </ac:spMkLst>
        </pc:spChg>
        <pc:spChg chg="add mod ord">
          <ac:chgData name="McCloskey, Ross" userId="b1990487-ee44-4922-b58f-5b2980a02730" providerId="ADAL" clId="{7D443C21-FD7D-4E65-8C72-B41829F67170}" dt="2026-10-01T15:10:08.409" v="8469" actId="14100"/>
          <ac:spMkLst>
            <pc:docMk/>
            <pc:sldMk cId="2246688222" sldId="268"/>
            <ac:spMk id="4" creationId="{0C3037D3-DC72-1D3C-6545-78096BDDC362}"/>
          </ac:spMkLst>
        </pc:spChg>
        <pc:spChg chg="add mod">
          <ac:chgData name="McCloskey, Ross" userId="b1990487-ee44-4922-b58f-5b2980a02730" providerId="ADAL" clId="{7D443C21-FD7D-4E65-8C72-B41829F67170}" dt="2026-10-01T15:06:21.042" v="8389" actId="1076"/>
          <ac:spMkLst>
            <pc:docMk/>
            <pc:sldMk cId="2246688222" sldId="268"/>
            <ac:spMk id="5" creationId="{8CD07FE8-27D1-06D1-143F-8C60B2B79419}"/>
          </ac:spMkLst>
        </pc:spChg>
        <pc:picChg chg="add mod ord">
          <ac:chgData name="McCloskey, Ross" userId="b1990487-ee44-4922-b58f-5b2980a02730" providerId="ADAL" clId="{7D443C21-FD7D-4E65-8C72-B41829F67170}" dt="2026-10-01T15:04:48.336" v="8381" actId="1076"/>
          <ac:picMkLst>
            <pc:docMk/>
            <pc:sldMk cId="2246688222" sldId="268"/>
            <ac:picMk id="6" creationId="{E6ACD0E2-2EDA-CF18-E260-4946C01052E1}"/>
          </ac:picMkLst>
        </pc:picChg>
      </pc:sldChg>
      <pc:sldChg chg="modSp new mod modNotesTx">
        <pc:chgData name="McCloskey, Ross" userId="b1990487-ee44-4922-b58f-5b2980a02730" providerId="ADAL" clId="{7D443C21-FD7D-4E65-8C72-B41829F67170}" dt="2026-09-30T00:41:44.427" v="7042" actId="255"/>
        <pc:sldMkLst>
          <pc:docMk/>
          <pc:sldMk cId="2453236817" sldId="269"/>
        </pc:sldMkLst>
        <pc:spChg chg="mod">
          <ac:chgData name="McCloskey, Ross" userId="b1990487-ee44-4922-b58f-5b2980a02730" providerId="ADAL" clId="{7D443C21-FD7D-4E65-8C72-B41829F67170}" dt="2026-09-30T00:41:44.427" v="7042" actId="255"/>
          <ac:spMkLst>
            <pc:docMk/>
            <pc:sldMk cId="2453236817" sldId="269"/>
            <ac:spMk id="2" creationId="{894A7BD2-3123-DBC7-0364-6D50EC9EC777}"/>
          </ac:spMkLst>
        </pc:spChg>
        <pc:spChg chg="mod">
          <ac:chgData name="McCloskey, Ross" userId="b1990487-ee44-4922-b58f-5b2980a02730" providerId="ADAL" clId="{7D443C21-FD7D-4E65-8C72-B41829F67170}" dt="2026-09-29T23:16:14.810" v="5039" actId="20577"/>
          <ac:spMkLst>
            <pc:docMk/>
            <pc:sldMk cId="2453236817" sldId="269"/>
            <ac:spMk id="3" creationId="{49C733D4-541E-6B5C-3F35-44B27BE9E251}"/>
          </ac:spMkLst>
        </pc:spChg>
      </pc:sldChg>
      <pc:sldChg chg="addSp delSp modSp new mod modClrScheme chgLayout modNotesTx">
        <pc:chgData name="McCloskey, Ross" userId="b1990487-ee44-4922-b58f-5b2980a02730" providerId="ADAL" clId="{7D443C21-FD7D-4E65-8C72-B41829F67170}" dt="2026-10-01T15:13:23.259" v="8509" actId="1076"/>
        <pc:sldMkLst>
          <pc:docMk/>
          <pc:sldMk cId="411295622" sldId="270"/>
        </pc:sldMkLst>
        <pc:spChg chg="mod ord">
          <ac:chgData name="McCloskey, Ross" userId="b1990487-ee44-4922-b58f-5b2980a02730" providerId="ADAL" clId="{7D443C21-FD7D-4E65-8C72-B41829F67170}" dt="2026-10-01T15:08:58.662" v="8465" actId="14100"/>
          <ac:spMkLst>
            <pc:docMk/>
            <pc:sldMk cId="411295622" sldId="270"/>
            <ac:spMk id="2" creationId="{9EC43C86-2320-5407-CAF1-6355534B70FE}"/>
          </ac:spMkLst>
        </pc:spChg>
        <pc:spChg chg="del mod ord">
          <ac:chgData name="McCloskey, Ross" userId="b1990487-ee44-4922-b58f-5b2980a02730" providerId="ADAL" clId="{7D443C21-FD7D-4E65-8C72-B41829F67170}" dt="2026-09-30T00:41:03.403" v="7033" actId="931"/>
          <ac:spMkLst>
            <pc:docMk/>
            <pc:sldMk cId="411295622" sldId="270"/>
            <ac:spMk id="3" creationId="{AD63B79D-B185-6AAA-3C10-32DDE99D7C09}"/>
          </ac:spMkLst>
        </pc:spChg>
        <pc:spChg chg="add mod ord">
          <ac:chgData name="McCloskey, Ross" userId="b1990487-ee44-4922-b58f-5b2980a02730" providerId="ADAL" clId="{7D443C21-FD7D-4E65-8C72-B41829F67170}" dt="2026-10-01T15:10:34.925" v="8486" actId="12"/>
          <ac:spMkLst>
            <pc:docMk/>
            <pc:sldMk cId="411295622" sldId="270"/>
            <ac:spMk id="4" creationId="{A65B3CFA-97A3-E307-EA19-4875A5B6B52F}"/>
          </ac:spMkLst>
        </pc:spChg>
        <pc:spChg chg="add mod">
          <ac:chgData name="McCloskey, Ross" userId="b1990487-ee44-4922-b58f-5b2980a02730" providerId="ADAL" clId="{7D443C21-FD7D-4E65-8C72-B41829F67170}" dt="2026-10-01T15:13:23.259" v="8509" actId="1076"/>
          <ac:spMkLst>
            <pc:docMk/>
            <pc:sldMk cId="411295622" sldId="270"/>
            <ac:spMk id="5" creationId="{81F8C198-9971-89B5-9F13-14847DF39FF1}"/>
          </ac:spMkLst>
        </pc:spChg>
        <pc:picChg chg="add mod ord">
          <ac:chgData name="McCloskey, Ross" userId="b1990487-ee44-4922-b58f-5b2980a02730" providerId="ADAL" clId="{7D443C21-FD7D-4E65-8C72-B41829F67170}" dt="2026-10-01T15:12:22.260" v="8496" actId="14100"/>
          <ac:picMkLst>
            <pc:docMk/>
            <pc:sldMk cId="411295622" sldId="270"/>
            <ac:picMk id="6" creationId="{B3DB197F-6F82-7DF2-2642-58D76DF429EB}"/>
          </ac:picMkLst>
        </pc:picChg>
      </pc:sldChg>
      <pc:sldChg chg="modSp new mod">
        <pc:chgData name="McCloskey, Ross" userId="b1990487-ee44-4922-b58f-5b2980a02730" providerId="ADAL" clId="{7D443C21-FD7D-4E65-8C72-B41829F67170}" dt="2026-09-30T00:41:38.446" v="7041" actId="255"/>
        <pc:sldMkLst>
          <pc:docMk/>
          <pc:sldMk cId="472974113" sldId="271"/>
        </pc:sldMkLst>
        <pc:spChg chg="mod">
          <ac:chgData name="McCloskey, Ross" userId="b1990487-ee44-4922-b58f-5b2980a02730" providerId="ADAL" clId="{7D443C21-FD7D-4E65-8C72-B41829F67170}" dt="2026-09-30T00:41:38.446" v="7041" actId="255"/>
          <ac:spMkLst>
            <pc:docMk/>
            <pc:sldMk cId="472974113" sldId="271"/>
            <ac:spMk id="2" creationId="{987831A5-9696-3FEE-4075-861C1F148C75}"/>
          </ac:spMkLst>
        </pc:spChg>
        <pc:spChg chg="mod">
          <ac:chgData name="McCloskey, Ross" userId="b1990487-ee44-4922-b58f-5b2980a02730" providerId="ADAL" clId="{7D443C21-FD7D-4E65-8C72-B41829F67170}" dt="2026-09-29T23:23:35.527" v="5394" actId="20577"/>
          <ac:spMkLst>
            <pc:docMk/>
            <pc:sldMk cId="472974113" sldId="271"/>
            <ac:spMk id="3" creationId="{926C3FF1-4D3A-ED79-D13C-D662D0DD7179}"/>
          </ac:spMkLst>
        </pc:spChg>
      </pc:sldChg>
      <pc:sldChg chg="addSp delSp modSp new mod modClrScheme chgLayout modNotesTx">
        <pc:chgData name="McCloskey, Ross" userId="b1990487-ee44-4922-b58f-5b2980a02730" providerId="ADAL" clId="{7D443C21-FD7D-4E65-8C72-B41829F67170}" dt="2026-10-01T15:15:35.051" v="8534" actId="1076"/>
        <pc:sldMkLst>
          <pc:docMk/>
          <pc:sldMk cId="207086949" sldId="272"/>
        </pc:sldMkLst>
        <pc:spChg chg="mod ord">
          <ac:chgData name="McCloskey, Ross" userId="b1990487-ee44-4922-b58f-5b2980a02730" providerId="ADAL" clId="{7D443C21-FD7D-4E65-8C72-B41829F67170}" dt="2026-10-01T15:14:03.448" v="8510" actId="14100"/>
          <ac:spMkLst>
            <pc:docMk/>
            <pc:sldMk cId="207086949" sldId="272"/>
            <ac:spMk id="2" creationId="{88BE7433-7DF1-200A-8EB3-7C0C771F440E}"/>
          </ac:spMkLst>
        </pc:spChg>
        <pc:spChg chg="add del mod ord">
          <ac:chgData name="McCloskey, Ross" userId="b1990487-ee44-4922-b58f-5b2980a02730" providerId="ADAL" clId="{7D443C21-FD7D-4E65-8C72-B41829F67170}" dt="2026-09-30T00:42:57.292" v="7048" actId="931"/>
          <ac:spMkLst>
            <pc:docMk/>
            <pc:sldMk cId="207086949" sldId="272"/>
            <ac:spMk id="3" creationId="{95FB02AA-3F00-627C-D12B-200DFD5F7AB3}"/>
          </ac:spMkLst>
        </pc:spChg>
        <pc:spChg chg="add mod ord">
          <ac:chgData name="McCloskey, Ross" userId="b1990487-ee44-4922-b58f-5b2980a02730" providerId="ADAL" clId="{7D443C21-FD7D-4E65-8C72-B41829F67170}" dt="2026-10-01T15:14:24.888" v="8524" actId="20577"/>
          <ac:spMkLst>
            <pc:docMk/>
            <pc:sldMk cId="207086949" sldId="272"/>
            <ac:spMk id="4" creationId="{CB36568B-212A-6B83-84AC-0AF746A6D091}"/>
          </ac:spMkLst>
        </pc:spChg>
        <pc:spChg chg="add mod">
          <ac:chgData name="McCloskey, Ross" userId="b1990487-ee44-4922-b58f-5b2980a02730" providerId="ADAL" clId="{7D443C21-FD7D-4E65-8C72-B41829F67170}" dt="2026-10-01T15:15:35.051" v="8534" actId="1076"/>
          <ac:spMkLst>
            <pc:docMk/>
            <pc:sldMk cId="207086949" sldId="272"/>
            <ac:spMk id="5" creationId="{041FBEE7-96D3-6970-1BE4-EE162EE79E56}"/>
          </ac:spMkLst>
        </pc:spChg>
        <pc:picChg chg="add del mod ord">
          <ac:chgData name="McCloskey, Ross" userId="b1990487-ee44-4922-b58f-5b2980a02730" providerId="ADAL" clId="{7D443C21-FD7D-4E65-8C72-B41829F67170}" dt="2026-09-30T00:42:43.787" v="7047" actId="931"/>
          <ac:picMkLst>
            <pc:docMk/>
            <pc:sldMk cId="207086949" sldId="272"/>
            <ac:picMk id="6" creationId="{D92CCF28-05EF-46B5-7D56-6F002F04152E}"/>
          </ac:picMkLst>
        </pc:picChg>
        <pc:picChg chg="add mod ord">
          <ac:chgData name="McCloskey, Ross" userId="b1990487-ee44-4922-b58f-5b2980a02730" providerId="ADAL" clId="{7D443C21-FD7D-4E65-8C72-B41829F67170}" dt="2026-10-01T15:14:57.514" v="8528" actId="1076"/>
          <ac:picMkLst>
            <pc:docMk/>
            <pc:sldMk cId="207086949" sldId="272"/>
            <ac:picMk id="8" creationId="{F8001FFA-52C8-165C-EE14-74563850B932}"/>
          </ac:picMkLst>
        </pc:picChg>
      </pc:sldChg>
      <pc:sldChg chg="addSp delSp modSp new mod modClrScheme chgLayout">
        <pc:chgData name="McCloskey, Ross" userId="b1990487-ee44-4922-b58f-5b2980a02730" providerId="ADAL" clId="{7D443C21-FD7D-4E65-8C72-B41829F67170}" dt="2026-10-01T15:24:03.596" v="8576" actId="14100"/>
        <pc:sldMkLst>
          <pc:docMk/>
          <pc:sldMk cId="533688400" sldId="273"/>
        </pc:sldMkLst>
        <pc:spChg chg="mod ord">
          <ac:chgData name="McCloskey, Ross" userId="b1990487-ee44-4922-b58f-5b2980a02730" providerId="ADAL" clId="{7D443C21-FD7D-4E65-8C72-B41829F67170}" dt="2026-10-01T15:20:11.942" v="8559" actId="14100"/>
          <ac:spMkLst>
            <pc:docMk/>
            <pc:sldMk cId="533688400" sldId="273"/>
            <ac:spMk id="2" creationId="{8D9880A9-FE8B-682F-04A0-64EC9B050350}"/>
          </ac:spMkLst>
        </pc:spChg>
        <pc:spChg chg="add mod ord">
          <ac:chgData name="McCloskey, Ross" userId="b1990487-ee44-4922-b58f-5b2980a02730" providerId="ADAL" clId="{7D443C21-FD7D-4E65-8C72-B41829F67170}" dt="2026-10-01T15:20:24.313" v="8560" actId="1076"/>
          <ac:spMkLst>
            <pc:docMk/>
            <pc:sldMk cId="533688400" sldId="273"/>
            <ac:spMk id="4" creationId="{BAA0FB04-7C7E-0BE2-7716-F129655F1996}"/>
          </ac:spMkLst>
        </pc:spChg>
        <pc:spChg chg="add del mod ord">
          <ac:chgData name="McCloskey, Ross" userId="b1990487-ee44-4922-b58f-5b2980a02730" providerId="ADAL" clId="{7D443C21-FD7D-4E65-8C72-B41829F67170}" dt="2026-09-30T00:43:42.849" v="7050" actId="931"/>
          <ac:spMkLst>
            <pc:docMk/>
            <pc:sldMk cId="533688400" sldId="273"/>
            <ac:spMk id="5" creationId="{C38D8899-9598-7FFE-C887-52C65C289680}"/>
          </ac:spMkLst>
        </pc:spChg>
        <pc:spChg chg="add mod ord">
          <ac:chgData name="McCloskey, Ross" userId="b1990487-ee44-4922-b58f-5b2980a02730" providerId="ADAL" clId="{7D443C21-FD7D-4E65-8C72-B41829F67170}" dt="2026-10-01T15:20:31.667" v="8561" actId="1076"/>
          <ac:spMkLst>
            <pc:docMk/>
            <pc:sldMk cId="533688400" sldId="273"/>
            <ac:spMk id="6" creationId="{BD9729AB-8830-5169-29F1-9AF4A7E40CF3}"/>
          </ac:spMkLst>
        </pc:spChg>
        <pc:spChg chg="add del mod ord">
          <ac:chgData name="McCloskey, Ross" userId="b1990487-ee44-4922-b58f-5b2980a02730" providerId="ADAL" clId="{7D443C21-FD7D-4E65-8C72-B41829F67170}" dt="2026-09-30T00:44:11.468" v="7054" actId="931"/>
          <ac:spMkLst>
            <pc:docMk/>
            <pc:sldMk cId="533688400" sldId="273"/>
            <ac:spMk id="7" creationId="{6B76257B-D216-5A0E-4FC9-BF6003298719}"/>
          </ac:spMkLst>
        </pc:spChg>
        <pc:spChg chg="add mod">
          <ac:chgData name="McCloskey, Ross" userId="b1990487-ee44-4922-b58f-5b2980a02730" providerId="ADAL" clId="{7D443C21-FD7D-4E65-8C72-B41829F67170}" dt="2026-10-01T15:21:44.768" v="8570" actId="1076"/>
          <ac:spMkLst>
            <pc:docMk/>
            <pc:sldMk cId="533688400" sldId="273"/>
            <ac:spMk id="14" creationId="{EB3FF90F-C69E-92AE-8B64-A6A3F6312869}"/>
          </ac:spMkLst>
        </pc:spChg>
        <pc:spChg chg="add mod">
          <ac:chgData name="McCloskey, Ross" userId="b1990487-ee44-4922-b58f-5b2980a02730" providerId="ADAL" clId="{7D443C21-FD7D-4E65-8C72-B41829F67170}" dt="2026-10-01T15:22:16.576" v="8573" actId="1076"/>
          <ac:spMkLst>
            <pc:docMk/>
            <pc:sldMk cId="533688400" sldId="273"/>
            <ac:spMk id="18" creationId="{E3C2233D-1FF6-EF74-AEC9-52418FE21892}"/>
          </ac:spMkLst>
        </pc:spChg>
        <pc:picChg chg="add mod ord">
          <ac:chgData name="McCloskey, Ross" userId="b1990487-ee44-4922-b58f-5b2980a02730" providerId="ADAL" clId="{7D443C21-FD7D-4E65-8C72-B41829F67170}" dt="2026-10-01T15:21:07.880" v="8565" actId="1076"/>
          <ac:picMkLst>
            <pc:docMk/>
            <pc:sldMk cId="533688400" sldId="273"/>
            <ac:picMk id="12" creationId="{5ABB8983-0683-D13F-175D-C473189E039A}"/>
          </ac:picMkLst>
        </pc:picChg>
        <pc:picChg chg="add mod ord">
          <ac:chgData name="McCloskey, Ross" userId="b1990487-ee44-4922-b58f-5b2980a02730" providerId="ADAL" clId="{7D443C21-FD7D-4E65-8C72-B41829F67170}" dt="2026-10-01T15:24:03.596" v="8576" actId="14100"/>
          <ac:picMkLst>
            <pc:docMk/>
            <pc:sldMk cId="533688400" sldId="273"/>
            <ac:picMk id="16" creationId="{F76E13C5-239B-1EAF-C82C-8F1713005E00}"/>
          </ac:picMkLst>
        </pc:picChg>
        <pc:cxnChg chg="add mod">
          <ac:chgData name="McCloskey, Ross" userId="b1990487-ee44-4922-b58f-5b2980a02730" providerId="ADAL" clId="{7D443C21-FD7D-4E65-8C72-B41829F67170}" dt="2026-10-01T15:20:54.776" v="8564" actId="1076"/>
          <ac:cxnSpMkLst>
            <pc:docMk/>
            <pc:sldMk cId="533688400" sldId="273"/>
            <ac:cxnSpMk id="8" creationId="{7ED14631-9637-2EF5-5798-5C75B3A628D9}"/>
          </ac:cxnSpMkLst>
        </pc:cxnChg>
        <pc:cxnChg chg="add mod">
          <ac:chgData name="McCloskey, Ross" userId="b1990487-ee44-4922-b58f-5b2980a02730" providerId="ADAL" clId="{7D443C21-FD7D-4E65-8C72-B41829F67170}" dt="2026-10-01T15:22:43.093" v="8575" actId="1076"/>
          <ac:cxnSpMkLst>
            <pc:docMk/>
            <pc:sldMk cId="533688400" sldId="273"/>
            <ac:cxnSpMk id="9" creationId="{42263333-F232-33A6-6ED3-2A4846A1DB19}"/>
          </ac:cxnSpMkLst>
        </pc:cxnChg>
        <pc:cxnChg chg="add del mod">
          <ac:chgData name="McCloskey, Ross" userId="b1990487-ee44-4922-b58f-5b2980a02730" providerId="ADAL" clId="{7D443C21-FD7D-4E65-8C72-B41829F67170}" dt="2026-10-01T15:20:49.760" v="8563" actId="478"/>
          <ac:cxnSpMkLst>
            <pc:docMk/>
            <pc:sldMk cId="533688400" sldId="273"/>
            <ac:cxnSpMk id="10" creationId="{545ED969-AB63-B36E-6DBB-58B67FA9DD14}"/>
          </ac:cxnSpMkLst>
        </pc:cxnChg>
      </pc:sldChg>
      <pc:sldChg chg="modSp new mod">
        <pc:chgData name="McCloskey, Ross" userId="b1990487-ee44-4922-b58f-5b2980a02730" providerId="ADAL" clId="{7D443C21-FD7D-4E65-8C72-B41829F67170}" dt="2026-09-29T23:38:39.677" v="6643" actId="20577"/>
        <pc:sldMkLst>
          <pc:docMk/>
          <pc:sldMk cId="3961457399" sldId="274"/>
        </pc:sldMkLst>
        <pc:spChg chg="mod">
          <ac:chgData name="McCloskey, Ross" userId="b1990487-ee44-4922-b58f-5b2980a02730" providerId="ADAL" clId="{7D443C21-FD7D-4E65-8C72-B41829F67170}" dt="2026-09-29T23:38:23.494" v="6597" actId="20577"/>
          <ac:spMkLst>
            <pc:docMk/>
            <pc:sldMk cId="3961457399" sldId="274"/>
            <ac:spMk id="2" creationId="{2F2B3A85-FF15-2E24-EA6C-ADE5E4905FFA}"/>
          </ac:spMkLst>
        </pc:spChg>
        <pc:spChg chg="mod">
          <ac:chgData name="McCloskey, Ross" userId="b1990487-ee44-4922-b58f-5b2980a02730" providerId="ADAL" clId="{7D443C21-FD7D-4E65-8C72-B41829F67170}" dt="2026-09-29T23:38:39.677" v="6643" actId="20577"/>
          <ac:spMkLst>
            <pc:docMk/>
            <pc:sldMk cId="3961457399" sldId="274"/>
            <ac:spMk id="3" creationId="{83096D75-D04D-1D5E-BAB4-CA4D9F65201A}"/>
          </ac:spMkLst>
        </pc:spChg>
      </pc:sldChg>
      <pc:sldChg chg="modSp new mod">
        <pc:chgData name="McCloskey, Ross" userId="b1990487-ee44-4922-b58f-5b2980a02730" providerId="ADAL" clId="{7D443C21-FD7D-4E65-8C72-B41829F67170}" dt="2026-09-29T23:46:54.844" v="6829" actId="20577"/>
        <pc:sldMkLst>
          <pc:docMk/>
          <pc:sldMk cId="3828347332" sldId="275"/>
        </pc:sldMkLst>
        <pc:spChg chg="mod">
          <ac:chgData name="McCloskey, Ross" userId="b1990487-ee44-4922-b58f-5b2980a02730" providerId="ADAL" clId="{7D443C21-FD7D-4E65-8C72-B41829F67170}" dt="2026-09-29T23:46:14.518" v="6688" actId="20577"/>
          <ac:spMkLst>
            <pc:docMk/>
            <pc:sldMk cId="3828347332" sldId="275"/>
            <ac:spMk id="2" creationId="{CC7E2660-CCAF-C324-AEDC-DAB568204B99}"/>
          </ac:spMkLst>
        </pc:spChg>
        <pc:spChg chg="mod">
          <ac:chgData name="McCloskey, Ross" userId="b1990487-ee44-4922-b58f-5b2980a02730" providerId="ADAL" clId="{7D443C21-FD7D-4E65-8C72-B41829F67170}" dt="2026-09-29T23:46:54.844" v="6829" actId="20577"/>
          <ac:spMkLst>
            <pc:docMk/>
            <pc:sldMk cId="3828347332" sldId="275"/>
            <ac:spMk id="3" creationId="{885418ED-A63B-953F-40F8-8E5E3218F568}"/>
          </ac:spMkLst>
        </pc:spChg>
      </pc:sldChg>
      <pc:sldChg chg="modSp new mod">
        <pc:chgData name="McCloskey, Ross" userId="b1990487-ee44-4922-b58f-5b2980a02730" providerId="ADAL" clId="{7D443C21-FD7D-4E65-8C72-B41829F67170}" dt="2026-09-29T23:47:12.395" v="6882" actId="20577"/>
        <pc:sldMkLst>
          <pc:docMk/>
          <pc:sldMk cId="2771388592" sldId="276"/>
        </pc:sldMkLst>
        <pc:spChg chg="mod">
          <ac:chgData name="McCloskey, Ross" userId="b1990487-ee44-4922-b58f-5b2980a02730" providerId="ADAL" clId="{7D443C21-FD7D-4E65-8C72-B41829F67170}" dt="2026-09-29T23:47:12.395" v="6882" actId="20577"/>
          <ac:spMkLst>
            <pc:docMk/>
            <pc:sldMk cId="2771388592" sldId="276"/>
            <ac:spMk id="2" creationId="{D0B7F310-40D4-FD3B-A2A4-D56B260073C2}"/>
          </ac:spMkLst>
        </pc:spChg>
      </pc:sldChg>
      <pc:sldChg chg="new del">
        <pc:chgData name="McCloskey, Ross" userId="b1990487-ee44-4922-b58f-5b2980a02730" providerId="ADAL" clId="{7D443C21-FD7D-4E65-8C72-B41829F67170}" dt="2026-09-30T00:37:37.657" v="6994" actId="680"/>
        <pc:sldMkLst>
          <pc:docMk/>
          <pc:sldMk cId="4147534118" sldId="277"/>
        </pc:sldMkLst>
      </pc:sldChg>
    </pc:docChg>
  </pc:docChgLst>
</pc:chgInfo>
</file>

<file path=ppt/comments/modernComment_10B_B832C5FC.xml><?xml version="1.0" encoding="utf-8"?>
<p188:cmLst xmlns:a="http://schemas.openxmlformats.org/drawingml/2006/main" xmlns:r="http://schemas.openxmlformats.org/officeDocument/2006/relationships" xmlns:p188="http://schemas.microsoft.com/office/powerpoint/2018/8/main">
  <p188:cm id="{06D18639-E3A7-4494-98FF-8A671BB6857E}" authorId="{1FD40F21-D16F-913E-F6A3-417C7EBBEA4C}" created="2026-10-01T14:55:03.246">
    <ac:deMkLst xmlns:ac="http://schemas.microsoft.com/office/drawing/2013/main/command">
      <pc:docMk xmlns:pc="http://schemas.microsoft.com/office/powerpoint/2013/main/command"/>
      <pc:sldMk xmlns:pc="http://schemas.microsoft.com/office/powerpoint/2013/main/command" cId="3090335228" sldId="267"/>
      <ac:picMk id="11" creationId="{E9DEDAC5-9FE2-AE67-7F01-F1354976CC81}"/>
    </ac:deMkLst>
    <p188:txBody>
      <a:bodyPr/>
      <a:lstStyle/>
      <a:p>
        <a:r>
          <a:rPr lang="en-US"/>
          <a:t>I’m having some trouble deciding how to format this slide due to the dimensions of the figure. Could we change it in some way to fit better? Could the legend be adjusted?</a:t>
        </a:r>
      </a:p>
    </p188:txBody>
  </p188:cm>
</p188:cmLst>
</file>

<file path=ppt/comments/modernComment_100_E033BACA.xml><?xml version="1.0" encoding="utf-8"?>
<p188:cmLst xmlns:a="http://schemas.openxmlformats.org/drawingml/2006/main" xmlns:r="http://schemas.openxmlformats.org/officeDocument/2006/relationships" xmlns:p188="http://schemas.microsoft.com/office/powerpoint/2018/8/main">
  <p188:cm id="{81D0D287-8A7F-4D96-8CA6-44EED8DF63F0}" authorId="{1FD40F21-D16F-913E-F6A3-417C7EBBEA4C}" created="2026-09-28T22:14:30.190">
    <ac:deMkLst xmlns:ac="http://schemas.microsoft.com/office/drawing/2013/main/command">
      <pc:docMk xmlns:pc="http://schemas.microsoft.com/office/powerpoint/2013/main/command"/>
      <pc:sldMk xmlns:pc="http://schemas.microsoft.com/office/powerpoint/2013/main/command" cId="3761486538" sldId="256"/>
      <ac:spMk id="3" creationId="{762E0F39-94FA-771E-FB61-BEBEF98967E4}"/>
    </ac:deMkLst>
    <p188:txBody>
      <a:bodyPr/>
      <a:lstStyle/>
      <a:p>
        <a:r>
          <a:rPr lang="en-US"/>
          <a:t>Not sure if this is right or if I include affilliations</a:t>
        </a:r>
      </a:p>
    </p188:txBody>
  </p188:cm>
</p188:cmLst>
</file>

<file path=ppt/comments/modernComment_101_F7DFE6DD.xml><?xml version="1.0" encoding="utf-8"?>
<p188:cmLst xmlns:a="http://schemas.openxmlformats.org/drawingml/2006/main" xmlns:r="http://schemas.openxmlformats.org/officeDocument/2006/relationships" xmlns:p188="http://schemas.microsoft.com/office/powerpoint/2018/8/main">
  <p188:cm id="{1DEEAD5F-7AF7-45B0-929D-D4287E272475}" authorId="{1FD40F21-D16F-913E-F6A3-417C7EBBEA4C}" created="2026-09-28T22:17:09.383">
    <pc:sldMkLst xmlns:pc="http://schemas.microsoft.com/office/powerpoint/2013/main/command">
      <pc:docMk/>
      <pc:sldMk cId="4158645981" sldId="257"/>
    </pc:sldMkLst>
    <p188:replyLst>
      <p188:reply id="{C3E1EC91-91D0-42F6-8280-BB54003BFC02}" authorId="{1FD40F21-D16F-913E-F6A3-417C7EBBEA4C}" created="2026-09-28T22:40:49.689">
        <p188:txBody>
          <a:bodyPr/>
          <a:lstStyle/>
          <a:p>
            <a:r>
              <a:rPr lang="en-US"/>
              <a:t>Likewise, are section header slides necessary?</a:t>
            </a:r>
          </a:p>
        </p188:txBody>
      </p188:reply>
    </p188:replyLst>
    <p188:txBody>
      <a:bodyPr/>
      <a:lstStyle/>
      <a:p>
        <a:r>
          <a:rPr lang="en-US"/>
          <a:t>Not sure if a slide like this is necessary. Lot’s of my classes recommended them but in a conference talk context is the outline kind of assumed?</a:t>
        </a:r>
      </a:p>
    </p188:txBody>
  </p188:cm>
</p188:cmLst>
</file>

<file path=ppt/comments/modernComment_102_2A521A9.xml><?xml version="1.0" encoding="utf-8"?>
<p188:cmLst xmlns:a="http://schemas.openxmlformats.org/drawingml/2006/main" xmlns:r="http://schemas.openxmlformats.org/officeDocument/2006/relationships" xmlns:p188="http://schemas.microsoft.com/office/powerpoint/2018/8/main">
  <p188:cm id="{6C1AE8CC-2AE0-4495-B6CE-35399DCF52A7}" authorId="{1FD40F21-D16F-913E-F6A3-417C7EBBEA4C}" created="2026-10-01T15:55:50.347">
    <pc:sldMkLst xmlns:pc="http://schemas.microsoft.com/office/powerpoint/2013/main/command">
      <pc:docMk/>
      <pc:sldMk cId="44376489" sldId="258"/>
    </pc:sldMkLst>
    <p188:txBody>
      <a:bodyPr/>
      <a:lstStyle/>
      <a:p>
        <a:r>
          <a:rPr lang="en-US"/>
          <a:t>Certainly too much text on this slide. Will need to thin it out.</a:t>
        </a:r>
      </a:p>
    </p188:txBody>
  </p188:cm>
</p188:cmLst>
</file>

<file path=ppt/comments/modernComment_106_EBF76C5C.xml><?xml version="1.0" encoding="utf-8"?>
<p188:cmLst xmlns:a="http://schemas.openxmlformats.org/drawingml/2006/main" xmlns:r="http://schemas.openxmlformats.org/officeDocument/2006/relationships" xmlns:p188="http://schemas.microsoft.com/office/powerpoint/2018/8/main">
  <p188:cm id="{DD726A86-1DB1-471E-9CEF-3973163651FC}" authorId="{1FD40F21-D16F-913E-F6A3-417C7EBBEA4C}" created="2026-10-01T18:44:51.956">
    <pc:sldMkLst xmlns:pc="http://schemas.microsoft.com/office/powerpoint/2013/main/command">
      <pc:docMk/>
      <pc:sldMk cId="3958860892" sldId="262"/>
    </pc:sldMkLst>
    <p188:txBody>
      <a:bodyPr/>
      <a:lstStyle/>
      <a:p>
        <a:r>
          <a:rPr lang="en-US"/>
          <a:t>This is another dense slide. Maybe I should break it up?</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2F02B8-4FA1-4FC2-9CCB-CC07671CD3EF}" type="datetimeFigureOut">
              <a:rPr lang="en-US" smtClean="0"/>
              <a:t>10/1/2026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C1AA38-86D1-4674-9C68-DF52A9C1CC65}" type="slidenum">
              <a:rPr lang="en-US" smtClean="0"/>
              <a:t>‹#›</a:t>
            </a:fld>
            <a:endParaRPr lang="en-US"/>
          </a:p>
        </p:txBody>
      </p:sp>
    </p:spTree>
    <p:extLst>
      <p:ext uri="{BB962C8B-B14F-4D97-AF65-F5344CB8AC3E}">
        <p14:creationId xmlns:p14="http://schemas.microsoft.com/office/powerpoint/2010/main" val="680762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Is a dynamic eastern boundary current system </a:t>
            </a:r>
          </a:p>
          <a:p>
            <a:pPr marL="171450" indent="-171450">
              <a:buFont typeface="Arial" panose="020B0604020202020204" pitchFamily="34" charset="0"/>
              <a:buChar char="•"/>
            </a:pPr>
            <a:r>
              <a:rPr lang="en-US" dirty="0"/>
              <a:t>Supports several economically, commercially, and culturally important fish populations</a:t>
            </a:r>
          </a:p>
          <a:p>
            <a:pPr marL="628650" lvl="1" indent="-171450">
              <a:buFont typeface="Arial" panose="020B0604020202020204" pitchFamily="34" charset="0"/>
              <a:buChar char="•"/>
            </a:pPr>
            <a:r>
              <a:rPr lang="en-US" dirty="0"/>
              <a:t>Many of which are tightly coupled to seasonal oceanographic processes during early life stages</a:t>
            </a:r>
          </a:p>
          <a:p>
            <a:pPr marL="171450" lvl="0" indent="-171450">
              <a:buFont typeface="Arial" panose="020B0604020202020204" pitchFamily="34" charset="0"/>
              <a:buChar char="•"/>
            </a:pPr>
            <a:r>
              <a:rPr lang="en-US" dirty="0"/>
              <a:t>Upwelling regimes vary latitudinally and seasonally across the NCC</a:t>
            </a:r>
          </a:p>
          <a:p>
            <a:pPr marL="171450" lvl="0" indent="-171450">
              <a:buFont typeface="Arial" panose="020B0604020202020204" pitchFamily="34" charset="0"/>
              <a:buChar char="•"/>
            </a:pPr>
            <a:r>
              <a:rPr lang="en-US" dirty="0"/>
              <a:t>Oceanographic conditions varied with depth among years</a:t>
            </a:r>
          </a:p>
          <a:p>
            <a:pPr marL="628650" lvl="1" indent="-171450">
              <a:buFont typeface="Arial" panose="020B0604020202020204" pitchFamily="34" charset="0"/>
              <a:buChar char="•"/>
            </a:pPr>
            <a:r>
              <a:rPr lang="en-US" dirty="0"/>
              <a:t>Fairly consistent temperature across depths</a:t>
            </a:r>
          </a:p>
          <a:p>
            <a:pPr marL="628650" lvl="1" indent="-171450">
              <a:buFont typeface="Arial" panose="020B0604020202020204" pitchFamily="34" charset="0"/>
              <a:buChar char="•"/>
            </a:pPr>
            <a:r>
              <a:rPr lang="en-US" dirty="0"/>
              <a:t>Generally increasing salinity with depth</a:t>
            </a:r>
          </a:p>
          <a:p>
            <a:pPr marL="1085850" lvl="2" indent="-171450">
              <a:buFont typeface="Arial" panose="020B0604020202020204" pitchFamily="34" charset="0"/>
              <a:buChar char="•"/>
            </a:pPr>
            <a:r>
              <a:rPr lang="en-US" dirty="0"/>
              <a:t>Particularly low salinity near the surface in 2022 and 2023 were likely associated with the Columbia River plume</a:t>
            </a:r>
          </a:p>
          <a:p>
            <a:pPr marL="628650" lvl="1" indent="-171450">
              <a:buFont typeface="Arial" panose="020B0604020202020204" pitchFamily="34" charset="0"/>
              <a:buChar char="•"/>
            </a:pPr>
            <a:r>
              <a:rPr lang="en-US" dirty="0"/>
              <a:t>DO generally decreased with depth</a:t>
            </a:r>
          </a:p>
          <a:p>
            <a:pPr marL="171450" lvl="0" indent="-171450">
              <a:buFont typeface="Arial" panose="020B0604020202020204" pitchFamily="34" charset="0"/>
              <a:buChar char="•"/>
            </a:pPr>
            <a:r>
              <a:rPr lang="en-US" dirty="0"/>
              <a:t>Such weak temperature and weak-to-strong salinity and DO gradients indicate that the top 100 m of the water column ranged from mixed to stratified across locations and winters sampled</a:t>
            </a:r>
          </a:p>
          <a:p>
            <a:pPr marL="171450" lvl="0" indent="-171450">
              <a:buFont typeface="Arial" panose="020B0604020202020204" pitchFamily="34" charset="0"/>
              <a:buChar char="•"/>
            </a:pPr>
            <a:r>
              <a:rPr lang="en-US" dirty="0"/>
              <a:t>During our sampling, chlorophyll-</a:t>
            </a:r>
            <a:r>
              <a:rPr lang="en-US" i="1" dirty="0"/>
              <a:t>a</a:t>
            </a:r>
            <a:r>
              <a:rPr lang="en-US" i="0" dirty="0"/>
              <a:t> concentrations were similar across years and was not strongly related to seafloor depth</a:t>
            </a:r>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4</a:t>
            </a:fld>
            <a:endParaRPr lang="en-US"/>
          </a:p>
        </p:txBody>
      </p:sp>
    </p:spTree>
    <p:extLst>
      <p:ext uri="{BB962C8B-B14F-4D97-AF65-F5344CB8AC3E}">
        <p14:creationId xmlns:p14="http://schemas.microsoft.com/office/powerpoint/2010/main" val="20201085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Broad oceanographic conditions such as climate indices, circulation, and seafloor topography influence assemblage composition, abundance, and distribution (Doyle et al., 2002; Auth, 2008; Nielsen et al., 2021). </a:t>
            </a:r>
          </a:p>
          <a:p>
            <a:pPr marL="628650" lvl="1" indent="-171450">
              <a:buFont typeface="Arial" panose="020B0604020202020204" pitchFamily="34" charset="0"/>
              <a:buChar char="•"/>
            </a:pPr>
            <a:r>
              <a:rPr lang="en-US" dirty="0"/>
              <a:t>For many species, peak spawning occurs in winter when offshore transport is minimal (Doyle, 1992; Brodeur et al., 2008)</a:t>
            </a:r>
          </a:p>
          <a:p>
            <a:pPr marL="628650" lvl="1" indent="-171450">
              <a:buFont typeface="Arial" panose="020B0604020202020204" pitchFamily="34" charset="0"/>
              <a:buChar char="•"/>
            </a:pPr>
            <a:r>
              <a:rPr lang="en-US" dirty="0"/>
              <a:t>Winter is also the time of greatest larval fish abundance and diversity in the NCC ecosystem (Brodeur et al., 2008)</a:t>
            </a:r>
          </a:p>
          <a:p>
            <a:pPr marL="171450" lvl="0" indent="-171450">
              <a:buFont typeface="Arial" panose="020B0604020202020204" pitchFamily="34" charset="0"/>
              <a:buChar char="•"/>
            </a:pPr>
            <a:r>
              <a:rPr lang="en-US" dirty="0"/>
              <a:t>Finer-scale environmental factors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kern="1200" dirty="0">
                <a:solidFill>
                  <a:schemeClr val="tx1"/>
                </a:solidFill>
                <a:effectLst/>
                <a:latin typeface="+mn-lt"/>
                <a:ea typeface="+mn-ea"/>
                <a:cs typeface="+mn-cs"/>
              </a:rPr>
              <a:t>Direct physiological effects of temperature, salinity, and DO may impact assemblage abundance and composition </a:t>
            </a:r>
            <a:r>
              <a:rPr lang="en-US" dirty="0"/>
              <a:t> (Pepin, 1991; </a:t>
            </a:r>
            <a:r>
              <a:rPr lang="en-US" sz="1200" kern="1200" dirty="0" err="1">
                <a:solidFill>
                  <a:schemeClr val="tx1"/>
                </a:solidFill>
                <a:effectLst/>
                <a:latin typeface="+mn-lt"/>
                <a:ea typeface="+mn-ea"/>
                <a:cs typeface="+mn-cs"/>
              </a:rPr>
              <a:t>Bœuf</a:t>
            </a:r>
            <a:r>
              <a:rPr lang="en-US" sz="1200" kern="1200" dirty="0">
                <a:solidFill>
                  <a:schemeClr val="tx1"/>
                </a:solidFill>
                <a:effectLst/>
                <a:latin typeface="+mn-lt"/>
                <a:ea typeface="+mn-ea"/>
                <a:cs typeface="+mn-cs"/>
              </a:rPr>
              <a:t> and Payan, 2001; Johnson-Colegrove et al., 2015)</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Salinity may be indicative of distinct water masses with which larval fish associate (Thompson et al., 2014)</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Primary productivity, represented by chlorophyll-</a:t>
            </a:r>
            <a:r>
              <a:rPr lang="en-US" sz="1200" i="1" kern="1200" dirty="0">
                <a:solidFill>
                  <a:schemeClr val="tx1"/>
                </a:solidFill>
                <a:effectLst/>
                <a:latin typeface="+mn-lt"/>
                <a:ea typeface="+mn-ea"/>
                <a:cs typeface="+mn-cs"/>
              </a:rPr>
              <a:t>a</a:t>
            </a:r>
            <a:r>
              <a:rPr lang="en-US" sz="1200" i="0" kern="1200" dirty="0">
                <a:solidFill>
                  <a:schemeClr val="tx1"/>
                </a:solidFill>
                <a:effectLst/>
                <a:latin typeface="+mn-lt"/>
                <a:ea typeface="+mn-ea"/>
                <a:cs typeface="+mn-cs"/>
              </a:rPr>
              <a:t>, may indirectly indicate favorable prey availability (Whiney et al., 2021)</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Larvae also aggregate vertically to reach or maintain a position within water masses of ideal environmental conditions and transport potential (Huebert et al., 2010)</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There is evidence of some larval fishes displaying DVM (Auth, 2007)</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Not accounted for in depth-integrated sampling schemes or those which sample once daily (Neilson and Perry, 1990)</a:t>
            </a:r>
          </a:p>
          <a:p>
            <a:pPr marL="171450" lvl="0" indent="-171450">
              <a:buFont typeface="Arial" panose="020B0604020202020204" pitchFamily="34" charset="0"/>
              <a:buChar char="•"/>
            </a:pPr>
            <a:r>
              <a:rPr lang="en-US" dirty="0"/>
              <a:t>Winter ichthyoplankton replenish adult populations and act as important prey for other taxa</a:t>
            </a:r>
          </a:p>
          <a:p>
            <a:pPr marL="628650" lvl="1" indent="-171450">
              <a:buClrTx/>
              <a:buSzTx/>
              <a:buFont typeface="Arial" panose="020B0604020202020204" pitchFamily="34" charset="0"/>
              <a:buChar char="•"/>
            </a:pPr>
            <a:r>
              <a:rPr lang="en-US" dirty="0"/>
              <a:t>Winter spawned young of certain coastal fishes are important prey for ocean-entering juvenile salmon</a:t>
            </a:r>
          </a:p>
          <a:p>
            <a:pPr marL="628650" lvl="1" indent="-171450">
              <a:buClrTx/>
              <a:buSzTx/>
              <a:buFont typeface="Arial" panose="020B0604020202020204" pitchFamily="34" charset="0"/>
              <a:buChar char="•"/>
            </a:pPr>
            <a:r>
              <a:rPr lang="en-US" dirty="0"/>
              <a:t>Winter ichthyoplankton biomass is positively related to salmon marine survival (Daly et al. 2013)</a:t>
            </a:r>
          </a:p>
          <a:p>
            <a:pPr marL="171450" lvl="0" indent="-171450">
              <a:buFont typeface="Arial" panose="020B0604020202020204" pitchFamily="34" charset="0"/>
              <a:buChar char="•"/>
            </a:pPr>
            <a:r>
              <a:rPr lang="en-US" dirty="0"/>
              <a:t>Compared to spring and summer, ichthyoplankton research in the winter is relatively scarce </a:t>
            </a:r>
          </a:p>
          <a:p>
            <a:pPr marL="628650" lvl="1" indent="-171450">
              <a:buClrTx/>
              <a:buSzTx/>
              <a:buFont typeface="Arial" panose="020B0604020202020204" pitchFamily="34" charset="0"/>
              <a:buChar char="•"/>
            </a:pPr>
            <a:r>
              <a:rPr lang="en-US" dirty="0"/>
              <a:t>Due in large part to less favorable conditions for ship-based sampling</a:t>
            </a:r>
            <a:endParaRPr lang="en-US" sz="120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We are not aware of any previous depth-stratified studies of ichthyoplankton abundance or assemblage composition during winter, the time of greatest larval abundance and diversity, in the NCC ecosystem.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 degree to which existing winter ichthyoplankton assemblage research is biased by DVM is unknown. </a:t>
            </a:r>
          </a:p>
        </p:txBody>
      </p:sp>
      <p:sp>
        <p:nvSpPr>
          <p:cNvPr id="4" name="Slide Number Placeholder 3"/>
          <p:cNvSpPr>
            <a:spLocks noGrp="1"/>
          </p:cNvSpPr>
          <p:nvPr>
            <p:ph type="sldNum" sz="quarter" idx="5"/>
          </p:nvPr>
        </p:nvSpPr>
        <p:spPr/>
        <p:txBody>
          <a:bodyPr/>
          <a:lstStyle/>
          <a:p>
            <a:fld id="{3AC1AA38-86D1-4674-9C68-DF52A9C1CC65}" type="slidenum">
              <a:rPr lang="en-US" smtClean="0"/>
              <a:t>5</a:t>
            </a:fld>
            <a:endParaRPr lang="en-US"/>
          </a:p>
        </p:txBody>
      </p:sp>
    </p:spTree>
    <p:extLst>
      <p:ext uri="{BB962C8B-B14F-4D97-AF65-F5344CB8AC3E}">
        <p14:creationId xmlns:p14="http://schemas.microsoft.com/office/powerpoint/2010/main" val="40765061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Sampling occurred on research cruises during the winters of 2018, 2019, 2022, and 2023</a:t>
            </a:r>
          </a:p>
          <a:p>
            <a:pPr marL="628650" lvl="1" indent="-171450">
              <a:buFont typeface="Arial" panose="020B0604020202020204" pitchFamily="34" charset="0"/>
              <a:buChar char="•"/>
            </a:pPr>
            <a:r>
              <a:rPr lang="en-US" dirty="0"/>
              <a:t>In 2018-2019, 5 stations were sampled at each of 2 cross-shelf transects and sampling occurred multiple times, during day and night</a:t>
            </a:r>
          </a:p>
          <a:p>
            <a:pPr marL="628650" lvl="1" indent="-171450">
              <a:buFont typeface="Arial" panose="020B0604020202020204" pitchFamily="34" charset="0"/>
              <a:buChar char="•"/>
            </a:pPr>
            <a:r>
              <a:rPr lang="en-US" dirty="0"/>
              <a:t>In 2022-2023, 3-6 stations were sampled at each of 4-6 cross-shelf transects once per cruise</a:t>
            </a:r>
          </a:p>
          <a:p>
            <a:pPr marL="171450" lvl="0" indent="-171450">
              <a:buFont typeface="Arial" panose="020B0604020202020204" pitchFamily="34" charset="0"/>
              <a:buChar char="•"/>
            </a:pPr>
            <a:r>
              <a:rPr lang="en-US" dirty="0"/>
              <a:t>Plankton were collected using a coupled Multiple Opening/Closing Net and Environmental Sensing System (MOCNESS) with 2 sets of 4 nets, one set with 1-square-meter mouths and 333-micrometer mesh and the other set with 4-square-meter mouths and 1000-micrometer mesh</a:t>
            </a:r>
          </a:p>
          <a:p>
            <a:pPr marL="628650" lvl="1" indent="-171450">
              <a:buFont typeface="Arial" panose="020B0604020202020204" pitchFamily="34" charset="0"/>
              <a:buChar char="•"/>
            </a:pPr>
            <a:r>
              <a:rPr lang="en-US" dirty="0"/>
              <a:t>From both sets, each successive net was used to sample from 100 (or as close as possible to the seafloor)-75 m, 75-50 m, 50-25 m, and 25 m-the surface</a:t>
            </a:r>
          </a:p>
          <a:p>
            <a:pPr marL="628650" lvl="1" indent="-171450">
              <a:buFont typeface="Arial" panose="020B0604020202020204" pitchFamily="34" charset="0"/>
              <a:buChar char="•"/>
            </a:pPr>
            <a:r>
              <a:rPr lang="en-US" dirty="0"/>
              <a:t>The MOCNESS was equipped with a flowmeter to estimate the volume of water sampled by a tow, a depth sensor, and temperature and conductivity sensors to measure temperature and salinity</a:t>
            </a:r>
          </a:p>
          <a:p>
            <a:pPr marL="171450" lvl="0" indent="-171450">
              <a:buFont typeface="Arial" panose="020B0604020202020204" pitchFamily="34" charset="0"/>
              <a:buChar char="•"/>
            </a:pPr>
            <a:r>
              <a:rPr lang="en-US" dirty="0"/>
              <a:t>Bulk plankton samples from the MOCNESS were preserved in 95% ethanol, then visually identified to the finest taxonomic resolution attainable, typically genus or species, and counted</a:t>
            </a:r>
          </a:p>
          <a:p>
            <a:pPr marL="171450" lvl="0" indent="-171450">
              <a:buFont typeface="Arial" panose="020B0604020202020204" pitchFamily="34" charset="0"/>
              <a:buChar char="•"/>
            </a:pPr>
            <a:r>
              <a:rPr lang="en-US" dirty="0"/>
              <a:t>Within 3 hours of MOCNESS sampling, a sensor package including a DO sensor and a fluorescence probe was towed through the top 100 m to measure DO and chlorophyll-</a:t>
            </a:r>
            <a:r>
              <a:rPr lang="en-US" i="1" dirty="0"/>
              <a:t>a</a:t>
            </a:r>
          </a:p>
          <a:p>
            <a:pPr marL="171450" lvl="0" indent="-171450">
              <a:buFont typeface="Arial" panose="020B0604020202020204" pitchFamily="34" charset="0"/>
              <a:buChar char="•"/>
            </a:pPr>
            <a:r>
              <a:rPr lang="en-US" i="0" dirty="0"/>
              <a:t>Because certain genera and species were rare, could only be identified to family level (due to morphometric similarity or damage), or were considered very ecologically similar, some taxa were grouped within families such as Agonidae, Cottidae, Hexagrammidae, Osmeridae, etc.</a:t>
            </a:r>
          </a:p>
          <a:p>
            <a:pPr marL="171450" lvl="0" indent="-171450">
              <a:buFont typeface="Arial" panose="020B0604020202020204" pitchFamily="34" charset="0"/>
              <a:buChar char="•"/>
            </a:pPr>
            <a:r>
              <a:rPr lang="en-US" i="0" dirty="0"/>
              <a:t>To reduce noise, data were filtered to remove rare taxa (those present in fewer than 5% of samples) and small samples (those with fewer than 10 individual larvae) from analysis</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7</a:t>
            </a:fld>
            <a:endParaRPr lang="en-US"/>
          </a:p>
        </p:txBody>
      </p:sp>
    </p:spTree>
    <p:extLst>
      <p:ext uri="{BB962C8B-B14F-4D97-AF65-F5344CB8AC3E}">
        <p14:creationId xmlns:p14="http://schemas.microsoft.com/office/powerpoint/2010/main" val="37171030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Characterizing assemblages</a:t>
            </a:r>
          </a:p>
          <a:p>
            <a:pPr marL="171450" indent="-171450">
              <a:buFont typeface="Arial" panose="020B0604020202020204" pitchFamily="34" charset="0"/>
              <a:buChar char="•"/>
            </a:pPr>
            <a:r>
              <a:rPr lang="en-US" dirty="0"/>
              <a:t>The concentration per unit of water sampled of ichthyoplankton belonging to each taxonomic group was square-root transformed before calculating the Bray-Curtis dissimilarities among samples</a:t>
            </a:r>
          </a:p>
          <a:p>
            <a:pPr marL="171450" indent="-171450">
              <a:buFont typeface="Arial" panose="020B0604020202020204" pitchFamily="34" charset="0"/>
              <a:buChar char="•"/>
            </a:pPr>
            <a:r>
              <a:rPr lang="en-US" dirty="0"/>
              <a:t>Agglomerative hierarchical clustering was performed on the resulting dissimilarity matrix</a:t>
            </a:r>
          </a:p>
          <a:p>
            <a:pPr marL="628650" lvl="1" indent="-171450">
              <a:buFont typeface="Arial" panose="020B0604020202020204" pitchFamily="34" charset="0"/>
              <a:buChar char="•"/>
            </a:pPr>
            <a:r>
              <a:rPr lang="en-US" dirty="0"/>
              <a:t>The number of clusters was chosen such that samples assigned to each cluster differed meaningfully in adult habitat affinity and taxonomic composition, thus representing ecologically meaningful differences among clusters</a:t>
            </a:r>
          </a:p>
          <a:p>
            <a:pPr marL="171450" lvl="0" indent="-171450">
              <a:buFont typeface="Arial" panose="020B0604020202020204" pitchFamily="34" charset="0"/>
              <a:buChar char="•"/>
            </a:pPr>
            <a:r>
              <a:rPr lang="en-US" dirty="0"/>
              <a:t>An indicator species analysis was used to identify dominant taxa in each cluster</a:t>
            </a:r>
          </a:p>
          <a:p>
            <a:pPr marL="171450" lvl="0" indent="-171450">
              <a:buFont typeface="Arial" panose="020B0604020202020204" pitchFamily="34" charset="0"/>
              <a:buChar char="•"/>
            </a:pPr>
            <a:r>
              <a:rPr lang="en-US" dirty="0"/>
              <a:t>Non-metric multidimensional scaling was used to visualize similarities in the taxonomic composition of samples belonging to each cluster and cluster correlations with spatiotemporal factors.</a:t>
            </a:r>
          </a:p>
          <a:p>
            <a:pPr marL="628650" lvl="1" indent="-171450">
              <a:buFont typeface="Arial" panose="020B0604020202020204" pitchFamily="34" charset="0"/>
              <a:buChar char="•"/>
            </a:pPr>
            <a:r>
              <a:rPr lang="en-US" dirty="0"/>
              <a:t>To assess the ordination fit, we calculated a null distribution of stress values for the data and used a z-test to determine whether our observed stress was lower than expected under the null model, following Dexter et al. (2018)</a:t>
            </a:r>
          </a:p>
          <a:p>
            <a:pPr marL="171450" lvl="0" indent="-171450">
              <a:buFont typeface="Arial" panose="020B0604020202020204" pitchFamily="34" charset="0"/>
              <a:buChar char="•"/>
            </a:pPr>
            <a:r>
              <a:rPr lang="en-US" dirty="0"/>
              <a:t>“Time of day” as used in the NMDS plot and subsequent analyses was calculated for each net tow as a normalized start time relative to local sunrise and sunset. Values near 0 indicate sampling near sunrise or sunset and values near 1 or -1 indicate sampling near the midpoint of the day or night, respectively</a:t>
            </a:r>
          </a:p>
          <a:p>
            <a:pPr marL="0" lvl="0" indent="0">
              <a:buFont typeface="Arial" panose="020B0604020202020204" pitchFamily="34" charset="0"/>
              <a:buNone/>
            </a:pPr>
            <a:r>
              <a:rPr lang="en-US" dirty="0"/>
              <a:t>Influences on assemblages</a:t>
            </a:r>
          </a:p>
          <a:p>
            <a:pPr marL="171450" lvl="0" indent="-171450">
              <a:buFont typeface="Arial" panose="020B0604020202020204" pitchFamily="34" charset="0"/>
              <a:buChar char="•"/>
            </a:pPr>
            <a:r>
              <a:rPr lang="en-US" dirty="0"/>
              <a:t>Distance-based redundancy analysis (</a:t>
            </a:r>
            <a:r>
              <a:rPr lang="en-US" dirty="0" err="1"/>
              <a:t>dbRDA</a:t>
            </a:r>
            <a:r>
              <a:rPr lang="en-US" dirty="0"/>
              <a:t>) was used to assess the effects of spatiotemporal and environmental factors on assemblage composition.</a:t>
            </a:r>
          </a:p>
          <a:p>
            <a:pPr marL="628650" lvl="1" indent="-171450">
              <a:buFont typeface="Arial" panose="020B0604020202020204" pitchFamily="34" charset="0"/>
              <a:buChar char="•"/>
            </a:pPr>
            <a:r>
              <a:rPr lang="en-US" dirty="0"/>
              <a:t>A spatiotemporal base model including effects of year, time of day, latitude, net tow depth, and seafloor depth and a full model including those previously stated in addition to temperature, salinity, DO, and chlorophyll-</a:t>
            </a:r>
            <a:r>
              <a:rPr lang="en-US" i="1" dirty="0"/>
              <a:t>a</a:t>
            </a:r>
            <a:r>
              <a:rPr lang="en-US" i="0" dirty="0"/>
              <a:t>, were fit.</a:t>
            </a:r>
          </a:p>
          <a:p>
            <a:pPr marL="628650" lvl="1" indent="-171450">
              <a:buFont typeface="Arial" panose="020B0604020202020204" pitchFamily="34" charset="0"/>
              <a:buChar char="•"/>
            </a:pPr>
            <a:r>
              <a:rPr lang="en-US" i="0" dirty="0"/>
              <a:t>Permutation-based ANOVA was used to test the significance of variation explained by the spatiotemporal and full models.</a:t>
            </a:r>
          </a:p>
          <a:p>
            <a:pPr marL="628650" lvl="1" indent="-171450">
              <a:buFont typeface="Arial" panose="020B0604020202020204" pitchFamily="34" charset="0"/>
              <a:buChar char="•"/>
            </a:pPr>
            <a:r>
              <a:rPr lang="en-US" i="0" dirty="0"/>
              <a:t>The significance of the additional variation explained by environmental covariates was assessed using a nested </a:t>
            </a:r>
            <a:r>
              <a:rPr lang="en-US" i="0" dirty="0" err="1"/>
              <a:t>dbRDA</a:t>
            </a:r>
            <a:r>
              <a:rPr lang="en-US" i="0" dirty="0"/>
              <a:t> model comparison between the base and full models using a similar permutational ANOVA</a:t>
            </a:r>
          </a:p>
          <a:p>
            <a:pPr marL="171450" lvl="0" indent="-171450">
              <a:buFont typeface="Arial" panose="020B0604020202020204" pitchFamily="34" charset="0"/>
              <a:buChar char="•"/>
            </a:pPr>
            <a:r>
              <a:rPr lang="en-US" i="0" dirty="0"/>
              <a:t>Variance partitioning analysis was used to estimate the variance in assemblage composition explained by spatiotemporal covariates alone, environmental covariates alone, and their shared component</a:t>
            </a:r>
          </a:p>
          <a:p>
            <a:pPr marL="0" lvl="0" indent="0">
              <a:buFont typeface="Arial" panose="020B0604020202020204" pitchFamily="34" charset="0"/>
              <a:buNone/>
            </a:pPr>
            <a:r>
              <a:rPr lang="en-US" i="0" dirty="0"/>
              <a:t>Taxon-specific diel variation in vertical distribution</a:t>
            </a:r>
          </a:p>
          <a:p>
            <a:pPr marL="171450" lvl="0" indent="-171450">
              <a:buFont typeface="Arial" panose="020B0604020202020204" pitchFamily="34" charset="0"/>
              <a:buChar char="•"/>
            </a:pPr>
            <a:r>
              <a:rPr lang="en-US" i="0" dirty="0"/>
              <a:t>A negative binomial linear mixed effects model (GLMM) was fit to counts of ichthyoplankton belonging to each taxon in each sample</a:t>
            </a:r>
          </a:p>
          <a:p>
            <a:pPr marL="628650" lvl="1" indent="-171450">
              <a:buFont typeface="Arial" panose="020B0604020202020204" pitchFamily="34" charset="0"/>
              <a:buChar char="•"/>
            </a:pPr>
            <a:r>
              <a:rPr lang="en-US" i="0" dirty="0"/>
              <a:t>Fixed effects included taxon, year, time of day, depth, latitude, seafloor depth, temperature, salinity, DO, and chlorophyll-</a:t>
            </a:r>
            <a:r>
              <a:rPr lang="en-US" i="1" dirty="0"/>
              <a:t>a</a:t>
            </a:r>
            <a:r>
              <a:rPr lang="en-US" i="0" dirty="0"/>
              <a:t> and the full interaction among taxon, time of day, and depth</a:t>
            </a:r>
          </a:p>
          <a:p>
            <a:pPr marL="171450" lvl="0" indent="-171450">
              <a:buFont typeface="Arial" panose="020B0604020202020204" pitchFamily="34" charset="0"/>
              <a:buChar char="•"/>
            </a:pPr>
            <a:r>
              <a:rPr lang="en-US" i="0" dirty="0"/>
              <a:t>Plots were made to…</a:t>
            </a:r>
          </a:p>
          <a:p>
            <a:pPr marL="628650" lvl="1" indent="-171450">
              <a:buFont typeface="Arial" panose="020B0604020202020204" pitchFamily="34" charset="0"/>
              <a:buChar char="•"/>
            </a:pPr>
            <a:r>
              <a:rPr lang="en-US" i="0" dirty="0"/>
              <a:t>Visualize how the vertical distribution of each taxon varies over the course of a day by plotting predicted concentration of individuals across combinations of depth and time of day</a:t>
            </a:r>
          </a:p>
          <a:p>
            <a:pPr marL="628650" lvl="1" indent="-171450">
              <a:buFont typeface="Arial" panose="020B0604020202020204" pitchFamily="34" charset="0"/>
              <a:buChar char="•"/>
            </a:pPr>
            <a:r>
              <a:rPr lang="en-US" i="0" dirty="0"/>
              <a:t>Show how total predicted abundance of each taxon in the sampled depth strata varied over the course of a day by plotting total predicted abundance of each taxon across the sampled portion of the water column against time of day</a:t>
            </a:r>
          </a:p>
          <a:p>
            <a:pPr marL="628650" lvl="1" indent="-171450">
              <a:buFont typeface="Arial" panose="020B0604020202020204" pitchFamily="34" charset="0"/>
              <a:buChar char="•"/>
            </a:pPr>
            <a:r>
              <a:rPr lang="en-US" i="0" dirty="0"/>
              <a:t>Show when during the day total predicted abundance of a taxon increased or decreased with depth by plotting the depth gradient in log predicted abundance for each taxon against time of day</a:t>
            </a:r>
          </a:p>
        </p:txBody>
      </p:sp>
      <p:sp>
        <p:nvSpPr>
          <p:cNvPr id="4" name="Slide Number Placeholder 3"/>
          <p:cNvSpPr>
            <a:spLocks noGrp="1"/>
          </p:cNvSpPr>
          <p:nvPr>
            <p:ph type="sldNum" sz="quarter" idx="5"/>
          </p:nvPr>
        </p:nvSpPr>
        <p:spPr/>
        <p:txBody>
          <a:bodyPr/>
          <a:lstStyle/>
          <a:p>
            <a:fld id="{3AC1AA38-86D1-4674-9C68-DF52A9C1CC65}" type="slidenum">
              <a:rPr lang="en-US" smtClean="0"/>
              <a:t>8</a:t>
            </a:fld>
            <a:endParaRPr lang="en-US"/>
          </a:p>
        </p:txBody>
      </p:sp>
    </p:spTree>
    <p:extLst>
      <p:ext uri="{BB962C8B-B14F-4D97-AF65-F5344CB8AC3E}">
        <p14:creationId xmlns:p14="http://schemas.microsoft.com/office/powerpoint/2010/main" val="22630089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Cluster analysis yielded 7 total clusters, two of which---4 and 7---contained only a single sample. These 2 were considered omitted from further analysis</a:t>
            </a:r>
          </a:p>
          <a:p>
            <a:pPr marL="171450" indent="-171450">
              <a:buFont typeface="Arial" panose="020B0604020202020204" pitchFamily="34" charset="0"/>
              <a:buChar char="•"/>
            </a:pPr>
            <a:r>
              <a:rPr lang="en-US" dirty="0"/>
              <a:t>Cluster 1 is heavily dominated by its indicator taxon, </a:t>
            </a:r>
            <a:r>
              <a:rPr lang="en-US" i="1" dirty="0"/>
              <a:t>Sebastes</a:t>
            </a:r>
            <a:r>
              <a:rPr lang="en-US" i="0" dirty="0"/>
              <a:t> spp.</a:t>
            </a:r>
          </a:p>
          <a:p>
            <a:pPr marL="171450" indent="-171450">
              <a:buFont typeface="Arial" panose="020B0604020202020204" pitchFamily="34" charset="0"/>
              <a:buChar char="•"/>
            </a:pPr>
            <a:r>
              <a:rPr lang="en-US" i="0" dirty="0"/>
              <a:t>Cluster 2 was dominated by Pleuronectiformes, especially the indicator taxon </a:t>
            </a:r>
            <a:r>
              <a:rPr lang="en-US" i="1" dirty="0" err="1"/>
              <a:t>Parophrys</a:t>
            </a:r>
            <a:r>
              <a:rPr lang="en-US" i="1" dirty="0"/>
              <a:t> </a:t>
            </a:r>
            <a:r>
              <a:rPr lang="en-US" i="1" dirty="0" err="1"/>
              <a:t>vetulus</a:t>
            </a:r>
            <a:endParaRPr lang="en-US" i="0" dirty="0"/>
          </a:p>
          <a:p>
            <a:pPr marL="171450" indent="-171450">
              <a:buFont typeface="Arial" panose="020B0604020202020204" pitchFamily="34" charset="0"/>
              <a:buChar char="•"/>
            </a:pPr>
            <a:r>
              <a:rPr lang="en-US" i="0" dirty="0"/>
              <a:t>Cluster 3 was significantly associated with </a:t>
            </a:r>
            <a:r>
              <a:rPr lang="en-US" i="1" dirty="0" err="1"/>
              <a:t>Stenobrachius</a:t>
            </a:r>
            <a:r>
              <a:rPr lang="en-US" i="1" dirty="0"/>
              <a:t> </a:t>
            </a:r>
            <a:r>
              <a:rPr lang="en-US" i="1" dirty="0" err="1"/>
              <a:t>leucopsarus</a:t>
            </a:r>
            <a:r>
              <a:rPr lang="en-US" i="0" dirty="0"/>
              <a:t> and is composed largely of mesopelagic taxa</a:t>
            </a:r>
          </a:p>
          <a:p>
            <a:pPr marL="171450" indent="-171450">
              <a:buFont typeface="Arial" panose="020B0604020202020204" pitchFamily="34" charset="0"/>
              <a:buChar char="•"/>
            </a:pPr>
            <a:r>
              <a:rPr lang="en-US" i="0" dirty="0"/>
              <a:t>Cluster 5 was dominated by coastal taxa such as </a:t>
            </a:r>
            <a:r>
              <a:rPr lang="en-US" i="1" dirty="0"/>
              <a:t>P. </a:t>
            </a:r>
            <a:r>
              <a:rPr lang="en-US" i="1" dirty="0" err="1"/>
              <a:t>vetulus</a:t>
            </a:r>
            <a:r>
              <a:rPr lang="en-US" i="0" dirty="0"/>
              <a:t> and </a:t>
            </a:r>
            <a:r>
              <a:rPr lang="en-US" i="1" dirty="0"/>
              <a:t>Liparis</a:t>
            </a:r>
            <a:r>
              <a:rPr lang="en-US" i="0" dirty="0"/>
              <a:t> spp.</a:t>
            </a:r>
          </a:p>
          <a:p>
            <a:pPr marL="171450" indent="-171450">
              <a:buFont typeface="Arial" panose="020B0604020202020204" pitchFamily="34" charset="0"/>
              <a:buChar char="•"/>
            </a:pPr>
            <a:r>
              <a:rPr lang="en-US" i="0" dirty="0"/>
              <a:t>Cluster 6 was composed mostly of costal taxa, especially </a:t>
            </a:r>
            <a:r>
              <a:rPr lang="en-US" i="0" dirty="0" err="1"/>
              <a:t>Osmerids</a:t>
            </a:r>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10</a:t>
            </a:fld>
            <a:endParaRPr lang="en-US"/>
          </a:p>
        </p:txBody>
      </p:sp>
    </p:spTree>
    <p:extLst>
      <p:ext uri="{BB962C8B-B14F-4D97-AF65-F5344CB8AC3E}">
        <p14:creationId xmlns:p14="http://schemas.microsoft.com/office/powerpoint/2010/main" val="2290574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Cluster 1 (</a:t>
            </a:r>
            <a:r>
              <a:rPr lang="en-US" i="1" dirty="0"/>
              <a:t>Sebastes</a:t>
            </a:r>
            <a:r>
              <a:rPr lang="en-US" i="0" dirty="0"/>
              <a:t> spp.) occurred along the shelf slope break in all years</a:t>
            </a:r>
          </a:p>
          <a:p>
            <a:pPr marL="171450" indent="-171450">
              <a:buFont typeface="Arial" panose="020B0604020202020204" pitchFamily="34" charset="0"/>
              <a:buChar char="•"/>
            </a:pPr>
            <a:r>
              <a:rPr lang="en-US" i="0" dirty="0"/>
              <a:t>Cluster 2 (</a:t>
            </a:r>
            <a:r>
              <a:rPr lang="en-US" i="1" dirty="0"/>
              <a:t>P. </a:t>
            </a:r>
            <a:r>
              <a:rPr lang="en-US" i="1" dirty="0" err="1"/>
              <a:t>vetulus</a:t>
            </a:r>
            <a:r>
              <a:rPr lang="en-US" i="0" dirty="0"/>
              <a:t>) was present in all years exclusively over the shelf</a:t>
            </a:r>
          </a:p>
          <a:p>
            <a:pPr marL="171450" indent="-171450">
              <a:buFont typeface="Arial" panose="020B0604020202020204" pitchFamily="34" charset="0"/>
              <a:buChar char="•"/>
            </a:pPr>
            <a:r>
              <a:rPr lang="en-US" i="0" dirty="0"/>
              <a:t>Cluster 3 (</a:t>
            </a:r>
            <a:r>
              <a:rPr lang="en-US" i="0" dirty="0" err="1"/>
              <a:t>mesopelagics</a:t>
            </a:r>
            <a:r>
              <a:rPr lang="en-US" i="0" dirty="0"/>
              <a:t>) was present in all years and occurred offshore, over the shelf break, and in deep net tows</a:t>
            </a:r>
          </a:p>
          <a:p>
            <a:pPr marL="628650" lvl="1" indent="-171450">
              <a:buFont typeface="Arial" panose="020B0604020202020204" pitchFamily="34" charset="0"/>
              <a:buChar char="•"/>
            </a:pPr>
            <a:r>
              <a:rPr lang="en-US" i="0" dirty="0"/>
              <a:t>In 2018, cluster 3 occurred at the most nearshore station off Trinidad Head where the shelf is notably narrow</a:t>
            </a:r>
          </a:p>
          <a:p>
            <a:pPr marL="171450" lvl="0" indent="-171450">
              <a:buFont typeface="Arial" panose="020B0604020202020204" pitchFamily="34" charset="0"/>
              <a:buChar char="•"/>
            </a:pPr>
            <a:r>
              <a:rPr lang="en-US" i="0" dirty="0"/>
              <a:t>Cluster 5 (</a:t>
            </a:r>
            <a:r>
              <a:rPr lang="en-US" i="0" dirty="0" err="1"/>
              <a:t>coastals</a:t>
            </a:r>
            <a:r>
              <a:rPr lang="en-US" i="0" dirty="0"/>
              <a:t>) was most prevalent in 2022 and mostly occurred close to shore</a:t>
            </a:r>
          </a:p>
          <a:p>
            <a:pPr marL="171450" lvl="0" indent="-171450">
              <a:buFont typeface="Arial" panose="020B0604020202020204" pitchFamily="34" charset="0"/>
              <a:buChar char="•"/>
            </a:pPr>
            <a:r>
              <a:rPr lang="en-US" i="0" dirty="0"/>
              <a:t>Cluster 6 (Osmeridae) was present in 2022 and 2023, when sampling took place north of Newport, OR, and occurred at shallow depths and nearshore stations north of Newport, OR</a:t>
            </a:r>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11</a:t>
            </a:fld>
            <a:endParaRPr lang="en-US"/>
          </a:p>
        </p:txBody>
      </p:sp>
    </p:spTree>
    <p:extLst>
      <p:ext uri="{BB962C8B-B14F-4D97-AF65-F5344CB8AC3E}">
        <p14:creationId xmlns:p14="http://schemas.microsoft.com/office/powerpoint/2010/main" val="39971376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on associations seen, </a:t>
            </a:r>
            <a:r>
              <a:rPr lang="en-US" dirty="0" err="1"/>
              <a:t>esp</a:t>
            </a:r>
            <a:r>
              <a:rPr lang="en-US" dirty="0"/>
              <a:t> those that connect to cluster map</a:t>
            </a:r>
          </a:p>
        </p:txBody>
      </p:sp>
      <p:sp>
        <p:nvSpPr>
          <p:cNvPr id="4" name="Slide Number Placeholder 3"/>
          <p:cNvSpPr>
            <a:spLocks noGrp="1"/>
          </p:cNvSpPr>
          <p:nvPr>
            <p:ph type="sldNum" sz="quarter" idx="5"/>
          </p:nvPr>
        </p:nvSpPr>
        <p:spPr/>
        <p:txBody>
          <a:bodyPr/>
          <a:lstStyle/>
          <a:p>
            <a:fld id="{3AC1AA38-86D1-4674-9C68-DF52A9C1CC65}" type="slidenum">
              <a:rPr lang="en-US" smtClean="0"/>
              <a:t>12</a:t>
            </a:fld>
            <a:endParaRPr lang="en-US"/>
          </a:p>
        </p:txBody>
      </p:sp>
    </p:spTree>
    <p:extLst>
      <p:ext uri="{BB962C8B-B14F-4D97-AF65-F5344CB8AC3E}">
        <p14:creationId xmlns:p14="http://schemas.microsoft.com/office/powerpoint/2010/main" val="17954218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Spatiotemporal variables in base </a:t>
            </a:r>
            <a:r>
              <a:rPr lang="en-US" dirty="0" err="1"/>
              <a:t>dbRDA</a:t>
            </a:r>
            <a:r>
              <a:rPr lang="en-US" dirty="0"/>
              <a:t> model explain significant amount of variation in assemblage composition. Full </a:t>
            </a:r>
            <a:r>
              <a:rPr lang="en-US" dirty="0" err="1"/>
              <a:t>db</a:t>
            </a:r>
            <a:r>
              <a:rPr lang="en-US" dirty="0"/>
              <a:t>-RDA model also significant and explained a significant amount of ADDITIONAL variation in assemblage composition. Variance partitioning… 1.57% of variation in assemblage composition was explained by spatiotemporal and environmental covariates together, 3.72% by spatiotemporal covariates alone, and 1.92% by environmental covariates alone. The full model explained 8.78% of variation in assemblage composition and all of these amounts are statistically significant.</a:t>
            </a:r>
          </a:p>
        </p:txBody>
      </p:sp>
      <p:sp>
        <p:nvSpPr>
          <p:cNvPr id="4" name="Slide Number Placeholder 3"/>
          <p:cNvSpPr>
            <a:spLocks noGrp="1"/>
          </p:cNvSpPr>
          <p:nvPr>
            <p:ph type="sldNum" sz="quarter" idx="5"/>
          </p:nvPr>
        </p:nvSpPr>
        <p:spPr/>
        <p:txBody>
          <a:bodyPr/>
          <a:lstStyle/>
          <a:p>
            <a:fld id="{3AC1AA38-86D1-4674-9C68-DF52A9C1CC65}" type="slidenum">
              <a:rPr lang="en-US" smtClean="0"/>
              <a:t>13</a:t>
            </a:fld>
            <a:endParaRPr lang="en-US"/>
          </a:p>
        </p:txBody>
      </p:sp>
    </p:spTree>
    <p:extLst>
      <p:ext uri="{BB962C8B-B14F-4D97-AF65-F5344CB8AC3E}">
        <p14:creationId xmlns:p14="http://schemas.microsoft.com/office/powerpoint/2010/main" val="11220459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covariates significant have significant effects in the full </a:t>
            </a:r>
            <a:r>
              <a:rPr lang="en-US" dirty="0" err="1"/>
              <a:t>dbRDA</a:t>
            </a:r>
            <a:r>
              <a:rPr lang="en-US" dirty="0"/>
              <a:t> model. Discuss effects as visualized on </a:t>
            </a:r>
            <a:r>
              <a:rPr lang="en-US" dirty="0" err="1"/>
              <a:t>dbRDA</a:t>
            </a:r>
            <a:r>
              <a:rPr lang="en-US" dirty="0"/>
              <a:t> plot especially those also seen in NMDS. Discuss potential correlations between covariates</a:t>
            </a:r>
          </a:p>
        </p:txBody>
      </p:sp>
      <p:sp>
        <p:nvSpPr>
          <p:cNvPr id="4" name="Slide Number Placeholder 3"/>
          <p:cNvSpPr>
            <a:spLocks noGrp="1"/>
          </p:cNvSpPr>
          <p:nvPr>
            <p:ph type="sldNum" sz="quarter" idx="5"/>
          </p:nvPr>
        </p:nvSpPr>
        <p:spPr/>
        <p:txBody>
          <a:bodyPr/>
          <a:lstStyle/>
          <a:p>
            <a:fld id="{3AC1AA38-86D1-4674-9C68-DF52A9C1CC65}" type="slidenum">
              <a:rPr lang="en-US" smtClean="0"/>
              <a:t>14</a:t>
            </a:fld>
            <a:endParaRPr lang="en-US"/>
          </a:p>
        </p:txBody>
      </p:sp>
    </p:spTree>
    <p:extLst>
      <p:ext uri="{BB962C8B-B14F-4D97-AF65-F5344CB8AC3E}">
        <p14:creationId xmlns:p14="http://schemas.microsoft.com/office/powerpoint/2010/main" val="24628401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Greatest predicted abundance…</a:t>
            </a:r>
          </a:p>
          <a:p>
            <a:pPr marL="228600" indent="-228600">
              <a:buAutoNum type="arabicParenBoth"/>
            </a:pPr>
            <a:r>
              <a:rPr lang="en-US" dirty="0"/>
              <a:t>During night at deepest depths AND during daytime at shallowest depths (</a:t>
            </a:r>
            <a:r>
              <a:rPr lang="en-US" i="1" dirty="0"/>
              <a:t>Liparis</a:t>
            </a:r>
            <a:r>
              <a:rPr lang="en-US" i="0" dirty="0"/>
              <a:t> spp., </a:t>
            </a:r>
            <a:r>
              <a:rPr lang="en-US" i="1" dirty="0"/>
              <a:t>S. </a:t>
            </a:r>
            <a:r>
              <a:rPr lang="en-US" i="1" dirty="0" err="1"/>
              <a:t>leucopsarus</a:t>
            </a:r>
            <a:r>
              <a:rPr lang="en-US" i="0" dirty="0"/>
              <a:t>) (opposite of traditional/expected DVM behavior)</a:t>
            </a:r>
            <a:endParaRPr lang="en-US" dirty="0"/>
          </a:p>
          <a:p>
            <a:pPr marL="228600" indent="-228600">
              <a:buAutoNum type="arabicParenBoth"/>
            </a:pPr>
            <a:r>
              <a:rPr lang="en-US" dirty="0"/>
              <a:t>During day at deepest depths (Agonidae)</a:t>
            </a:r>
          </a:p>
          <a:p>
            <a:pPr marL="228600" indent="-228600">
              <a:buAutoNum type="arabicParenBoth"/>
            </a:pPr>
            <a:r>
              <a:rPr lang="en-US" dirty="0"/>
              <a:t>During night at deepest depths (</a:t>
            </a:r>
            <a:r>
              <a:rPr lang="en-US" i="1" dirty="0" err="1"/>
              <a:t>Protomyctophum</a:t>
            </a:r>
            <a:r>
              <a:rPr lang="en-US" i="1" dirty="0"/>
              <a:t> </a:t>
            </a:r>
            <a:r>
              <a:rPr lang="en-US" i="0" dirty="0"/>
              <a:t>spp.)</a:t>
            </a:r>
          </a:p>
          <a:p>
            <a:pPr marL="228600" indent="-228600">
              <a:buAutoNum type="arabicParenBoth"/>
            </a:pPr>
            <a:r>
              <a:rPr lang="en-US" i="0" dirty="0"/>
              <a:t>During night across depths (</a:t>
            </a:r>
            <a:r>
              <a:rPr lang="en-US" i="1" dirty="0"/>
              <a:t>B. </a:t>
            </a:r>
            <a:r>
              <a:rPr lang="en-US" i="1" dirty="0" err="1"/>
              <a:t>ochotensis</a:t>
            </a:r>
            <a:r>
              <a:rPr lang="en-US" i="0" dirty="0"/>
              <a:t>, </a:t>
            </a:r>
            <a:r>
              <a:rPr lang="en-US" i="1" dirty="0"/>
              <a:t>T. </a:t>
            </a:r>
            <a:r>
              <a:rPr lang="en-US" i="1" dirty="0" err="1"/>
              <a:t>crenularis</a:t>
            </a:r>
            <a:r>
              <a:rPr lang="en-US" i="0" dirty="0"/>
              <a:t>)</a:t>
            </a:r>
          </a:p>
          <a:p>
            <a:pPr marL="228600" indent="-228600">
              <a:buAutoNum type="arabicParenBoth"/>
            </a:pPr>
            <a:r>
              <a:rPr lang="en-US" i="0" dirty="0"/>
              <a:t>During night at shallowest depths (</a:t>
            </a:r>
            <a:r>
              <a:rPr lang="en-US" i="1" dirty="0"/>
              <a:t>L. </a:t>
            </a:r>
            <a:r>
              <a:rPr lang="en-US" i="1" dirty="0" err="1"/>
              <a:t>ringens</a:t>
            </a:r>
            <a:r>
              <a:rPr lang="en-US" i="0" dirty="0"/>
              <a:t>)</a:t>
            </a:r>
          </a:p>
          <a:p>
            <a:pPr marL="228600" indent="-228600">
              <a:buAutoNum type="arabicParenBoth"/>
            </a:pPr>
            <a:r>
              <a:rPr lang="en-US" i="0" dirty="0"/>
              <a:t>Across times of day at shallowest depths (</a:t>
            </a:r>
            <a:r>
              <a:rPr lang="en-US" i="0" dirty="0" err="1"/>
              <a:t>Ammodytidae</a:t>
            </a:r>
            <a:r>
              <a:rPr lang="en-US" i="0" dirty="0"/>
              <a:t>)</a:t>
            </a:r>
          </a:p>
          <a:p>
            <a:pPr marL="228600" indent="-228600">
              <a:buAutoNum type="arabicParenBoth"/>
            </a:pPr>
            <a:r>
              <a:rPr lang="en-US" i="0" dirty="0"/>
              <a:t>During day at shallowest depths (</a:t>
            </a:r>
            <a:r>
              <a:rPr lang="en-US" i="0" dirty="0" err="1"/>
              <a:t>Osmeridae</a:t>
            </a:r>
            <a:r>
              <a:rPr lang="en-US" i="0" dirty="0"/>
              <a:t>)</a:t>
            </a:r>
          </a:p>
        </p:txBody>
      </p:sp>
      <p:sp>
        <p:nvSpPr>
          <p:cNvPr id="4" name="Slide Number Placeholder 3"/>
          <p:cNvSpPr>
            <a:spLocks noGrp="1"/>
          </p:cNvSpPr>
          <p:nvPr>
            <p:ph type="sldNum" sz="quarter" idx="5"/>
          </p:nvPr>
        </p:nvSpPr>
        <p:spPr/>
        <p:txBody>
          <a:bodyPr/>
          <a:lstStyle/>
          <a:p>
            <a:fld id="{3AC1AA38-86D1-4674-9C68-DF52A9C1CC65}" type="slidenum">
              <a:rPr lang="en-US" smtClean="0"/>
              <a:t>16</a:t>
            </a:fld>
            <a:endParaRPr lang="en-US"/>
          </a:p>
        </p:txBody>
      </p:sp>
    </p:spTree>
    <p:extLst>
      <p:ext uri="{BB962C8B-B14F-4D97-AF65-F5344CB8AC3E}">
        <p14:creationId xmlns:p14="http://schemas.microsoft.com/office/powerpoint/2010/main" val="15125406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2210519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409574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48367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398322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CC774E-A65B-4DD3-BE4B-56D545A0DA29}"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4307815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CC774E-A65B-4DD3-BE4B-56D545A0DA29}"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956656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CC774E-A65B-4DD3-BE4B-56D545A0DA29}"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018801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608178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7490885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3980745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3227029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CC774E-A65B-4DD3-BE4B-56D545A0DA29}" type="datetimeFigureOut">
              <a:rPr lang="en-US" smtClean="0"/>
              <a:t>10/1/2026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B33805-9E83-4060-B5C0-E394AAE5CE46}" type="slidenum">
              <a:rPr lang="en-US" smtClean="0"/>
              <a:t>‹#›</a:t>
            </a:fld>
            <a:endParaRPr lang="en-US"/>
          </a:p>
        </p:txBody>
      </p:sp>
    </p:spTree>
    <p:extLst>
      <p:ext uri="{BB962C8B-B14F-4D97-AF65-F5344CB8AC3E}">
        <p14:creationId xmlns:p14="http://schemas.microsoft.com/office/powerpoint/2010/main" val="12464274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microsoft.com/office/2018/10/relationships/comments" Target="../comments/modernComment_100_E033BACA.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7DFE6DD.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2_2A521A9.xm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6_EBF76C5C.xml"/><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0B_B832C5FC.xml"/><Relationship Id="rId2" Type="http://schemas.openxmlformats.org/officeDocument/2006/relationships/notesSlide" Target="../notesSlides/notesSlide5.xml"/><Relationship Id="rId1" Type="http://schemas.openxmlformats.org/officeDocument/2006/relationships/slideLayout" Target="../slideLayouts/slideLayout8.xml"/><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4B15A-1BA8-FAE0-F178-B785304BAB9C}"/>
              </a:ext>
            </a:extLst>
          </p:cNvPr>
          <p:cNvSpPr>
            <a:spLocks noGrp="1"/>
          </p:cNvSpPr>
          <p:nvPr>
            <p:ph type="ctrTitle"/>
          </p:nvPr>
        </p:nvSpPr>
        <p:spPr>
          <a:xfrm>
            <a:off x="639679" y="1136984"/>
            <a:ext cx="10912642" cy="3058779"/>
          </a:xfrm>
        </p:spPr>
        <p:txBody>
          <a:bodyPr>
            <a:normAutofit/>
          </a:bodyPr>
          <a:lstStyle/>
          <a:p>
            <a:r>
              <a:rPr lang="en-US" sz="5200" dirty="0"/>
              <a:t>Environmental and spatiotemporal influences on winter ichthyoplankton assemblages of the northern California Current Ecosystem</a:t>
            </a:r>
          </a:p>
        </p:txBody>
      </p:sp>
      <p:sp>
        <p:nvSpPr>
          <p:cNvPr id="3" name="Subtitle 2">
            <a:extLst>
              <a:ext uri="{FF2B5EF4-FFF2-40B4-BE49-F238E27FC236}">
                <a16:creationId xmlns:a16="http://schemas.microsoft.com/office/drawing/2014/main" id="{762E0F39-94FA-771E-FB61-BEBEF98967E4}"/>
              </a:ext>
            </a:extLst>
          </p:cNvPr>
          <p:cNvSpPr>
            <a:spLocks noGrp="1"/>
          </p:cNvSpPr>
          <p:nvPr>
            <p:ph type="subTitle" idx="1"/>
          </p:nvPr>
        </p:nvSpPr>
        <p:spPr>
          <a:xfrm>
            <a:off x="1524000" y="4690895"/>
            <a:ext cx="9144000" cy="773216"/>
          </a:xfrm>
        </p:spPr>
        <p:txBody>
          <a:bodyPr/>
          <a:lstStyle/>
          <a:p>
            <a:r>
              <a:rPr lang="en-US" dirty="0"/>
              <a:t>William R. McCloskey, Luke A. Bobay, Nicholas F. Howard, Robert K. Cowen and Su Sponaugle</a:t>
            </a:r>
          </a:p>
        </p:txBody>
      </p:sp>
    </p:spTree>
    <p:extLst>
      <p:ext uri="{BB962C8B-B14F-4D97-AF65-F5344CB8AC3E}">
        <p14:creationId xmlns:p14="http://schemas.microsoft.com/office/powerpoint/2010/main" val="3761486538"/>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1FE7A-9C51-A2F5-5A24-379FB7082CB8}"/>
              </a:ext>
            </a:extLst>
          </p:cNvPr>
          <p:cNvSpPr>
            <a:spLocks noGrp="1"/>
          </p:cNvSpPr>
          <p:nvPr>
            <p:ph type="title"/>
          </p:nvPr>
        </p:nvSpPr>
        <p:spPr/>
        <p:txBody>
          <a:bodyPr>
            <a:normAutofit/>
          </a:bodyPr>
          <a:lstStyle/>
          <a:p>
            <a:r>
              <a:rPr lang="en-US" sz="3600" dirty="0"/>
              <a:t>Outline</a:t>
            </a:r>
          </a:p>
        </p:txBody>
      </p:sp>
      <p:sp>
        <p:nvSpPr>
          <p:cNvPr id="3" name="Content Placeholder 2">
            <a:extLst>
              <a:ext uri="{FF2B5EF4-FFF2-40B4-BE49-F238E27FC236}">
                <a16:creationId xmlns:a16="http://schemas.microsoft.com/office/drawing/2014/main" id="{A57A7D49-2131-463F-4C9D-F7C5639F17BA}"/>
              </a:ext>
            </a:extLst>
          </p:cNvPr>
          <p:cNvSpPr>
            <a:spLocks noGrp="1"/>
          </p:cNvSpPr>
          <p:nvPr>
            <p:ph idx="1"/>
          </p:nvPr>
        </p:nvSpPr>
        <p:spPr/>
        <p:txBody>
          <a:bodyPr>
            <a:normAutofit/>
          </a:bodyPr>
          <a:lstStyle/>
          <a:p>
            <a:r>
              <a:rPr lang="en-US" sz="2400" dirty="0"/>
              <a:t>Introduction and background</a:t>
            </a:r>
          </a:p>
          <a:p>
            <a:r>
              <a:rPr lang="en-US" sz="2400" dirty="0"/>
              <a:t>Sampling and analysis methods</a:t>
            </a:r>
          </a:p>
          <a:p>
            <a:r>
              <a:rPr lang="en-US" sz="2400" dirty="0"/>
              <a:t>Results and discussion</a:t>
            </a:r>
          </a:p>
        </p:txBody>
      </p:sp>
    </p:spTree>
    <p:extLst>
      <p:ext uri="{BB962C8B-B14F-4D97-AF65-F5344CB8AC3E}">
        <p14:creationId xmlns:p14="http://schemas.microsoft.com/office/powerpoint/2010/main" val="415864598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E3F03-D8C1-AD38-095D-B69CB01CC9C5}"/>
              </a:ext>
            </a:extLst>
          </p:cNvPr>
          <p:cNvSpPr>
            <a:spLocks noGrp="1"/>
          </p:cNvSpPr>
          <p:nvPr>
            <p:ph type="title"/>
          </p:nvPr>
        </p:nvSpPr>
        <p:spPr/>
        <p:txBody>
          <a:bodyPr/>
          <a:lstStyle/>
          <a:p>
            <a:pPr algn="ctr"/>
            <a:r>
              <a:rPr lang="en-US" dirty="0"/>
              <a:t>Introduction and Background</a:t>
            </a:r>
          </a:p>
        </p:txBody>
      </p:sp>
    </p:spTree>
    <p:extLst>
      <p:ext uri="{BB962C8B-B14F-4D97-AF65-F5344CB8AC3E}">
        <p14:creationId xmlns:p14="http://schemas.microsoft.com/office/powerpoint/2010/main" val="53747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B1884-9909-6996-B1EF-F9DB304B33C9}"/>
              </a:ext>
            </a:extLst>
          </p:cNvPr>
          <p:cNvSpPr>
            <a:spLocks noGrp="1"/>
          </p:cNvSpPr>
          <p:nvPr>
            <p:ph type="title"/>
          </p:nvPr>
        </p:nvSpPr>
        <p:spPr>
          <a:xfrm>
            <a:off x="839788" y="457200"/>
            <a:ext cx="3932237" cy="1600200"/>
          </a:xfrm>
        </p:spPr>
        <p:txBody>
          <a:bodyPr>
            <a:normAutofit/>
          </a:bodyPr>
          <a:lstStyle/>
          <a:p>
            <a:r>
              <a:rPr lang="en-US" sz="3600" dirty="0"/>
              <a:t>Study area – northern California Current ecosystem</a:t>
            </a:r>
          </a:p>
        </p:txBody>
      </p:sp>
      <p:pic>
        <p:nvPicPr>
          <p:cNvPr id="11" name="Content Placeholder 10">
            <a:extLst>
              <a:ext uri="{FF2B5EF4-FFF2-40B4-BE49-F238E27FC236}">
                <a16:creationId xmlns:a16="http://schemas.microsoft.com/office/drawing/2014/main" id="{D81E69B6-8227-DAEF-3877-AA8B03C6F6A2}"/>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r="4612"/>
          <a:stretch>
            <a:fillRect/>
          </a:stretch>
        </p:blipFill>
        <p:spPr>
          <a:xfrm>
            <a:off x="4772025" y="203969"/>
            <a:ext cx="7340698" cy="5233004"/>
          </a:xfrm>
          <a:prstGeom prst="rect">
            <a:avLst/>
          </a:prstGeom>
        </p:spPr>
      </p:pic>
      <p:sp>
        <p:nvSpPr>
          <p:cNvPr id="4" name="Text Placeholder 3">
            <a:extLst>
              <a:ext uri="{FF2B5EF4-FFF2-40B4-BE49-F238E27FC236}">
                <a16:creationId xmlns:a16="http://schemas.microsoft.com/office/drawing/2014/main" id="{BB902A2A-9B25-5B79-B90D-5A644898C111}"/>
              </a:ext>
            </a:extLst>
          </p:cNvPr>
          <p:cNvSpPr>
            <a:spLocks noGrp="1"/>
          </p:cNvSpPr>
          <p:nvPr>
            <p:ph type="body" sz="half" idx="2"/>
          </p:nvPr>
        </p:nvSpPr>
        <p:spPr>
          <a:xfrm>
            <a:off x="624016" y="2057400"/>
            <a:ext cx="4148009" cy="4423718"/>
          </a:xfrm>
        </p:spPr>
        <p:txBody>
          <a:bodyPr>
            <a:normAutofit/>
          </a:bodyPr>
          <a:lstStyle/>
          <a:p>
            <a:pPr marL="342900" indent="-342900">
              <a:buFont typeface="Arial" panose="020B0604020202020204" pitchFamily="34" charset="0"/>
              <a:buChar char="•"/>
            </a:pPr>
            <a:r>
              <a:rPr lang="en-US" sz="2400" dirty="0"/>
              <a:t>Eastern boundary current system</a:t>
            </a:r>
          </a:p>
          <a:p>
            <a:pPr marL="342900" indent="-342900">
              <a:buFont typeface="Arial" panose="020B0604020202020204" pitchFamily="34" charset="0"/>
              <a:buChar char="•"/>
            </a:pPr>
            <a:r>
              <a:rPr lang="en-US" sz="2400" dirty="0"/>
              <a:t>Supports important fish populations </a:t>
            </a:r>
            <a:r>
              <a:rPr lang="en-US" sz="2000" dirty="0"/>
              <a:t>(Auth, 2011)</a:t>
            </a:r>
          </a:p>
          <a:p>
            <a:pPr marL="342900" indent="-342900">
              <a:buFont typeface="Arial" panose="020B0604020202020204" pitchFamily="34" charset="0"/>
              <a:buChar char="•"/>
            </a:pPr>
            <a:r>
              <a:rPr lang="en-US" sz="2400" dirty="0"/>
              <a:t>Latitudinal and seasonal variation in upwelling regimes </a:t>
            </a:r>
            <a:r>
              <a:rPr lang="en-US" sz="2000" dirty="0"/>
              <a:t>(Schmid et al., 2023)</a:t>
            </a:r>
          </a:p>
          <a:p>
            <a:pPr marL="800100" lvl="1" indent="-342900">
              <a:buFont typeface="Arial" panose="020B0604020202020204" pitchFamily="34" charset="0"/>
              <a:buChar char="•"/>
            </a:pPr>
            <a:r>
              <a:rPr lang="en-US" sz="2200" dirty="0"/>
              <a:t>Top 100 m ranges from mixed to stratified</a:t>
            </a:r>
          </a:p>
        </p:txBody>
      </p:sp>
      <p:sp>
        <p:nvSpPr>
          <p:cNvPr id="3" name="TextBox 2">
            <a:extLst>
              <a:ext uri="{FF2B5EF4-FFF2-40B4-BE49-F238E27FC236}">
                <a16:creationId xmlns:a16="http://schemas.microsoft.com/office/drawing/2014/main" id="{8D7A6167-BF80-593C-A7D0-A97C8E1BD395}"/>
              </a:ext>
            </a:extLst>
          </p:cNvPr>
          <p:cNvSpPr txBox="1"/>
          <p:nvPr/>
        </p:nvSpPr>
        <p:spPr>
          <a:xfrm>
            <a:off x="5183658" y="5436973"/>
            <a:ext cx="6870357" cy="1384995"/>
          </a:xfrm>
          <a:prstGeom prst="rect">
            <a:avLst/>
          </a:prstGeom>
          <a:noFill/>
        </p:spPr>
        <p:txBody>
          <a:bodyPr wrap="square" rtlCol="0">
            <a:spAutoFit/>
          </a:bodyPr>
          <a:lstStyle/>
          <a:p>
            <a:r>
              <a:rPr lang="en-US" sz="1400" b="1" dirty="0"/>
              <a:t>Fig. 1.</a:t>
            </a:r>
            <a:r>
              <a:rPr lang="en-US" sz="1400" dirty="0"/>
              <a:t> (A) Locations sampled; (B) temperature, (C) salinity, and (D) dissolved oxygen at the mean depth of each net tow, with locally weighted scatterplot smooths; and (E) mean chlorophyll-</a:t>
            </a:r>
            <a:r>
              <a:rPr lang="en-US" sz="1400" i="1" dirty="0"/>
              <a:t>a</a:t>
            </a:r>
            <a:r>
              <a:rPr lang="en-US" sz="1400" dirty="0"/>
              <a:t> concentration in the top 100 m of the water column at each sampling station, with box plots summarizing values in each year. Symbol shapes and line types indicate year, and symbol color indicates seafloor depth. Variation in the position of points along the x-axis in (E) has been added to increase the visibility of points.</a:t>
            </a:r>
          </a:p>
        </p:txBody>
      </p:sp>
    </p:spTree>
    <p:extLst>
      <p:ext uri="{BB962C8B-B14F-4D97-AF65-F5344CB8AC3E}">
        <p14:creationId xmlns:p14="http://schemas.microsoft.com/office/powerpoint/2010/main" val="2055671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A7BD9-A216-C803-5B99-4B6B1936302A}"/>
              </a:ext>
            </a:extLst>
          </p:cNvPr>
          <p:cNvSpPr>
            <a:spLocks noGrp="1"/>
          </p:cNvSpPr>
          <p:nvPr>
            <p:ph type="title"/>
          </p:nvPr>
        </p:nvSpPr>
        <p:spPr>
          <a:xfrm>
            <a:off x="838200" y="365125"/>
            <a:ext cx="10515600" cy="688975"/>
          </a:xfrm>
        </p:spPr>
        <p:txBody>
          <a:bodyPr>
            <a:normAutofit/>
          </a:bodyPr>
          <a:lstStyle/>
          <a:p>
            <a:r>
              <a:rPr lang="en-US" sz="3600" dirty="0"/>
              <a:t>State of LFC knowledge in the NCC</a:t>
            </a:r>
          </a:p>
        </p:txBody>
      </p:sp>
      <p:sp>
        <p:nvSpPr>
          <p:cNvPr id="3" name="Content Placeholder 2">
            <a:extLst>
              <a:ext uri="{FF2B5EF4-FFF2-40B4-BE49-F238E27FC236}">
                <a16:creationId xmlns:a16="http://schemas.microsoft.com/office/drawing/2014/main" id="{E199FAA9-8CCF-7FDF-EDB5-A953AF356B0E}"/>
              </a:ext>
            </a:extLst>
          </p:cNvPr>
          <p:cNvSpPr>
            <a:spLocks noGrp="1"/>
          </p:cNvSpPr>
          <p:nvPr>
            <p:ph idx="1"/>
          </p:nvPr>
        </p:nvSpPr>
        <p:spPr>
          <a:xfrm>
            <a:off x="635000" y="1054100"/>
            <a:ext cx="11401056" cy="5689600"/>
          </a:xfrm>
        </p:spPr>
        <p:txBody>
          <a:bodyPr>
            <a:normAutofit lnSpcReduction="10000"/>
          </a:bodyPr>
          <a:lstStyle/>
          <a:p>
            <a:r>
              <a:rPr lang="en-US" sz="2400" dirty="0"/>
              <a:t>Many species’ early life stages are tightly coupled to seasonal oceanographic processes </a:t>
            </a:r>
            <a:r>
              <a:rPr lang="en-US" sz="2000" dirty="0"/>
              <a:t>(Auth, 2011)  </a:t>
            </a:r>
            <a:endParaRPr lang="en-US" sz="2400" dirty="0"/>
          </a:p>
          <a:p>
            <a:pPr lvl="1"/>
            <a:r>
              <a:rPr lang="en-US" sz="2200" dirty="0"/>
              <a:t>Peak spawning in winter </a:t>
            </a:r>
            <a:r>
              <a:rPr lang="en-US" sz="2000" dirty="0"/>
              <a:t>(Doyle, 1992; Brodeur et al., 2008)</a:t>
            </a:r>
          </a:p>
          <a:p>
            <a:pPr lvl="1"/>
            <a:r>
              <a:rPr lang="en-US" sz="2200" dirty="0"/>
              <a:t>Greatest larval abundance and diversity during winter </a:t>
            </a:r>
            <a:r>
              <a:rPr lang="en-US" sz="2000" dirty="0"/>
              <a:t>(Brodeur et al., 2008)</a:t>
            </a:r>
            <a:endParaRPr lang="en-US" sz="2200" dirty="0"/>
          </a:p>
          <a:p>
            <a:r>
              <a:rPr lang="en-US" sz="2400" dirty="0"/>
              <a:t>Assemblages may be influenced by finer-scale factors which are paid less attention</a:t>
            </a:r>
          </a:p>
          <a:p>
            <a:pPr lvl="1"/>
            <a:r>
              <a:rPr lang="en-US" sz="2200" dirty="0"/>
              <a:t>Temperature, salinity, and DO have direct physiological effects </a:t>
            </a:r>
            <a:r>
              <a:rPr lang="en-US" sz="2000" dirty="0"/>
              <a:t>(Pepin, 1991; </a:t>
            </a:r>
            <a:r>
              <a:rPr lang="en-US" sz="2000" dirty="0" err="1"/>
              <a:t>Bœuf</a:t>
            </a:r>
            <a:r>
              <a:rPr lang="en-US" sz="2000" dirty="0"/>
              <a:t> and Payan, 2001; Johnson-Colegrove et al., 2015)</a:t>
            </a:r>
          </a:p>
          <a:p>
            <a:pPr lvl="1"/>
            <a:r>
              <a:rPr lang="en-US" sz="2200" dirty="0"/>
              <a:t>Distinct water masses may be related to salinity </a:t>
            </a:r>
            <a:r>
              <a:rPr lang="en-US" sz="2000" dirty="0"/>
              <a:t>(Thompson et al., 2014)</a:t>
            </a:r>
          </a:p>
          <a:p>
            <a:pPr lvl="1"/>
            <a:r>
              <a:rPr lang="en-US" sz="2200" dirty="0"/>
              <a:t>Favorable prey availability may be indirectly indicated by primary productivity </a:t>
            </a:r>
            <a:r>
              <a:rPr lang="en-US" sz="2000" dirty="0"/>
              <a:t>(Whiney et al., 2021)</a:t>
            </a:r>
          </a:p>
          <a:p>
            <a:r>
              <a:rPr lang="en-US" sz="2400" dirty="0"/>
              <a:t>Larvae aggregate vertically to reach or maintain position in favorable water masses </a:t>
            </a:r>
            <a:r>
              <a:rPr lang="en-US" sz="2000" dirty="0"/>
              <a:t>(Huebert et al., 2010)</a:t>
            </a:r>
            <a:endParaRPr lang="en-US" sz="2400" dirty="0"/>
          </a:p>
          <a:p>
            <a:pPr lvl="1"/>
            <a:r>
              <a:rPr lang="en-US" sz="2200" dirty="0"/>
              <a:t>Some larval fishes display diel vertical migration (DVM) </a:t>
            </a:r>
            <a:r>
              <a:rPr lang="en-US" sz="2000" dirty="0"/>
              <a:t>(Auth, 2007)</a:t>
            </a:r>
            <a:endParaRPr lang="en-US" sz="2400" dirty="0"/>
          </a:p>
          <a:p>
            <a:r>
              <a:rPr lang="en-US" sz="2400" dirty="0"/>
              <a:t>Understanding factors contributing to the composition and abundance of winter ichthyoplankton assemblages is crucial for understanding fish recruitment and food-web structuring</a:t>
            </a:r>
          </a:p>
          <a:p>
            <a:pPr lvl="1"/>
            <a:r>
              <a:rPr lang="en-US" sz="2200" dirty="0"/>
              <a:t>Relatively scarce research in winter, compared to spring-summer </a:t>
            </a:r>
            <a:r>
              <a:rPr lang="en-US" sz="2000" dirty="0"/>
              <a:t>(Auth and Brodeur, 2013)</a:t>
            </a:r>
          </a:p>
        </p:txBody>
      </p:sp>
    </p:spTree>
    <p:extLst>
      <p:ext uri="{BB962C8B-B14F-4D97-AF65-F5344CB8AC3E}">
        <p14:creationId xmlns:p14="http://schemas.microsoft.com/office/powerpoint/2010/main" val="44376489"/>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0C8C9-DCCB-9092-1633-D30892F6B909}"/>
              </a:ext>
            </a:extLst>
          </p:cNvPr>
          <p:cNvSpPr>
            <a:spLocks noGrp="1"/>
          </p:cNvSpPr>
          <p:nvPr>
            <p:ph type="title"/>
          </p:nvPr>
        </p:nvSpPr>
        <p:spPr/>
        <p:txBody>
          <a:bodyPr/>
          <a:lstStyle/>
          <a:p>
            <a:pPr algn="ctr"/>
            <a:r>
              <a:rPr lang="en-US" dirty="0"/>
              <a:t>Sampling and Analysis Methods</a:t>
            </a:r>
          </a:p>
        </p:txBody>
      </p:sp>
    </p:spTree>
    <p:extLst>
      <p:ext uri="{BB962C8B-B14F-4D97-AF65-F5344CB8AC3E}">
        <p14:creationId xmlns:p14="http://schemas.microsoft.com/office/powerpoint/2010/main" val="40959871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DC292-6437-72C8-FE7E-358DAA2DE035}"/>
              </a:ext>
            </a:extLst>
          </p:cNvPr>
          <p:cNvSpPr>
            <a:spLocks noGrp="1"/>
          </p:cNvSpPr>
          <p:nvPr>
            <p:ph type="title"/>
          </p:nvPr>
        </p:nvSpPr>
        <p:spPr>
          <a:xfrm>
            <a:off x="838200" y="365125"/>
            <a:ext cx="10515600" cy="663575"/>
          </a:xfrm>
        </p:spPr>
        <p:txBody>
          <a:bodyPr>
            <a:normAutofit/>
          </a:bodyPr>
          <a:lstStyle/>
          <a:p>
            <a:r>
              <a:rPr lang="en-US" sz="3600" dirty="0"/>
              <a:t>Sampling and data collection</a:t>
            </a:r>
          </a:p>
        </p:txBody>
      </p:sp>
      <p:sp>
        <p:nvSpPr>
          <p:cNvPr id="3" name="Content Placeholder 2">
            <a:extLst>
              <a:ext uri="{FF2B5EF4-FFF2-40B4-BE49-F238E27FC236}">
                <a16:creationId xmlns:a16="http://schemas.microsoft.com/office/drawing/2014/main" id="{ECB50B18-4FB1-0283-6385-E05038C7DFF4}"/>
              </a:ext>
            </a:extLst>
          </p:cNvPr>
          <p:cNvSpPr>
            <a:spLocks noGrp="1"/>
          </p:cNvSpPr>
          <p:nvPr>
            <p:ph idx="1"/>
          </p:nvPr>
        </p:nvSpPr>
        <p:spPr>
          <a:xfrm>
            <a:off x="596900" y="1028700"/>
            <a:ext cx="11442700" cy="5148263"/>
          </a:xfrm>
        </p:spPr>
        <p:txBody>
          <a:bodyPr/>
          <a:lstStyle/>
          <a:p>
            <a:r>
              <a:rPr lang="en-US" sz="2400" dirty="0"/>
              <a:t>Sampled in the NCC (41–47°N) on 4 research cruises</a:t>
            </a:r>
          </a:p>
          <a:p>
            <a:pPr lvl="1"/>
            <a:r>
              <a:rPr lang="en-US" sz="2200" dirty="0"/>
              <a:t>2018 and 2019: 2 transects, 5 stations each, sampled day and night</a:t>
            </a:r>
          </a:p>
          <a:p>
            <a:pPr lvl="1"/>
            <a:r>
              <a:rPr lang="en-US" sz="2200" dirty="0"/>
              <a:t>2022 and 2023: 4-6 transects, 3-6 stations each, sampled once</a:t>
            </a:r>
          </a:p>
          <a:p>
            <a:r>
              <a:rPr lang="en-US" sz="2400" dirty="0"/>
              <a:t>Plankton collected using a coupled MOCNESS</a:t>
            </a:r>
          </a:p>
          <a:p>
            <a:pPr lvl="1"/>
            <a:r>
              <a:rPr lang="en-US" sz="2200" dirty="0"/>
              <a:t>Equipped with a flowmeter, depth sensor, and temperature and conductivity sensors</a:t>
            </a:r>
          </a:p>
          <a:p>
            <a:r>
              <a:rPr lang="en-US" sz="2400" dirty="0"/>
              <a:t>Ichthyoplankton visually identified to lowest taxonomic resolution possible (typically genus- or species-level) and counted</a:t>
            </a:r>
          </a:p>
          <a:p>
            <a:r>
              <a:rPr lang="en-US" sz="2400" dirty="0"/>
              <a:t>Within 3 hours of MOCNESS sampling, a sensor package was towed vertically through the top 100 m</a:t>
            </a:r>
          </a:p>
          <a:p>
            <a:r>
              <a:rPr lang="en-US" sz="2400" dirty="0"/>
              <a:t>Rare genera and species, those identified only to family-level, or those considered very ecologically similar were grouped within families</a:t>
            </a:r>
          </a:p>
          <a:p>
            <a:r>
              <a:rPr lang="en-US" sz="2400" dirty="0"/>
              <a:t>Data for rare taxa and small samples were omitted from analysis</a:t>
            </a:r>
          </a:p>
          <a:p>
            <a:endParaRPr lang="en-US" dirty="0"/>
          </a:p>
          <a:p>
            <a:endParaRPr lang="en-US" dirty="0"/>
          </a:p>
        </p:txBody>
      </p:sp>
    </p:spTree>
    <p:extLst>
      <p:ext uri="{BB962C8B-B14F-4D97-AF65-F5344CB8AC3E}">
        <p14:creationId xmlns:p14="http://schemas.microsoft.com/office/powerpoint/2010/main" val="3460423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4F21-E44A-8428-88A9-5472B256D169}"/>
              </a:ext>
            </a:extLst>
          </p:cNvPr>
          <p:cNvSpPr>
            <a:spLocks noGrp="1"/>
          </p:cNvSpPr>
          <p:nvPr>
            <p:ph type="title"/>
          </p:nvPr>
        </p:nvSpPr>
        <p:spPr/>
        <p:txBody>
          <a:bodyPr>
            <a:normAutofit/>
          </a:bodyPr>
          <a:lstStyle/>
          <a:p>
            <a:r>
              <a:rPr lang="en-US" sz="3600" dirty="0"/>
              <a:t>Data Analyses</a:t>
            </a:r>
          </a:p>
        </p:txBody>
      </p:sp>
      <p:sp>
        <p:nvSpPr>
          <p:cNvPr id="3" name="Text Placeholder 2">
            <a:extLst>
              <a:ext uri="{FF2B5EF4-FFF2-40B4-BE49-F238E27FC236}">
                <a16:creationId xmlns:a16="http://schemas.microsoft.com/office/drawing/2014/main" id="{811B784F-B0FE-B134-DE85-B82BC9CF9725}"/>
              </a:ext>
            </a:extLst>
          </p:cNvPr>
          <p:cNvSpPr>
            <a:spLocks noGrp="1"/>
          </p:cNvSpPr>
          <p:nvPr>
            <p:ph type="body" idx="1"/>
          </p:nvPr>
        </p:nvSpPr>
        <p:spPr>
          <a:xfrm>
            <a:off x="609930" y="1681163"/>
            <a:ext cx="3642951" cy="823912"/>
          </a:xfrm>
        </p:spPr>
        <p:txBody>
          <a:bodyPr>
            <a:noAutofit/>
          </a:bodyPr>
          <a:lstStyle/>
          <a:p>
            <a:pPr algn="ctr"/>
            <a:r>
              <a:rPr lang="en-US" sz="2800" dirty="0"/>
              <a:t>Characterizing assemblages</a:t>
            </a:r>
          </a:p>
        </p:txBody>
      </p:sp>
      <p:sp>
        <p:nvSpPr>
          <p:cNvPr id="4" name="Content Placeholder 3">
            <a:extLst>
              <a:ext uri="{FF2B5EF4-FFF2-40B4-BE49-F238E27FC236}">
                <a16:creationId xmlns:a16="http://schemas.microsoft.com/office/drawing/2014/main" id="{9E5096C5-3BD2-27F3-58AD-14865937D002}"/>
              </a:ext>
            </a:extLst>
          </p:cNvPr>
          <p:cNvSpPr>
            <a:spLocks noGrp="1"/>
          </p:cNvSpPr>
          <p:nvPr>
            <p:ph sz="half" idx="2"/>
          </p:nvPr>
        </p:nvSpPr>
        <p:spPr>
          <a:xfrm>
            <a:off x="609930" y="2707870"/>
            <a:ext cx="3642951" cy="2468965"/>
          </a:xfrm>
        </p:spPr>
        <p:txBody>
          <a:bodyPr>
            <a:normAutofit/>
          </a:bodyPr>
          <a:lstStyle/>
          <a:p>
            <a:r>
              <a:rPr lang="en-US" sz="2400" dirty="0"/>
              <a:t>Cluster analysis</a:t>
            </a:r>
          </a:p>
          <a:p>
            <a:r>
              <a:rPr lang="en-US" sz="2400" dirty="0"/>
              <a:t>Indicator Species Analysis</a:t>
            </a:r>
          </a:p>
          <a:p>
            <a:r>
              <a:rPr lang="en-US" sz="2400" dirty="0"/>
              <a:t>NMDS</a:t>
            </a:r>
          </a:p>
          <a:p>
            <a:pPr lvl="1"/>
            <a:r>
              <a:rPr lang="en-US" sz="2200" dirty="0"/>
              <a:t>Z-test of NMDS stress against null model </a:t>
            </a:r>
            <a:r>
              <a:rPr lang="en-US" sz="2000" dirty="0"/>
              <a:t>(Dexter et al., 2018)</a:t>
            </a:r>
            <a:endParaRPr lang="en-US" sz="2200" dirty="0"/>
          </a:p>
        </p:txBody>
      </p:sp>
      <p:sp>
        <p:nvSpPr>
          <p:cNvPr id="5" name="Text Placeholder 4">
            <a:extLst>
              <a:ext uri="{FF2B5EF4-FFF2-40B4-BE49-F238E27FC236}">
                <a16:creationId xmlns:a16="http://schemas.microsoft.com/office/drawing/2014/main" id="{941A9FE0-0831-3314-E63A-403E0F0F6E75}"/>
              </a:ext>
            </a:extLst>
          </p:cNvPr>
          <p:cNvSpPr>
            <a:spLocks noGrp="1"/>
          </p:cNvSpPr>
          <p:nvPr>
            <p:ph type="body" sz="quarter" idx="3"/>
          </p:nvPr>
        </p:nvSpPr>
        <p:spPr>
          <a:xfrm>
            <a:off x="4252881" y="1619794"/>
            <a:ext cx="3642951" cy="823912"/>
          </a:xfrm>
        </p:spPr>
        <p:txBody>
          <a:bodyPr>
            <a:noAutofit/>
          </a:bodyPr>
          <a:lstStyle/>
          <a:p>
            <a:pPr algn="ctr"/>
            <a:r>
              <a:rPr lang="en-US" sz="2800" dirty="0"/>
              <a:t>Influences on assemblages</a:t>
            </a:r>
          </a:p>
        </p:txBody>
      </p:sp>
      <p:sp>
        <p:nvSpPr>
          <p:cNvPr id="6" name="Content Placeholder 5">
            <a:extLst>
              <a:ext uri="{FF2B5EF4-FFF2-40B4-BE49-F238E27FC236}">
                <a16:creationId xmlns:a16="http://schemas.microsoft.com/office/drawing/2014/main" id="{E709375E-380E-E0E4-AABB-C3C82F7FD360}"/>
              </a:ext>
            </a:extLst>
          </p:cNvPr>
          <p:cNvSpPr>
            <a:spLocks noGrp="1"/>
          </p:cNvSpPr>
          <p:nvPr>
            <p:ph sz="quarter" idx="4"/>
          </p:nvPr>
        </p:nvSpPr>
        <p:spPr>
          <a:xfrm>
            <a:off x="4274524" y="2707871"/>
            <a:ext cx="3642951" cy="2373767"/>
          </a:xfrm>
        </p:spPr>
        <p:txBody>
          <a:bodyPr>
            <a:normAutofit/>
          </a:bodyPr>
          <a:lstStyle/>
          <a:p>
            <a:r>
              <a:rPr lang="en-US" sz="2400" dirty="0"/>
              <a:t>Distance-based RDA</a:t>
            </a:r>
          </a:p>
          <a:p>
            <a:r>
              <a:rPr lang="en-US" sz="2400" dirty="0"/>
              <a:t>Permutation-based ANOVA</a:t>
            </a:r>
          </a:p>
          <a:p>
            <a:r>
              <a:rPr lang="en-US" sz="2400" dirty="0"/>
              <a:t>Variance Partitioning Analysis</a:t>
            </a:r>
          </a:p>
        </p:txBody>
      </p:sp>
      <p:sp>
        <p:nvSpPr>
          <p:cNvPr id="10" name="Text Placeholder 4">
            <a:extLst>
              <a:ext uri="{FF2B5EF4-FFF2-40B4-BE49-F238E27FC236}">
                <a16:creationId xmlns:a16="http://schemas.microsoft.com/office/drawing/2014/main" id="{4897BA95-02F0-B7E1-1044-1BA7DA428238}"/>
              </a:ext>
            </a:extLst>
          </p:cNvPr>
          <p:cNvSpPr txBox="1">
            <a:spLocks/>
          </p:cNvSpPr>
          <p:nvPr/>
        </p:nvSpPr>
        <p:spPr>
          <a:xfrm>
            <a:off x="7939119" y="1655241"/>
            <a:ext cx="3642951"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Diel variation in vertical distribution</a:t>
            </a:r>
          </a:p>
        </p:txBody>
      </p:sp>
      <p:sp>
        <p:nvSpPr>
          <p:cNvPr id="14" name="Content Placeholder 5">
            <a:extLst>
              <a:ext uri="{FF2B5EF4-FFF2-40B4-BE49-F238E27FC236}">
                <a16:creationId xmlns:a16="http://schemas.microsoft.com/office/drawing/2014/main" id="{B6290506-0F17-7A96-BD89-BF7282E95E12}"/>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Negative binomial GLMM</a:t>
            </a:r>
          </a:p>
          <a:p>
            <a:r>
              <a:rPr lang="en-US" sz="2400" dirty="0"/>
              <a:t>Plots of predicted taxon concentrations and abundance for visualization of the interaction between time of day and depth</a:t>
            </a:r>
          </a:p>
        </p:txBody>
      </p:sp>
      <p:cxnSp>
        <p:nvCxnSpPr>
          <p:cNvPr id="16" name="Straight Connector 15">
            <a:extLst>
              <a:ext uri="{FF2B5EF4-FFF2-40B4-BE49-F238E27FC236}">
                <a16:creationId xmlns:a16="http://schemas.microsoft.com/office/drawing/2014/main" id="{50253486-C68C-51C9-A40E-06E059ABBD6E}"/>
              </a:ext>
            </a:extLst>
          </p:cNvPr>
          <p:cNvCxnSpPr/>
          <p:nvPr/>
        </p:nvCxnSpPr>
        <p:spPr>
          <a:xfrm>
            <a:off x="839788"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4338D88A-853D-90FD-85D3-713F2340645C}"/>
              </a:ext>
            </a:extLst>
          </p:cNvPr>
          <p:cNvCxnSpPr/>
          <p:nvPr/>
        </p:nvCxnSpPr>
        <p:spPr>
          <a:xfrm>
            <a:off x="4506055"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50713E81-6361-0A83-AB67-A91F8B3DCF06}"/>
              </a:ext>
            </a:extLst>
          </p:cNvPr>
          <p:cNvCxnSpPr/>
          <p:nvPr/>
        </p:nvCxnSpPr>
        <p:spPr>
          <a:xfrm>
            <a:off x="8175498" y="2505075"/>
            <a:ext cx="3179890" cy="0"/>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958860892"/>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91BF2-BE1A-1528-5C92-EB5549F9C0A6}"/>
              </a:ext>
            </a:extLst>
          </p:cNvPr>
          <p:cNvSpPr>
            <a:spLocks noGrp="1"/>
          </p:cNvSpPr>
          <p:nvPr>
            <p:ph type="title"/>
          </p:nvPr>
        </p:nvSpPr>
        <p:spPr/>
        <p:txBody>
          <a:bodyPr/>
          <a:lstStyle/>
          <a:p>
            <a:pPr algn="ctr"/>
            <a:r>
              <a:rPr lang="en-US" dirty="0"/>
              <a:t>Results and Discussion</a:t>
            </a:r>
          </a:p>
        </p:txBody>
      </p:sp>
    </p:spTree>
    <p:extLst>
      <p:ext uri="{BB962C8B-B14F-4D97-AF65-F5344CB8AC3E}">
        <p14:creationId xmlns:p14="http://schemas.microsoft.com/office/powerpoint/2010/main" val="552340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FD3E4-2EFF-D8D3-5184-E3EC6B860EEB}"/>
              </a:ext>
            </a:extLst>
          </p:cNvPr>
          <p:cNvSpPr>
            <a:spLocks noGrp="1"/>
          </p:cNvSpPr>
          <p:nvPr>
            <p:ph type="title"/>
          </p:nvPr>
        </p:nvSpPr>
        <p:spPr>
          <a:xfrm>
            <a:off x="846438" y="457200"/>
            <a:ext cx="3925587" cy="624016"/>
          </a:xfrm>
        </p:spPr>
        <p:txBody>
          <a:bodyPr>
            <a:normAutofit/>
          </a:bodyPr>
          <a:lstStyle/>
          <a:p>
            <a:r>
              <a:rPr lang="en-US" sz="3600" dirty="0"/>
              <a:t>Cluster composition</a:t>
            </a:r>
          </a:p>
        </p:txBody>
      </p:sp>
      <p:pic>
        <p:nvPicPr>
          <p:cNvPr id="9" name="Content Placeholder 8">
            <a:extLst>
              <a:ext uri="{FF2B5EF4-FFF2-40B4-BE49-F238E27FC236}">
                <a16:creationId xmlns:a16="http://schemas.microsoft.com/office/drawing/2014/main" id="{32A1F273-02B1-F52E-15DB-ECD7D6AC29BC}"/>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4670852" y="1081216"/>
            <a:ext cx="7426412" cy="3713205"/>
          </a:xfrm>
          <a:prstGeom prst="rect">
            <a:avLst/>
          </a:prstGeom>
        </p:spPr>
      </p:pic>
      <p:sp>
        <p:nvSpPr>
          <p:cNvPr id="7" name="Text Placeholder 6">
            <a:extLst>
              <a:ext uri="{FF2B5EF4-FFF2-40B4-BE49-F238E27FC236}">
                <a16:creationId xmlns:a16="http://schemas.microsoft.com/office/drawing/2014/main" id="{37B4AFB3-D8A4-32C0-8A0F-A2A6CF834B2C}"/>
              </a:ext>
            </a:extLst>
          </p:cNvPr>
          <p:cNvSpPr>
            <a:spLocks noGrp="1"/>
          </p:cNvSpPr>
          <p:nvPr>
            <p:ph type="body" sz="half" idx="2"/>
          </p:nvPr>
        </p:nvSpPr>
        <p:spPr>
          <a:xfrm>
            <a:off x="605482" y="1081216"/>
            <a:ext cx="4166544" cy="3173284"/>
          </a:xfrm>
        </p:spPr>
        <p:txBody>
          <a:bodyPr>
            <a:normAutofit/>
          </a:bodyPr>
          <a:lstStyle/>
          <a:p>
            <a:pPr marL="342900" indent="-342900">
              <a:buFont typeface="Arial" panose="020B0604020202020204" pitchFamily="34" charset="0"/>
              <a:buChar char="•"/>
            </a:pPr>
            <a:r>
              <a:rPr lang="en-US" sz="2400" dirty="0"/>
              <a:t>Cluster analysis yielded 7 total clusters</a:t>
            </a:r>
          </a:p>
          <a:p>
            <a:pPr marL="342900" indent="-342900">
              <a:buFont typeface="Arial" panose="020B0604020202020204" pitchFamily="34" charset="0"/>
              <a:buChar char="•"/>
            </a:pPr>
            <a:r>
              <a:rPr lang="en-US" sz="2400" dirty="0"/>
              <a:t>Cluster 1 – </a:t>
            </a:r>
            <a:r>
              <a:rPr lang="en-US" sz="2400" i="1" dirty="0"/>
              <a:t>Sebastes</a:t>
            </a:r>
            <a:r>
              <a:rPr lang="en-US" sz="2400" dirty="0"/>
              <a:t> spp.</a:t>
            </a:r>
          </a:p>
          <a:p>
            <a:pPr marL="342900" indent="-342900">
              <a:buFont typeface="Arial" panose="020B0604020202020204" pitchFamily="34" charset="0"/>
              <a:buChar char="•"/>
            </a:pPr>
            <a:r>
              <a:rPr lang="en-US" sz="2400" dirty="0"/>
              <a:t>Cluster 2 – </a:t>
            </a:r>
            <a:r>
              <a:rPr lang="en-US" sz="2400" i="1" dirty="0" err="1"/>
              <a:t>Parophrys</a:t>
            </a:r>
            <a:r>
              <a:rPr lang="en-US" sz="2400" i="1" dirty="0"/>
              <a:t> </a:t>
            </a:r>
            <a:r>
              <a:rPr lang="en-US" sz="2400" i="1" dirty="0" err="1"/>
              <a:t>vetulus</a:t>
            </a:r>
            <a:endParaRPr lang="en-US" sz="2400" dirty="0"/>
          </a:p>
          <a:p>
            <a:pPr marL="342900" indent="-342900">
              <a:buFont typeface="Arial" panose="020B0604020202020204" pitchFamily="34" charset="0"/>
              <a:buChar char="•"/>
            </a:pPr>
            <a:r>
              <a:rPr lang="en-US" sz="2400" dirty="0"/>
              <a:t>Cluster 3 – mesopelagic taxa</a:t>
            </a:r>
          </a:p>
          <a:p>
            <a:pPr marL="342900" indent="-342900">
              <a:buFont typeface="Arial" panose="020B0604020202020204" pitchFamily="34" charset="0"/>
              <a:buChar char="•"/>
            </a:pPr>
            <a:r>
              <a:rPr lang="en-US" sz="2400" dirty="0"/>
              <a:t>Cluster 5 – coastal taxa</a:t>
            </a:r>
          </a:p>
          <a:p>
            <a:pPr marL="342900" indent="-342900">
              <a:buFont typeface="Arial" panose="020B0604020202020204" pitchFamily="34" charset="0"/>
              <a:buChar char="•"/>
            </a:pPr>
            <a:r>
              <a:rPr lang="en-US" sz="2400" dirty="0"/>
              <a:t>Cluster 6 - </a:t>
            </a:r>
            <a:r>
              <a:rPr lang="en-US" sz="2400" dirty="0" err="1"/>
              <a:t>Osmerids</a:t>
            </a:r>
            <a:endParaRPr lang="en-US" sz="2400" dirty="0"/>
          </a:p>
        </p:txBody>
      </p:sp>
      <p:pic>
        <p:nvPicPr>
          <p:cNvPr id="11" name="Picture 10">
            <a:extLst>
              <a:ext uri="{FF2B5EF4-FFF2-40B4-BE49-F238E27FC236}">
                <a16:creationId xmlns:a16="http://schemas.microsoft.com/office/drawing/2014/main" id="{E9DEDAC5-9FE2-AE67-7F01-F1354976CC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596439" y="290373"/>
            <a:ext cx="1828804" cy="5486411"/>
          </a:xfrm>
          <a:prstGeom prst="rect">
            <a:avLst/>
          </a:prstGeom>
        </p:spPr>
      </p:pic>
      <p:sp>
        <p:nvSpPr>
          <p:cNvPr id="4" name="TextBox 3">
            <a:extLst>
              <a:ext uri="{FF2B5EF4-FFF2-40B4-BE49-F238E27FC236}">
                <a16:creationId xmlns:a16="http://schemas.microsoft.com/office/drawing/2014/main" id="{3D4151DB-09D6-2F42-42B3-F10195BC00EB}"/>
              </a:ext>
            </a:extLst>
          </p:cNvPr>
          <p:cNvSpPr txBox="1"/>
          <p:nvPr/>
        </p:nvSpPr>
        <p:spPr>
          <a:xfrm>
            <a:off x="5182627" y="4794421"/>
            <a:ext cx="6859031" cy="954107"/>
          </a:xfrm>
          <a:prstGeom prst="rect">
            <a:avLst/>
          </a:prstGeom>
          <a:noFill/>
        </p:spPr>
        <p:txBody>
          <a:bodyPr wrap="square">
            <a:spAutoFit/>
          </a:bodyPr>
          <a:lstStyle/>
          <a:p>
            <a:r>
              <a:rPr lang="en-US" sz="1400" b="1" dirty="0"/>
              <a:t>Fig. 2a. </a:t>
            </a:r>
            <a:r>
              <a:rPr lang="en-US" sz="1400" dirty="0"/>
              <a:t>Proportion of square-root-transformed concentration of taxa in samples assigned to each cluster. Colors correspond to coarse habitat affinity and taxonomic groups: </a:t>
            </a:r>
            <a:r>
              <a:rPr lang="en-US" sz="1400" dirty="0" err="1"/>
              <a:t>mesopelagics</a:t>
            </a:r>
            <a:r>
              <a:rPr lang="en-US" sz="1400" dirty="0"/>
              <a:t> (purples), </a:t>
            </a:r>
            <a:r>
              <a:rPr lang="en-US" sz="1400" dirty="0" err="1"/>
              <a:t>Pleuronectiformes</a:t>
            </a:r>
            <a:r>
              <a:rPr lang="en-US" sz="1400" dirty="0"/>
              <a:t> (oranges), Perciformes (blues), and other coastal taxa (greens).</a:t>
            </a:r>
          </a:p>
        </p:txBody>
      </p:sp>
    </p:spTree>
    <p:extLst>
      <p:ext uri="{BB962C8B-B14F-4D97-AF65-F5344CB8AC3E}">
        <p14:creationId xmlns:p14="http://schemas.microsoft.com/office/powerpoint/2010/main" val="3090335228"/>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C52EC-1B0B-CAE3-D686-BE73422DB350}"/>
              </a:ext>
            </a:extLst>
          </p:cNvPr>
          <p:cNvSpPr>
            <a:spLocks noGrp="1"/>
          </p:cNvSpPr>
          <p:nvPr>
            <p:ph type="title"/>
          </p:nvPr>
        </p:nvSpPr>
        <p:spPr>
          <a:xfrm>
            <a:off x="839788" y="457200"/>
            <a:ext cx="3932238" cy="679622"/>
          </a:xfrm>
        </p:spPr>
        <p:txBody>
          <a:bodyPr>
            <a:normAutofit/>
          </a:bodyPr>
          <a:lstStyle/>
          <a:p>
            <a:r>
              <a:rPr lang="en-US" sz="3600" dirty="0"/>
              <a:t>Cluster Distribution</a:t>
            </a:r>
          </a:p>
        </p:txBody>
      </p:sp>
      <p:sp>
        <p:nvSpPr>
          <p:cNvPr id="7" name="Text Placeholder 6">
            <a:extLst>
              <a:ext uri="{FF2B5EF4-FFF2-40B4-BE49-F238E27FC236}">
                <a16:creationId xmlns:a16="http://schemas.microsoft.com/office/drawing/2014/main" id="{37231315-04AE-B570-9CA2-A28B0C7843E7}"/>
              </a:ext>
            </a:extLst>
          </p:cNvPr>
          <p:cNvSpPr>
            <a:spLocks noGrp="1"/>
          </p:cNvSpPr>
          <p:nvPr>
            <p:ph type="body" sz="half" idx="2"/>
          </p:nvPr>
        </p:nvSpPr>
        <p:spPr>
          <a:xfrm>
            <a:off x="614723" y="1136821"/>
            <a:ext cx="4455666" cy="5713835"/>
          </a:xfrm>
        </p:spPr>
        <p:txBody>
          <a:bodyPr>
            <a:normAutofit lnSpcReduction="10000"/>
          </a:bodyPr>
          <a:lstStyle/>
          <a:p>
            <a:pPr marL="342900" indent="-342900">
              <a:buFont typeface="Arial" panose="020B0604020202020204" pitchFamily="34" charset="0"/>
              <a:buChar char="•"/>
            </a:pPr>
            <a:r>
              <a:rPr lang="en-US" sz="2400" dirty="0"/>
              <a:t>Cluster 1 (</a:t>
            </a:r>
            <a:r>
              <a:rPr lang="en-US" sz="2400" i="1" dirty="0"/>
              <a:t>Sebastes </a:t>
            </a:r>
            <a:r>
              <a:rPr lang="en-US" sz="2400" dirty="0"/>
              <a:t>spp.) –along the shelf-break</a:t>
            </a:r>
          </a:p>
          <a:p>
            <a:pPr marL="342900" indent="-342900">
              <a:buFont typeface="Arial" panose="020B0604020202020204" pitchFamily="34" charset="0"/>
              <a:buChar char="•"/>
            </a:pPr>
            <a:r>
              <a:rPr lang="en-US" sz="2400" dirty="0"/>
              <a:t>Cluster 2 (</a:t>
            </a:r>
            <a:r>
              <a:rPr lang="en-US" sz="2400" i="1" dirty="0"/>
              <a:t>P. </a:t>
            </a:r>
            <a:r>
              <a:rPr lang="en-US" sz="2400" i="1" dirty="0" err="1"/>
              <a:t>vetulus</a:t>
            </a:r>
            <a:r>
              <a:rPr lang="en-US" sz="2400" dirty="0"/>
              <a:t>) – exclusively present over the shelf</a:t>
            </a:r>
          </a:p>
          <a:p>
            <a:pPr marL="342900" indent="-342900">
              <a:buFont typeface="Arial" panose="020B0604020202020204" pitchFamily="34" charset="0"/>
              <a:buChar char="•"/>
            </a:pPr>
            <a:r>
              <a:rPr lang="en-US" sz="2400" dirty="0"/>
              <a:t>Cluster 3 (</a:t>
            </a:r>
            <a:r>
              <a:rPr lang="en-US" sz="2400" dirty="0" err="1"/>
              <a:t>mesopelagics</a:t>
            </a:r>
            <a:r>
              <a:rPr lang="en-US" sz="2400" dirty="0"/>
              <a:t>) – offshore and over shelf break in deep net tows </a:t>
            </a:r>
          </a:p>
          <a:p>
            <a:pPr marL="342900" indent="-342900">
              <a:buFont typeface="Arial" panose="020B0604020202020204" pitchFamily="34" charset="0"/>
              <a:buChar char="•"/>
            </a:pPr>
            <a:r>
              <a:rPr lang="en-US" sz="2400" dirty="0"/>
              <a:t>Cluster 5 (coastal) – occurred close to shore predominantly in 2022</a:t>
            </a:r>
          </a:p>
          <a:p>
            <a:pPr marL="342900" indent="-342900">
              <a:buFont typeface="Arial" panose="020B0604020202020204" pitchFamily="34" charset="0"/>
              <a:buChar char="•"/>
            </a:pPr>
            <a:r>
              <a:rPr lang="en-US" sz="2400" dirty="0"/>
              <a:t>Cluster 6 (</a:t>
            </a:r>
            <a:r>
              <a:rPr lang="en-US" sz="2400" dirty="0" err="1"/>
              <a:t>Osmerids</a:t>
            </a:r>
            <a:r>
              <a:rPr lang="en-US" sz="2400" dirty="0"/>
              <a:t>) – nearshore at shallow depths north of Newport, OR</a:t>
            </a:r>
          </a:p>
          <a:p>
            <a:pPr marL="800100" lvl="1" indent="-342900">
              <a:buFont typeface="Arial" panose="020B0604020202020204" pitchFamily="34" charset="0"/>
              <a:buChar char="•"/>
            </a:pPr>
            <a:r>
              <a:rPr lang="en-US" sz="2200" dirty="0"/>
              <a:t>Occurred only when sampling took place north of Newport, OR (2022 and 2023)</a:t>
            </a:r>
          </a:p>
        </p:txBody>
      </p:sp>
      <p:pic>
        <p:nvPicPr>
          <p:cNvPr id="15" name="Content Placeholder 14">
            <a:extLst>
              <a:ext uri="{FF2B5EF4-FFF2-40B4-BE49-F238E27FC236}">
                <a16:creationId xmlns:a16="http://schemas.microsoft.com/office/drawing/2014/main" id="{48D38E96-EB96-B298-D1D7-F15B7624B8CC}"/>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r="1320"/>
          <a:stretch>
            <a:fillRect/>
          </a:stretch>
        </p:blipFill>
        <p:spPr>
          <a:xfrm>
            <a:off x="4848625" y="253327"/>
            <a:ext cx="7343375" cy="4961106"/>
          </a:xfrm>
          <a:prstGeom prst="rect">
            <a:avLst/>
          </a:prstGeom>
        </p:spPr>
      </p:pic>
      <p:sp>
        <p:nvSpPr>
          <p:cNvPr id="4" name="TextBox 3">
            <a:extLst>
              <a:ext uri="{FF2B5EF4-FFF2-40B4-BE49-F238E27FC236}">
                <a16:creationId xmlns:a16="http://schemas.microsoft.com/office/drawing/2014/main" id="{BEB2B846-EAB3-403A-6CFB-8DC0144135E8}"/>
              </a:ext>
            </a:extLst>
          </p:cNvPr>
          <p:cNvSpPr txBox="1"/>
          <p:nvPr/>
        </p:nvSpPr>
        <p:spPr>
          <a:xfrm>
            <a:off x="5189838" y="5250219"/>
            <a:ext cx="6882713" cy="1600438"/>
          </a:xfrm>
          <a:prstGeom prst="rect">
            <a:avLst/>
          </a:prstGeom>
          <a:noFill/>
        </p:spPr>
        <p:txBody>
          <a:bodyPr wrap="square" rtlCol="0">
            <a:spAutoFit/>
          </a:bodyPr>
          <a:lstStyle/>
          <a:p>
            <a:r>
              <a:rPr lang="en-US" sz="1400" b="1" dirty="0"/>
              <a:t>Fig. 3. </a:t>
            </a:r>
            <a:r>
              <a:rPr lang="en-US" sz="1400" dirty="0"/>
              <a:t>Collection locations of samples, separated by sampling replicate. Panel titles indicate the year and, for 2018 and 2019, whether collection took place primarily during day (D) or night (N) and the sampling replicate number. Circle colors indicate cluster assignment, and translucence indicates mean sampling depth of the respective net tow. “X”s indicate excluded net tow samples. Y-positions of symbols were offset by constant values such that symbols corresponding to shallower net tows are visible above those corresponding to deeper net tows.</a:t>
            </a:r>
          </a:p>
        </p:txBody>
      </p:sp>
    </p:spTree>
    <p:extLst>
      <p:ext uri="{BB962C8B-B14F-4D97-AF65-F5344CB8AC3E}">
        <p14:creationId xmlns:p14="http://schemas.microsoft.com/office/powerpoint/2010/main" val="1943530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90784-4E31-B4BA-6288-7565D689B707}"/>
              </a:ext>
            </a:extLst>
          </p:cNvPr>
          <p:cNvSpPr>
            <a:spLocks noGrp="1"/>
          </p:cNvSpPr>
          <p:nvPr>
            <p:ph type="title"/>
          </p:nvPr>
        </p:nvSpPr>
        <p:spPr/>
        <p:txBody>
          <a:bodyPr>
            <a:normAutofit/>
          </a:bodyPr>
          <a:lstStyle/>
          <a:p>
            <a:r>
              <a:rPr lang="en-US" sz="3600" dirty="0"/>
              <a:t>Cluster and spatiotemporal associations</a:t>
            </a:r>
          </a:p>
        </p:txBody>
      </p:sp>
      <p:pic>
        <p:nvPicPr>
          <p:cNvPr id="6" name="Content Placeholder 5">
            <a:extLst>
              <a:ext uri="{FF2B5EF4-FFF2-40B4-BE49-F238E27FC236}">
                <a16:creationId xmlns:a16="http://schemas.microsoft.com/office/drawing/2014/main" id="{E6ACD0E2-2EDA-CF18-E260-4946C01052E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772025" y="457200"/>
            <a:ext cx="7292513" cy="5208938"/>
          </a:xfrm>
          <a:prstGeom prst="rect">
            <a:avLst/>
          </a:prstGeom>
        </p:spPr>
      </p:pic>
      <p:sp>
        <p:nvSpPr>
          <p:cNvPr id="4" name="Text Placeholder 3">
            <a:extLst>
              <a:ext uri="{FF2B5EF4-FFF2-40B4-BE49-F238E27FC236}">
                <a16:creationId xmlns:a16="http://schemas.microsoft.com/office/drawing/2014/main" id="{0C3037D3-DC72-1D3C-6545-78096BDDC362}"/>
              </a:ext>
            </a:extLst>
          </p:cNvPr>
          <p:cNvSpPr>
            <a:spLocks noGrp="1"/>
          </p:cNvSpPr>
          <p:nvPr>
            <p:ph type="body" sz="half" idx="2"/>
          </p:nvPr>
        </p:nvSpPr>
        <p:spPr>
          <a:xfrm>
            <a:off x="605482" y="2057400"/>
            <a:ext cx="4166544" cy="3811588"/>
          </a:xfrm>
        </p:spPr>
        <p:txBody>
          <a:bodyPr>
            <a:normAutofit/>
          </a:bodyPr>
          <a:lstStyle/>
          <a:p>
            <a:pPr marL="342900" indent="-342900">
              <a:buFont typeface="Arial" panose="020B0604020202020204" pitchFamily="34" charset="0"/>
              <a:buChar char="•"/>
            </a:pPr>
            <a:r>
              <a:rPr lang="en-US" sz="2400" dirty="0"/>
              <a:t>Text outline of major take aways</a:t>
            </a:r>
          </a:p>
        </p:txBody>
      </p:sp>
      <p:sp>
        <p:nvSpPr>
          <p:cNvPr id="5" name="TextBox 4">
            <a:extLst>
              <a:ext uri="{FF2B5EF4-FFF2-40B4-BE49-F238E27FC236}">
                <a16:creationId xmlns:a16="http://schemas.microsoft.com/office/drawing/2014/main" id="{8CD07FE8-27D1-06D1-143F-8C60B2B79419}"/>
              </a:ext>
            </a:extLst>
          </p:cNvPr>
          <p:cNvSpPr txBox="1"/>
          <p:nvPr/>
        </p:nvSpPr>
        <p:spPr>
          <a:xfrm>
            <a:off x="5183659" y="5666138"/>
            <a:ext cx="6880879" cy="954107"/>
          </a:xfrm>
          <a:prstGeom prst="rect">
            <a:avLst/>
          </a:prstGeom>
          <a:noFill/>
        </p:spPr>
        <p:txBody>
          <a:bodyPr wrap="square">
            <a:spAutoFit/>
          </a:bodyPr>
          <a:lstStyle/>
          <a:p>
            <a:r>
              <a:rPr lang="en-US" sz="1400" b="1" dirty="0"/>
              <a:t>Fig. 4. </a:t>
            </a:r>
            <a:r>
              <a:rPr lang="en-US" sz="14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spTree>
    <p:extLst>
      <p:ext uri="{BB962C8B-B14F-4D97-AF65-F5344CB8AC3E}">
        <p14:creationId xmlns:p14="http://schemas.microsoft.com/office/powerpoint/2010/main" val="224668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A7BD2-3123-DBC7-0364-6D50EC9EC777}"/>
              </a:ext>
            </a:extLst>
          </p:cNvPr>
          <p:cNvSpPr>
            <a:spLocks noGrp="1"/>
          </p:cNvSpPr>
          <p:nvPr>
            <p:ph type="title"/>
          </p:nvPr>
        </p:nvSpPr>
        <p:spPr/>
        <p:txBody>
          <a:bodyPr>
            <a:normAutofit/>
          </a:bodyPr>
          <a:lstStyle/>
          <a:p>
            <a:r>
              <a:rPr lang="en-US" sz="3600" dirty="0"/>
              <a:t>Db-RDA and VPA</a:t>
            </a:r>
          </a:p>
        </p:txBody>
      </p:sp>
      <p:sp>
        <p:nvSpPr>
          <p:cNvPr id="3" name="Content Placeholder 2">
            <a:extLst>
              <a:ext uri="{FF2B5EF4-FFF2-40B4-BE49-F238E27FC236}">
                <a16:creationId xmlns:a16="http://schemas.microsoft.com/office/drawing/2014/main" id="{49C733D4-541E-6B5C-3F35-44B27BE9E251}"/>
              </a:ext>
            </a:extLst>
          </p:cNvPr>
          <p:cNvSpPr>
            <a:spLocks noGrp="1"/>
          </p:cNvSpPr>
          <p:nvPr>
            <p:ph idx="1"/>
          </p:nvPr>
        </p:nvSpPr>
        <p:spPr/>
        <p:txBody>
          <a:bodyPr>
            <a:normAutofit/>
          </a:bodyPr>
          <a:lstStyle/>
          <a:p>
            <a:r>
              <a:rPr lang="en-US" sz="2400" dirty="0"/>
              <a:t>Text outline of results (include p-values?)</a:t>
            </a:r>
          </a:p>
        </p:txBody>
      </p:sp>
    </p:spTree>
    <p:extLst>
      <p:ext uri="{BB962C8B-B14F-4D97-AF65-F5344CB8AC3E}">
        <p14:creationId xmlns:p14="http://schemas.microsoft.com/office/powerpoint/2010/main" val="2453236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C43C86-2320-5407-CAF1-6355534B70FE}"/>
              </a:ext>
            </a:extLst>
          </p:cNvPr>
          <p:cNvSpPr>
            <a:spLocks noGrp="1"/>
          </p:cNvSpPr>
          <p:nvPr>
            <p:ph type="title"/>
          </p:nvPr>
        </p:nvSpPr>
        <p:spPr>
          <a:xfrm>
            <a:off x="839788" y="457200"/>
            <a:ext cx="3932237" cy="1136822"/>
          </a:xfrm>
        </p:spPr>
        <p:txBody>
          <a:bodyPr>
            <a:normAutofit/>
          </a:bodyPr>
          <a:lstStyle/>
          <a:p>
            <a:r>
              <a:rPr lang="en-US" sz="3600" dirty="0"/>
              <a:t>ANOVA of variables and model</a:t>
            </a:r>
          </a:p>
        </p:txBody>
      </p:sp>
      <p:pic>
        <p:nvPicPr>
          <p:cNvPr id="6" name="Content Placeholder 5">
            <a:extLst>
              <a:ext uri="{FF2B5EF4-FFF2-40B4-BE49-F238E27FC236}">
                <a16:creationId xmlns:a16="http://schemas.microsoft.com/office/drawing/2014/main" id="{B3DB197F-6F82-7DF2-2642-58D76DF429E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720281" y="452069"/>
            <a:ext cx="7327557" cy="5233969"/>
          </a:xfrm>
          <a:prstGeom prst="rect">
            <a:avLst/>
          </a:prstGeom>
        </p:spPr>
      </p:pic>
      <p:sp>
        <p:nvSpPr>
          <p:cNvPr id="4" name="Text Placeholder 3">
            <a:extLst>
              <a:ext uri="{FF2B5EF4-FFF2-40B4-BE49-F238E27FC236}">
                <a16:creationId xmlns:a16="http://schemas.microsoft.com/office/drawing/2014/main" id="{A65B3CFA-97A3-E307-EA19-4875A5B6B52F}"/>
              </a:ext>
            </a:extLst>
          </p:cNvPr>
          <p:cNvSpPr>
            <a:spLocks noGrp="1"/>
          </p:cNvSpPr>
          <p:nvPr>
            <p:ph type="body" sz="half" idx="2"/>
          </p:nvPr>
        </p:nvSpPr>
        <p:spPr>
          <a:xfrm>
            <a:off x="617838" y="1594022"/>
            <a:ext cx="4154187" cy="4274966"/>
          </a:xfrm>
        </p:spPr>
        <p:txBody>
          <a:bodyPr>
            <a:normAutofit/>
          </a:bodyPr>
          <a:lstStyle/>
          <a:p>
            <a:pPr marL="342900" indent="-342900">
              <a:buFont typeface="Arial" panose="020B0604020202020204" pitchFamily="34" charset="0"/>
              <a:buChar char="•"/>
            </a:pPr>
            <a:r>
              <a:rPr lang="en-US" sz="2400" dirty="0"/>
              <a:t>Mention ANOVA result – all covariates found to have significant effects on full </a:t>
            </a:r>
            <a:r>
              <a:rPr lang="en-US" sz="2400" dirty="0" err="1"/>
              <a:t>dbRDA</a:t>
            </a:r>
            <a:r>
              <a:rPr lang="en-US" sz="2400" dirty="0"/>
              <a:t> model</a:t>
            </a:r>
          </a:p>
          <a:p>
            <a:pPr marL="342900" indent="-342900">
              <a:buFont typeface="Arial" panose="020B0604020202020204" pitchFamily="34" charset="0"/>
              <a:buChar char="•"/>
            </a:pPr>
            <a:r>
              <a:rPr lang="en-US" sz="2400" dirty="0"/>
              <a:t>Outline major relationships</a:t>
            </a:r>
          </a:p>
        </p:txBody>
      </p:sp>
      <p:sp>
        <p:nvSpPr>
          <p:cNvPr id="5" name="TextBox 4">
            <a:extLst>
              <a:ext uri="{FF2B5EF4-FFF2-40B4-BE49-F238E27FC236}">
                <a16:creationId xmlns:a16="http://schemas.microsoft.com/office/drawing/2014/main" id="{81F8C198-9971-89B5-9F13-14847DF39FF1}"/>
              </a:ext>
            </a:extLst>
          </p:cNvPr>
          <p:cNvSpPr txBox="1"/>
          <p:nvPr/>
        </p:nvSpPr>
        <p:spPr>
          <a:xfrm>
            <a:off x="5189838" y="5686038"/>
            <a:ext cx="6858000" cy="954107"/>
          </a:xfrm>
          <a:prstGeom prst="rect">
            <a:avLst/>
          </a:prstGeom>
          <a:noFill/>
        </p:spPr>
        <p:txBody>
          <a:bodyPr wrap="square">
            <a:spAutoFit/>
          </a:bodyPr>
          <a:lstStyle/>
          <a:p>
            <a:r>
              <a:rPr lang="en-US" sz="1400" b="1" dirty="0"/>
              <a:t>Fig. 5.</a:t>
            </a:r>
            <a:r>
              <a:rPr lang="en-US" sz="1400" dirty="0"/>
              <a:t> </a:t>
            </a:r>
            <a:r>
              <a:rPr lang="en-US" sz="1400" dirty="0" err="1"/>
              <a:t>dbRDA</a:t>
            </a:r>
            <a:r>
              <a:rPr lang="en-US" sz="14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spTree>
    <p:extLst>
      <p:ext uri="{BB962C8B-B14F-4D97-AF65-F5344CB8AC3E}">
        <p14:creationId xmlns:p14="http://schemas.microsoft.com/office/powerpoint/2010/main" val="4112956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831A5-9696-3FEE-4075-861C1F148C75}"/>
              </a:ext>
            </a:extLst>
          </p:cNvPr>
          <p:cNvSpPr>
            <a:spLocks noGrp="1"/>
          </p:cNvSpPr>
          <p:nvPr>
            <p:ph type="title"/>
          </p:nvPr>
        </p:nvSpPr>
        <p:spPr/>
        <p:txBody>
          <a:bodyPr>
            <a:normAutofit/>
          </a:bodyPr>
          <a:lstStyle/>
          <a:p>
            <a:r>
              <a:rPr lang="en-US" sz="3600" dirty="0"/>
              <a:t>Negative binomial GLMM </a:t>
            </a:r>
          </a:p>
        </p:txBody>
      </p:sp>
      <p:sp>
        <p:nvSpPr>
          <p:cNvPr id="3" name="Content Placeholder 2">
            <a:extLst>
              <a:ext uri="{FF2B5EF4-FFF2-40B4-BE49-F238E27FC236}">
                <a16:creationId xmlns:a16="http://schemas.microsoft.com/office/drawing/2014/main" id="{926C3FF1-4D3A-ED79-D13C-D662D0DD7179}"/>
              </a:ext>
            </a:extLst>
          </p:cNvPr>
          <p:cNvSpPr>
            <a:spLocks noGrp="1"/>
          </p:cNvSpPr>
          <p:nvPr>
            <p:ph idx="1"/>
          </p:nvPr>
        </p:nvSpPr>
        <p:spPr/>
        <p:txBody>
          <a:bodyPr>
            <a:normAutofit/>
          </a:bodyPr>
          <a:lstStyle/>
          <a:p>
            <a:r>
              <a:rPr lang="en-US" sz="2400" dirty="0"/>
              <a:t>Not sure we’ll want this slide??</a:t>
            </a:r>
          </a:p>
          <a:p>
            <a:r>
              <a:rPr lang="en-US" sz="2400" dirty="0"/>
              <a:t>Discuss </a:t>
            </a:r>
            <a:r>
              <a:rPr lang="en-US" sz="2400" dirty="0" err="1"/>
              <a:t>glmm</a:t>
            </a:r>
            <a:r>
              <a:rPr lang="en-US" sz="2400" dirty="0"/>
              <a:t> and variables included. Perhaps include the representative equation?</a:t>
            </a:r>
          </a:p>
          <a:p>
            <a:r>
              <a:rPr lang="en-US" sz="2400" dirty="0"/>
              <a:t>Text outline of table S1? </a:t>
            </a:r>
          </a:p>
        </p:txBody>
      </p:sp>
    </p:spTree>
    <p:extLst>
      <p:ext uri="{BB962C8B-B14F-4D97-AF65-F5344CB8AC3E}">
        <p14:creationId xmlns:p14="http://schemas.microsoft.com/office/powerpoint/2010/main" val="472974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E7433-7DF1-200A-8EB3-7C0C771F440E}"/>
              </a:ext>
            </a:extLst>
          </p:cNvPr>
          <p:cNvSpPr>
            <a:spLocks noGrp="1"/>
          </p:cNvSpPr>
          <p:nvPr>
            <p:ph type="title"/>
          </p:nvPr>
        </p:nvSpPr>
        <p:spPr>
          <a:xfrm>
            <a:off x="839788" y="457200"/>
            <a:ext cx="3932237" cy="1112108"/>
          </a:xfrm>
        </p:spPr>
        <p:txBody>
          <a:bodyPr>
            <a:normAutofit/>
          </a:bodyPr>
          <a:lstStyle/>
          <a:p>
            <a:r>
              <a:rPr lang="en-US" sz="3600" dirty="0"/>
              <a:t>Taxon-specific vertical distributions</a:t>
            </a:r>
          </a:p>
        </p:txBody>
      </p:sp>
      <p:pic>
        <p:nvPicPr>
          <p:cNvPr id="8" name="Content Placeholder 7">
            <a:extLst>
              <a:ext uri="{FF2B5EF4-FFF2-40B4-BE49-F238E27FC236}">
                <a16:creationId xmlns:a16="http://schemas.microsoft.com/office/drawing/2014/main" id="{F8001FFA-52C8-165C-EE14-74563850B93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772025" y="1022566"/>
            <a:ext cx="7269633" cy="4846422"/>
          </a:xfrm>
          <a:prstGeom prst="rect">
            <a:avLst/>
          </a:prstGeom>
        </p:spPr>
      </p:pic>
      <p:sp>
        <p:nvSpPr>
          <p:cNvPr id="4" name="Text Placeholder 3">
            <a:extLst>
              <a:ext uri="{FF2B5EF4-FFF2-40B4-BE49-F238E27FC236}">
                <a16:creationId xmlns:a16="http://schemas.microsoft.com/office/drawing/2014/main" id="{CB36568B-212A-6B83-84AC-0AF746A6D091}"/>
              </a:ext>
            </a:extLst>
          </p:cNvPr>
          <p:cNvSpPr>
            <a:spLocks noGrp="1"/>
          </p:cNvSpPr>
          <p:nvPr>
            <p:ph type="body" sz="half" idx="2"/>
          </p:nvPr>
        </p:nvSpPr>
        <p:spPr>
          <a:xfrm>
            <a:off x="617838" y="1569308"/>
            <a:ext cx="4154187" cy="4299680"/>
          </a:xfrm>
        </p:spPr>
        <p:txBody>
          <a:bodyPr>
            <a:normAutofit/>
          </a:bodyPr>
          <a:lstStyle/>
          <a:p>
            <a:pPr marL="342900" indent="-342900">
              <a:buFont typeface="Arial" panose="020B0604020202020204" pitchFamily="34" charset="0"/>
              <a:buChar char="•"/>
            </a:pPr>
            <a:r>
              <a:rPr lang="en-US" sz="2400" dirty="0"/>
              <a:t>Outline patterns in predicted greatest abundance with depth and time of day</a:t>
            </a:r>
          </a:p>
        </p:txBody>
      </p:sp>
      <p:sp>
        <p:nvSpPr>
          <p:cNvPr id="5" name="TextBox 4">
            <a:extLst>
              <a:ext uri="{FF2B5EF4-FFF2-40B4-BE49-F238E27FC236}">
                <a16:creationId xmlns:a16="http://schemas.microsoft.com/office/drawing/2014/main" id="{041FBEE7-96D3-6970-1BE4-EE162EE79E56}"/>
              </a:ext>
            </a:extLst>
          </p:cNvPr>
          <p:cNvSpPr txBox="1"/>
          <p:nvPr/>
        </p:nvSpPr>
        <p:spPr>
          <a:xfrm>
            <a:off x="5183660" y="5868988"/>
            <a:ext cx="6857998" cy="523220"/>
          </a:xfrm>
          <a:prstGeom prst="rect">
            <a:avLst/>
          </a:prstGeom>
          <a:noFill/>
        </p:spPr>
        <p:txBody>
          <a:bodyPr wrap="square">
            <a:spAutoFit/>
          </a:bodyPr>
          <a:lstStyle/>
          <a:p>
            <a:r>
              <a:rPr lang="en-US" sz="1400" b="1" dirty="0"/>
              <a:t>Fig. 6. </a:t>
            </a:r>
            <a:r>
              <a:rPr lang="en-US" sz="1400" dirty="0"/>
              <a:t>Surfaces showing abundance of each taxon predicted from GLMM, normalized to the highest predicted abundance of each taxon, at combinations of depth and time of day.</a:t>
            </a:r>
          </a:p>
        </p:txBody>
      </p:sp>
    </p:spTree>
    <p:extLst>
      <p:ext uri="{BB962C8B-B14F-4D97-AF65-F5344CB8AC3E}">
        <p14:creationId xmlns:p14="http://schemas.microsoft.com/office/powerpoint/2010/main" val="207086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880A9-FE8B-682F-04A0-64EC9B050350}"/>
              </a:ext>
            </a:extLst>
          </p:cNvPr>
          <p:cNvSpPr>
            <a:spLocks noGrp="1"/>
          </p:cNvSpPr>
          <p:nvPr>
            <p:ph type="title"/>
          </p:nvPr>
        </p:nvSpPr>
        <p:spPr>
          <a:xfrm>
            <a:off x="839788" y="365125"/>
            <a:ext cx="10515600" cy="594583"/>
          </a:xfrm>
        </p:spPr>
        <p:txBody>
          <a:bodyPr>
            <a:normAutofit/>
          </a:bodyPr>
          <a:lstStyle/>
          <a:p>
            <a:r>
              <a:rPr lang="en-US" sz="3600" dirty="0"/>
              <a:t>Time of day effects…</a:t>
            </a:r>
          </a:p>
        </p:txBody>
      </p:sp>
      <p:sp>
        <p:nvSpPr>
          <p:cNvPr id="4" name="Text Placeholder 3">
            <a:extLst>
              <a:ext uri="{FF2B5EF4-FFF2-40B4-BE49-F238E27FC236}">
                <a16:creationId xmlns:a16="http://schemas.microsoft.com/office/drawing/2014/main" id="{BAA0FB04-7C7E-0BE2-7716-F129655F1996}"/>
              </a:ext>
            </a:extLst>
          </p:cNvPr>
          <p:cNvSpPr>
            <a:spLocks noGrp="1"/>
          </p:cNvSpPr>
          <p:nvPr>
            <p:ph type="body" idx="1"/>
          </p:nvPr>
        </p:nvSpPr>
        <p:spPr>
          <a:xfrm>
            <a:off x="611425" y="1216518"/>
            <a:ext cx="5386149" cy="823912"/>
          </a:xfrm>
        </p:spPr>
        <p:txBody>
          <a:bodyPr>
            <a:noAutofit/>
          </a:bodyPr>
          <a:lstStyle/>
          <a:p>
            <a:pPr algn="ctr"/>
            <a:r>
              <a:rPr lang="en-US" sz="2800" dirty="0"/>
              <a:t>On total predicted abundance across depths</a:t>
            </a:r>
          </a:p>
        </p:txBody>
      </p:sp>
      <p:pic>
        <p:nvPicPr>
          <p:cNvPr id="12" name="Content Placeholder 11">
            <a:extLst>
              <a:ext uri="{FF2B5EF4-FFF2-40B4-BE49-F238E27FC236}">
                <a16:creationId xmlns:a16="http://schemas.microsoft.com/office/drawing/2014/main" id="{5ABB8983-0683-D13F-175D-C473189E039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83605" y="2308715"/>
            <a:ext cx="5041790" cy="3361194"/>
          </a:xfrm>
          <a:prstGeom prst="rect">
            <a:avLst/>
          </a:prstGeom>
        </p:spPr>
      </p:pic>
      <p:sp>
        <p:nvSpPr>
          <p:cNvPr id="6" name="Text Placeholder 5">
            <a:extLst>
              <a:ext uri="{FF2B5EF4-FFF2-40B4-BE49-F238E27FC236}">
                <a16:creationId xmlns:a16="http://schemas.microsoft.com/office/drawing/2014/main" id="{BD9729AB-8830-5169-29F1-9AF4A7E40CF3}"/>
              </a:ext>
            </a:extLst>
          </p:cNvPr>
          <p:cNvSpPr>
            <a:spLocks noGrp="1"/>
          </p:cNvSpPr>
          <p:nvPr>
            <p:ph type="body" sz="quarter" idx="3"/>
          </p:nvPr>
        </p:nvSpPr>
        <p:spPr>
          <a:xfrm>
            <a:off x="6199833" y="1216518"/>
            <a:ext cx="5408374" cy="823912"/>
          </a:xfrm>
        </p:spPr>
        <p:txBody>
          <a:bodyPr>
            <a:noAutofit/>
          </a:bodyPr>
          <a:lstStyle/>
          <a:p>
            <a:pPr algn="ctr"/>
            <a:r>
              <a:rPr lang="en-US" sz="2800" dirty="0"/>
              <a:t>On depth-abundance gradients (slope)</a:t>
            </a:r>
          </a:p>
        </p:txBody>
      </p:sp>
      <p:pic>
        <p:nvPicPr>
          <p:cNvPr id="16" name="Content Placeholder 15">
            <a:extLst>
              <a:ext uri="{FF2B5EF4-FFF2-40B4-BE49-F238E27FC236}">
                <a16:creationId xmlns:a16="http://schemas.microsoft.com/office/drawing/2014/main" id="{F76E13C5-239B-1EAF-C82C-8F1713005E00}"/>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6366607" y="2308715"/>
            <a:ext cx="5074826" cy="3361187"/>
          </a:xfrm>
          <a:prstGeom prst="rect">
            <a:avLst/>
          </a:prstGeom>
        </p:spPr>
      </p:pic>
      <p:cxnSp>
        <p:nvCxnSpPr>
          <p:cNvPr id="8" name="Straight Connector 7">
            <a:extLst>
              <a:ext uri="{FF2B5EF4-FFF2-40B4-BE49-F238E27FC236}">
                <a16:creationId xmlns:a16="http://schemas.microsoft.com/office/drawing/2014/main" id="{7ED14631-9637-2EF5-5798-5C75B3A628D9}"/>
              </a:ext>
            </a:extLst>
          </p:cNvPr>
          <p:cNvCxnSpPr>
            <a:cxnSpLocks/>
          </p:cNvCxnSpPr>
          <p:nvPr/>
        </p:nvCxnSpPr>
        <p:spPr>
          <a:xfrm>
            <a:off x="783605" y="2080332"/>
            <a:ext cx="5085854" cy="0"/>
          </a:xfrm>
          <a:prstGeom prst="line">
            <a:avLst/>
          </a:prstGeom>
        </p:spPr>
        <p:style>
          <a:lnRef idx="2">
            <a:schemeClr val="dk1"/>
          </a:lnRef>
          <a:fillRef idx="0">
            <a:schemeClr val="dk1"/>
          </a:fillRef>
          <a:effectRef idx="1">
            <a:schemeClr val="dk1"/>
          </a:effectRef>
          <a:fontRef idx="minor">
            <a:schemeClr val="tx1"/>
          </a:fontRef>
        </p:style>
      </p:cxnSp>
      <p:sp>
        <p:nvSpPr>
          <p:cNvPr id="14" name="TextBox 13">
            <a:extLst>
              <a:ext uri="{FF2B5EF4-FFF2-40B4-BE49-F238E27FC236}">
                <a16:creationId xmlns:a16="http://schemas.microsoft.com/office/drawing/2014/main" id="{EB3FF90F-C69E-92AE-8B64-A6A3F6312869}"/>
              </a:ext>
            </a:extLst>
          </p:cNvPr>
          <p:cNvSpPr txBox="1"/>
          <p:nvPr/>
        </p:nvSpPr>
        <p:spPr>
          <a:xfrm>
            <a:off x="633652" y="5898291"/>
            <a:ext cx="5386149" cy="523220"/>
          </a:xfrm>
          <a:prstGeom prst="rect">
            <a:avLst/>
          </a:prstGeom>
          <a:noFill/>
        </p:spPr>
        <p:txBody>
          <a:bodyPr wrap="square">
            <a:spAutoFit/>
          </a:bodyPr>
          <a:lstStyle/>
          <a:p>
            <a:r>
              <a:rPr lang="en-US" sz="1400" b="1" dirty="0"/>
              <a:t>Fig. 7. </a:t>
            </a:r>
            <a:r>
              <a:rPr lang="en-US" sz="1400" dirty="0"/>
              <a:t>Total predicted count in the top 100 m of the water column of each taxon predicted by GLMM vs. time of day.</a:t>
            </a:r>
          </a:p>
        </p:txBody>
      </p:sp>
      <p:sp>
        <p:nvSpPr>
          <p:cNvPr id="18" name="TextBox 17">
            <a:extLst>
              <a:ext uri="{FF2B5EF4-FFF2-40B4-BE49-F238E27FC236}">
                <a16:creationId xmlns:a16="http://schemas.microsoft.com/office/drawing/2014/main" id="{E3C2233D-1FF6-EF74-AEC9-52418FE21892}"/>
              </a:ext>
            </a:extLst>
          </p:cNvPr>
          <p:cNvSpPr txBox="1"/>
          <p:nvPr/>
        </p:nvSpPr>
        <p:spPr>
          <a:xfrm>
            <a:off x="6199833" y="5898291"/>
            <a:ext cx="5408374" cy="523220"/>
          </a:xfrm>
          <a:prstGeom prst="rect">
            <a:avLst/>
          </a:prstGeom>
          <a:noFill/>
        </p:spPr>
        <p:txBody>
          <a:bodyPr wrap="square">
            <a:spAutoFit/>
          </a:bodyPr>
          <a:lstStyle/>
          <a:p>
            <a:r>
              <a:rPr lang="en-US" sz="1400" b="1" dirty="0"/>
              <a:t>Fig. 8. </a:t>
            </a:r>
            <a:r>
              <a:rPr lang="en-US" sz="1400" dirty="0"/>
              <a:t>Taxon-specific relationships between the slope of the effect of depth on abundance and time of day predicted from GLMM.</a:t>
            </a:r>
          </a:p>
        </p:txBody>
      </p:sp>
      <p:cxnSp>
        <p:nvCxnSpPr>
          <p:cNvPr id="9" name="Straight Connector 8">
            <a:extLst>
              <a:ext uri="{FF2B5EF4-FFF2-40B4-BE49-F238E27FC236}">
                <a16:creationId xmlns:a16="http://schemas.microsoft.com/office/drawing/2014/main" id="{42263333-F232-33A6-6ED3-2A4846A1DB19}"/>
              </a:ext>
            </a:extLst>
          </p:cNvPr>
          <p:cNvCxnSpPr>
            <a:cxnSpLocks/>
          </p:cNvCxnSpPr>
          <p:nvPr/>
        </p:nvCxnSpPr>
        <p:spPr>
          <a:xfrm>
            <a:off x="6355579" y="2080332"/>
            <a:ext cx="5085854" cy="0"/>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5336884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B3A85-FF15-2E24-EA6C-ADE5E4905FFA}"/>
              </a:ext>
            </a:extLst>
          </p:cNvPr>
          <p:cNvSpPr>
            <a:spLocks noGrp="1"/>
          </p:cNvSpPr>
          <p:nvPr>
            <p:ph type="title"/>
          </p:nvPr>
        </p:nvSpPr>
        <p:spPr/>
        <p:txBody>
          <a:bodyPr/>
          <a:lstStyle/>
          <a:p>
            <a:r>
              <a:rPr lang="en-US" dirty="0"/>
              <a:t>Conclusions</a:t>
            </a:r>
          </a:p>
        </p:txBody>
      </p:sp>
      <p:sp>
        <p:nvSpPr>
          <p:cNvPr id="3" name="Content Placeholder 2">
            <a:extLst>
              <a:ext uri="{FF2B5EF4-FFF2-40B4-BE49-F238E27FC236}">
                <a16:creationId xmlns:a16="http://schemas.microsoft.com/office/drawing/2014/main" id="{83096D75-D04D-1D5E-BAB4-CA4D9F65201A}"/>
              </a:ext>
            </a:extLst>
          </p:cNvPr>
          <p:cNvSpPr>
            <a:spLocks noGrp="1"/>
          </p:cNvSpPr>
          <p:nvPr>
            <p:ph idx="1"/>
          </p:nvPr>
        </p:nvSpPr>
        <p:spPr/>
        <p:txBody>
          <a:bodyPr>
            <a:normAutofit/>
          </a:bodyPr>
          <a:lstStyle/>
          <a:p>
            <a:r>
              <a:rPr lang="en-US" sz="2400" dirty="0"/>
              <a:t>Overview most important take aways</a:t>
            </a:r>
          </a:p>
        </p:txBody>
      </p:sp>
    </p:spTree>
    <p:extLst>
      <p:ext uri="{BB962C8B-B14F-4D97-AF65-F5344CB8AC3E}">
        <p14:creationId xmlns:p14="http://schemas.microsoft.com/office/powerpoint/2010/main" val="39614573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E2660-CCAF-C324-AEDC-DAB568204B99}"/>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885418ED-A63B-953F-40F8-8E5E3218F568}"/>
              </a:ext>
            </a:extLst>
          </p:cNvPr>
          <p:cNvSpPr>
            <a:spLocks noGrp="1"/>
          </p:cNvSpPr>
          <p:nvPr>
            <p:ph idx="1"/>
          </p:nvPr>
        </p:nvSpPr>
        <p:spPr/>
        <p:txBody>
          <a:bodyPr>
            <a:normAutofit/>
          </a:bodyPr>
          <a:lstStyle/>
          <a:p>
            <a:r>
              <a:rPr lang="en-US" sz="2400" dirty="0"/>
              <a:t>Add citations for any papers referenced in the previous slides (or do we include all that were in the paper?)</a:t>
            </a:r>
          </a:p>
        </p:txBody>
      </p:sp>
    </p:spTree>
    <p:extLst>
      <p:ext uri="{BB962C8B-B14F-4D97-AF65-F5344CB8AC3E}">
        <p14:creationId xmlns:p14="http://schemas.microsoft.com/office/powerpoint/2010/main" val="38283473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7F310-40D4-FD3B-A2A4-D56B260073C2}"/>
              </a:ext>
            </a:extLst>
          </p:cNvPr>
          <p:cNvSpPr>
            <a:spLocks noGrp="1"/>
          </p:cNvSpPr>
          <p:nvPr>
            <p:ph type="title"/>
          </p:nvPr>
        </p:nvSpPr>
        <p:spPr/>
        <p:txBody>
          <a:bodyPr/>
          <a:lstStyle/>
          <a:p>
            <a:r>
              <a:rPr lang="en-US" dirty="0"/>
              <a:t>Thank you, Acknowledgements, and Questions</a:t>
            </a:r>
          </a:p>
        </p:txBody>
      </p:sp>
      <p:sp>
        <p:nvSpPr>
          <p:cNvPr id="3" name="Content Placeholder 2">
            <a:extLst>
              <a:ext uri="{FF2B5EF4-FFF2-40B4-BE49-F238E27FC236}">
                <a16:creationId xmlns:a16="http://schemas.microsoft.com/office/drawing/2014/main" id="{23DF3627-5C92-71DA-60C2-2A0207BA5B8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771388592"/>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1897</TotalTime>
  <Words>2941</Words>
  <Application>Microsoft Office PowerPoint</Application>
  <PresentationFormat>Widescreen</PresentationFormat>
  <Paragraphs>184</Paragraphs>
  <Slides>20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Arial</vt:lpstr>
      <vt:lpstr>Calibri</vt:lpstr>
      <vt:lpstr>Calibri Light</vt:lpstr>
      <vt:lpstr>Office 2013 - 2022 Theme</vt:lpstr>
      <vt:lpstr>Environmental and spatiotemporal influences on winter ichthyoplankton assemblages of the northern California Current Ecosystem</vt:lpstr>
      <vt:lpstr>Outline</vt:lpstr>
      <vt:lpstr>Introduction and Background</vt:lpstr>
      <vt:lpstr>Study area – northern California Current ecosystem</vt:lpstr>
      <vt:lpstr>State of LFC knowledge in the NCC</vt:lpstr>
      <vt:lpstr>Sampling and Analysis Methods</vt:lpstr>
      <vt:lpstr>Sampling and data collection</vt:lpstr>
      <vt:lpstr>Data Analyses</vt:lpstr>
      <vt:lpstr>Results and Discussion</vt:lpstr>
      <vt:lpstr>Cluster composition</vt:lpstr>
      <vt:lpstr>Cluster Distribution</vt:lpstr>
      <vt:lpstr>Cluster and spatiotemporal associations</vt:lpstr>
      <vt:lpstr>Db-RDA and VPA</vt:lpstr>
      <vt:lpstr>ANOVA of variables and model</vt:lpstr>
      <vt:lpstr>Negative binomial GLMM </vt:lpstr>
      <vt:lpstr>Taxon-specific vertical distributions</vt:lpstr>
      <vt:lpstr>Time of day effects…</vt:lpstr>
      <vt:lpstr>Conclusions</vt:lpstr>
      <vt:lpstr>References</vt:lpstr>
      <vt:lpstr>Thank you, Acknowledgements, and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2026-09-28T21:43:59Z</dcterms:created>
  <dcterms:modified xsi:type="dcterms:W3CDTF">2026-10-01T19:04:02Z</dcterms:modified>
</cp:coreProperties>
</file>