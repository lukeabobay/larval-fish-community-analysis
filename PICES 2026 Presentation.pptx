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63" r:id="rId3"/>
    <p:sldId id="289" r:id="rId4"/>
    <p:sldId id="259" r:id="rId5"/>
    <p:sldId id="290" r:id="rId6"/>
    <p:sldId id="277" r:id="rId7"/>
    <p:sldId id="264" r:id="rId8"/>
    <p:sldId id="291" r:id="rId9"/>
    <p:sldId id="262" r:id="rId10"/>
    <p:sldId id="265" r:id="rId11"/>
    <p:sldId id="278" r:id="rId12"/>
    <p:sldId id="293" r:id="rId13"/>
    <p:sldId id="287" r:id="rId14"/>
    <p:sldId id="288" r:id="rId15"/>
    <p:sldId id="279" r:id="rId16"/>
    <p:sldId id="269" r:id="rId17"/>
    <p:sldId id="294" r:id="rId18"/>
    <p:sldId id="280" r:id="rId19"/>
    <p:sldId id="295" r:id="rId20"/>
    <p:sldId id="281" r:id="rId21"/>
    <p:sldId id="285" r:id="rId22"/>
    <p:sldId id="286" r:id="rId23"/>
    <p:sldId id="274" r:id="rId24"/>
    <p:sldId id="282" r:id="rId25"/>
    <p:sldId id="297" r:id="rId26"/>
    <p:sldId id="27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D40F21-D16F-913E-F6A3-417C7EBBEA4C}" name="McCloskey, Ross" initials="RM" userId="S::mccloskw@oregonstate.edu::b1990487-ee44-4922-b58f-5b2980a0273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7D29"/>
    <a:srgbClr val="E9DDC6"/>
    <a:srgbClr val="71AD2F"/>
    <a:srgbClr val="D9E9C7"/>
    <a:srgbClr val="E83992"/>
    <a:srgbClr val="F9C9E2"/>
    <a:srgbClr val="2BA681"/>
    <a:srgbClr val="C6E7DD"/>
    <a:srgbClr val="E7B115"/>
    <a:srgbClr val="E6AF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79952D-B28F-4DB6-B5D8-EB674AB8FC15}" v="6" dt="2026-10-12T20:51:00.0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55" autoAdjust="0"/>
    <p:restoredTop sz="79563" autoAdjust="0"/>
  </p:normalViewPr>
  <p:slideViewPr>
    <p:cSldViewPr snapToGrid="0">
      <p:cViewPr>
        <p:scale>
          <a:sx n="80" d="100"/>
          <a:sy n="80" d="100"/>
        </p:scale>
        <p:origin x="1356" y="2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5" d="100"/>
          <a:sy n="85" d="100"/>
        </p:scale>
        <p:origin x="3040" y="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cCloskey, Ross" userId="b1990487-ee44-4922-b58f-5b2980a02730" providerId="ADAL" clId="{7D443C21-FD7D-4E65-8C72-B41829F67170}"/>
    <pc:docChg chg="undo redo custSel addSld delSld modSld sldOrd modMainMaster addSection delSection modShowInfo">
      <pc:chgData name="McCloskey, Ross" userId="b1990487-ee44-4922-b58f-5b2980a02730" providerId="ADAL" clId="{7D443C21-FD7D-4E65-8C72-B41829F67170}" dt="2026-10-12T21:46:29.086" v="69403" actId="20577"/>
      <pc:docMkLst>
        <pc:docMk/>
      </pc:docMkLst>
      <pc:sldChg chg="modSp new mod modTransition modShow modNotesTx">
        <pc:chgData name="McCloskey, Ross" userId="b1990487-ee44-4922-b58f-5b2980a02730" providerId="ADAL" clId="{7D443C21-FD7D-4E65-8C72-B41829F67170}" dt="2026-10-11T19:16:08.397" v="69275" actId="20577"/>
        <pc:sldMkLst>
          <pc:docMk/>
          <pc:sldMk cId="3761486538" sldId="256"/>
        </pc:sldMkLst>
        <pc:spChg chg="mod">
          <ac:chgData name="McCloskey, Ross" userId="b1990487-ee44-4922-b58f-5b2980a02730" providerId="ADAL" clId="{7D443C21-FD7D-4E65-8C72-B41829F67170}" dt="2026-10-11T19:16:06.165" v="69273" actId="20577"/>
          <ac:spMkLst>
            <pc:docMk/>
            <pc:sldMk cId="3761486538" sldId="256"/>
            <ac:spMk id="2" creationId="{9414B15A-1BA8-FAE0-F178-B785304BAB9C}"/>
          </ac:spMkLst>
        </pc:spChg>
        <pc:spChg chg="mod">
          <ac:chgData name="McCloskey, Ross" userId="b1990487-ee44-4922-b58f-5b2980a02730" providerId="ADAL" clId="{7D443C21-FD7D-4E65-8C72-B41829F67170}" dt="2026-10-10T20:46:29.814" v="60469"/>
          <ac:spMkLst>
            <pc:docMk/>
            <pc:sldMk cId="3761486538" sldId="256"/>
            <ac:spMk id="3" creationId="{762E0F39-94FA-771E-FB61-BEBEF98967E4}"/>
          </ac:spMkLst>
        </pc:spChg>
      </pc:sldChg>
      <pc:sldChg chg="addSp delSp modSp new mod modTransition modClrScheme chgLayout modNotesTx">
        <pc:chgData name="McCloskey, Ross" userId="b1990487-ee44-4922-b58f-5b2980a02730" providerId="ADAL" clId="{7D443C21-FD7D-4E65-8C72-B41829F67170}" dt="2026-10-12T20:49:46.366" v="69321" actId="20577"/>
        <pc:sldMkLst>
          <pc:docMk/>
          <pc:sldMk cId="2055671180" sldId="259"/>
        </pc:sldMkLst>
        <pc:spChg chg="mod ord">
          <ac:chgData name="McCloskey, Ross" userId="b1990487-ee44-4922-b58f-5b2980a02730" providerId="ADAL" clId="{7D443C21-FD7D-4E65-8C72-B41829F67170}" dt="2026-10-12T20:49:26.970" v="69300" actId="20577"/>
          <ac:spMkLst>
            <pc:docMk/>
            <pc:sldMk cId="2055671180" sldId="259"/>
            <ac:spMk id="2" creationId="{1B7B1884-9909-6996-B1EF-F9DB304B33C9}"/>
          </ac:spMkLst>
        </pc:spChg>
        <pc:spChg chg="del mod ord">
          <ac:chgData name="McCloskey, Ross" userId="b1990487-ee44-4922-b58f-5b2980a02730" providerId="ADAL" clId="{7D443C21-FD7D-4E65-8C72-B41829F67170}" dt="2026-10-11T15:56:22.144" v="62370" actId="478"/>
          <ac:spMkLst>
            <pc:docMk/>
            <pc:sldMk cId="2055671180" sldId="259"/>
            <ac:spMk id="4" creationId="{BB902A2A-9B25-5B79-B90D-5A644898C111}"/>
          </ac:spMkLst>
        </pc:spChg>
        <pc:spChg chg="add mod">
          <ac:chgData name="McCloskey, Ross" userId="b1990487-ee44-4922-b58f-5b2980a02730" providerId="ADAL" clId="{7D443C21-FD7D-4E65-8C72-B41829F67170}" dt="2026-10-11T15:55:50.642" v="62363"/>
          <ac:spMkLst>
            <pc:docMk/>
            <pc:sldMk cId="2055671180" sldId="259"/>
            <ac:spMk id="8" creationId="{660CE08C-4018-A36B-9558-A55BF0DA360C}"/>
          </ac:spMkLst>
        </pc:spChg>
        <pc:spChg chg="add mod">
          <ac:chgData name="McCloskey, Ross" userId="b1990487-ee44-4922-b58f-5b2980a02730" providerId="ADAL" clId="{7D443C21-FD7D-4E65-8C72-B41829F67170}" dt="2026-10-12T20:49:46.366" v="69321" actId="20577"/>
          <ac:spMkLst>
            <pc:docMk/>
            <pc:sldMk cId="2055671180" sldId="259"/>
            <ac:spMk id="9" creationId="{BF0B4996-C155-D141-B46D-2B5DDE308CD7}"/>
          </ac:spMkLst>
        </pc:spChg>
        <pc:picChg chg="add del mod modCrop">
          <ac:chgData name="McCloskey, Ross" userId="b1990487-ee44-4922-b58f-5b2980a02730" providerId="ADAL" clId="{7D443C21-FD7D-4E65-8C72-B41829F67170}" dt="2026-10-11T15:55:23.979" v="62361" actId="478"/>
          <ac:picMkLst>
            <pc:docMk/>
            <pc:sldMk cId="2055671180" sldId="259"/>
            <ac:picMk id="7" creationId="{4865F132-E5EF-6900-8B05-07164E03337A}"/>
          </ac:picMkLst>
        </pc:picChg>
      </pc:sldChg>
      <pc:sldChg chg="addSp delSp modSp new mod modTransition modNotesTx">
        <pc:chgData name="McCloskey, Ross" userId="b1990487-ee44-4922-b58f-5b2980a02730" providerId="ADAL" clId="{7D443C21-FD7D-4E65-8C72-B41829F67170}" dt="2026-10-12T20:51:01.470" v="69362" actId="20577"/>
        <pc:sldMkLst>
          <pc:docMk/>
          <pc:sldMk cId="3958860892" sldId="262"/>
        </pc:sldMkLst>
        <pc:spChg chg="mod">
          <ac:chgData name="McCloskey, Ross" userId="b1990487-ee44-4922-b58f-5b2980a02730" providerId="ADAL" clId="{7D443C21-FD7D-4E65-8C72-B41829F67170}" dt="2026-10-10T20:46:29.814" v="60469"/>
          <ac:spMkLst>
            <pc:docMk/>
            <pc:sldMk cId="3958860892" sldId="262"/>
            <ac:spMk id="2" creationId="{ED8F4F21-E44A-8428-88A9-5472B256D169}"/>
          </ac:spMkLst>
        </pc:spChg>
        <pc:spChg chg="mod">
          <ac:chgData name="McCloskey, Ross" userId="b1990487-ee44-4922-b58f-5b2980a02730" providerId="ADAL" clId="{7D443C21-FD7D-4E65-8C72-B41829F67170}" dt="2026-10-08T01:44:40.832" v="39379" actId="20577"/>
          <ac:spMkLst>
            <pc:docMk/>
            <pc:sldMk cId="3958860892" sldId="262"/>
            <ac:spMk id="3" creationId="{811B784F-B0FE-B134-DE85-B82BC9CF9725}"/>
          </ac:spMkLst>
        </pc:spChg>
        <pc:spChg chg="mod">
          <ac:chgData name="McCloskey, Ross" userId="b1990487-ee44-4922-b58f-5b2980a02730" providerId="ADAL" clId="{7D443C21-FD7D-4E65-8C72-B41829F67170}" dt="2026-10-11T16:21:36.238" v="63834" actId="255"/>
          <ac:spMkLst>
            <pc:docMk/>
            <pc:sldMk cId="3958860892" sldId="262"/>
            <ac:spMk id="4" creationId="{9E5096C5-3BD2-27F3-58AD-14865937D002}"/>
          </ac:spMkLst>
        </pc:spChg>
        <pc:spChg chg="add del mod">
          <ac:chgData name="McCloskey, Ross" userId="b1990487-ee44-4922-b58f-5b2980a02730" providerId="ADAL" clId="{7D443C21-FD7D-4E65-8C72-B41829F67170}" dt="2026-10-08T01:44:43.555" v="39382" actId="20577"/>
          <ac:spMkLst>
            <pc:docMk/>
            <pc:sldMk cId="3958860892" sldId="262"/>
            <ac:spMk id="5" creationId="{941A9FE0-0831-3314-E63A-403E0F0F6E75}"/>
          </ac:spMkLst>
        </pc:spChg>
        <pc:spChg chg="mod">
          <ac:chgData name="McCloskey, Ross" userId="b1990487-ee44-4922-b58f-5b2980a02730" providerId="ADAL" clId="{7D443C21-FD7D-4E65-8C72-B41829F67170}" dt="2026-10-11T16:21:45.973" v="63836" actId="255"/>
          <ac:spMkLst>
            <pc:docMk/>
            <pc:sldMk cId="3958860892" sldId="262"/>
            <ac:spMk id="6" creationId="{E709375E-380E-E0E4-AABB-C3C82F7FD360}"/>
          </ac:spMkLst>
        </pc:spChg>
        <pc:spChg chg="add mod">
          <ac:chgData name="McCloskey, Ross" userId="b1990487-ee44-4922-b58f-5b2980a02730" providerId="ADAL" clId="{7D443C21-FD7D-4E65-8C72-B41829F67170}" dt="2026-10-08T01:44:46.095" v="39385" actId="20577"/>
          <ac:spMkLst>
            <pc:docMk/>
            <pc:sldMk cId="3958860892" sldId="262"/>
            <ac:spMk id="10" creationId="{4897BA95-02F0-B7E1-1044-1BA7DA428238}"/>
          </ac:spMkLst>
        </pc:spChg>
        <pc:spChg chg="add mod">
          <ac:chgData name="McCloskey, Ross" userId="b1990487-ee44-4922-b58f-5b2980a02730" providerId="ADAL" clId="{7D443C21-FD7D-4E65-8C72-B41829F67170}" dt="2026-10-11T16:21:50.682" v="63837" actId="255"/>
          <ac:spMkLst>
            <pc:docMk/>
            <pc:sldMk cId="3958860892" sldId="262"/>
            <ac:spMk id="14" creationId="{B6290506-0F17-7A96-BD89-BF7282E95E12}"/>
          </ac:spMkLst>
        </pc:spChg>
        <pc:cxnChg chg="add mod">
          <ac:chgData name="McCloskey, Ross" userId="b1990487-ee44-4922-b58f-5b2980a02730" providerId="ADAL" clId="{7D443C21-FD7D-4E65-8C72-B41829F67170}" dt="2026-09-28T22:44:29.434" v="1291" actId="13822"/>
          <ac:cxnSpMkLst>
            <pc:docMk/>
            <pc:sldMk cId="3958860892" sldId="262"/>
            <ac:cxnSpMk id="16" creationId="{50253486-C68C-51C9-A40E-06E059ABBD6E}"/>
          </ac:cxnSpMkLst>
        </pc:cxnChg>
        <pc:cxnChg chg="add mod">
          <ac:chgData name="McCloskey, Ross" userId="b1990487-ee44-4922-b58f-5b2980a02730" providerId="ADAL" clId="{7D443C21-FD7D-4E65-8C72-B41829F67170}" dt="2026-09-28T22:44:39.326" v="1294" actId="1076"/>
          <ac:cxnSpMkLst>
            <pc:docMk/>
            <pc:sldMk cId="3958860892" sldId="262"/>
            <ac:cxnSpMk id="17" creationId="{4338D88A-853D-90FD-85D3-713F2340645C}"/>
          </ac:cxnSpMkLst>
        </pc:cxnChg>
        <pc:cxnChg chg="add mod">
          <ac:chgData name="McCloskey, Ross" userId="b1990487-ee44-4922-b58f-5b2980a02730" providerId="ADAL" clId="{7D443C21-FD7D-4E65-8C72-B41829F67170}" dt="2026-09-28T22:44:49.810" v="1295" actId="1076"/>
          <ac:cxnSpMkLst>
            <pc:docMk/>
            <pc:sldMk cId="3958860892" sldId="262"/>
            <ac:cxnSpMk id="18" creationId="{50713E81-6361-0A83-AB67-A91F8B3DCF06}"/>
          </ac:cxnSpMkLst>
        </pc:cxnChg>
      </pc:sldChg>
      <pc:sldChg chg="delSp modSp new mod modTransition modNotesTx">
        <pc:chgData name="McCloskey, Ross" userId="b1990487-ee44-4922-b58f-5b2980a02730" providerId="ADAL" clId="{7D443C21-FD7D-4E65-8C72-B41829F67170}" dt="2026-10-11T16:23:05.547" v="63848" actId="1076"/>
        <pc:sldMkLst>
          <pc:docMk/>
          <pc:sldMk cId="537475907" sldId="263"/>
        </pc:sldMkLst>
        <pc:spChg chg="mod">
          <ac:chgData name="McCloskey, Ross" userId="b1990487-ee44-4922-b58f-5b2980a02730" providerId="ADAL" clId="{7D443C21-FD7D-4E65-8C72-B41829F67170}" dt="2026-10-11T16:23:05.547" v="63848" actId="1076"/>
          <ac:spMkLst>
            <pc:docMk/>
            <pc:sldMk cId="537475907" sldId="263"/>
            <ac:spMk id="2" creationId="{DABE3F03-D8C1-AD38-095D-B69CB01CC9C5}"/>
          </ac:spMkLst>
        </pc:spChg>
      </pc:sldChg>
      <pc:sldChg chg="delSp modSp new mod modTransition modNotesTx">
        <pc:chgData name="McCloskey, Ross" userId="b1990487-ee44-4922-b58f-5b2980a02730" providerId="ADAL" clId="{7D443C21-FD7D-4E65-8C72-B41829F67170}" dt="2026-10-11T16:22:48.836" v="63845" actId="1076"/>
        <pc:sldMkLst>
          <pc:docMk/>
          <pc:sldMk cId="4095987181" sldId="264"/>
        </pc:sldMkLst>
        <pc:spChg chg="mod">
          <ac:chgData name="McCloskey, Ross" userId="b1990487-ee44-4922-b58f-5b2980a02730" providerId="ADAL" clId="{7D443C21-FD7D-4E65-8C72-B41829F67170}" dt="2026-10-11T16:22:48.836" v="63845" actId="1076"/>
          <ac:spMkLst>
            <pc:docMk/>
            <pc:sldMk cId="4095987181" sldId="264"/>
            <ac:spMk id="2" creationId="{3990C8C9-DCCB-9092-1633-D30892F6B909}"/>
          </ac:spMkLst>
        </pc:spChg>
      </pc:sldChg>
      <pc:sldChg chg="addSp delSp modSp new mod modTransition modClrScheme chgLayout modNotesTx">
        <pc:chgData name="McCloskey, Ross" userId="b1990487-ee44-4922-b58f-5b2980a02730" providerId="ADAL" clId="{7D443C21-FD7D-4E65-8C72-B41829F67170}" dt="2026-10-11T16:22:32.599" v="63842" actId="1076"/>
        <pc:sldMkLst>
          <pc:docMk/>
          <pc:sldMk cId="552340326" sldId="265"/>
        </pc:sldMkLst>
        <pc:spChg chg="mod ord">
          <ac:chgData name="McCloskey, Ross" userId="b1990487-ee44-4922-b58f-5b2980a02730" providerId="ADAL" clId="{7D443C21-FD7D-4E65-8C72-B41829F67170}" dt="2026-10-11T16:22:32.599" v="63842" actId="1076"/>
          <ac:spMkLst>
            <pc:docMk/>
            <pc:sldMk cId="552340326" sldId="265"/>
            <ac:spMk id="2" creationId="{5E491BF2-BE1A-1528-5C92-EB5549F9C0A6}"/>
          </ac:spMkLst>
        </pc:spChg>
      </pc:sldChg>
      <pc:sldChg chg="addSp modSp new mod modTransition modNotesTx">
        <pc:chgData name="McCloskey, Ross" userId="b1990487-ee44-4922-b58f-5b2980a02730" providerId="ADAL" clId="{7D443C21-FD7D-4E65-8C72-B41829F67170}" dt="2026-10-11T17:19:17.923" v="65424" actId="20577"/>
        <pc:sldMkLst>
          <pc:docMk/>
          <pc:sldMk cId="2453236817" sldId="269"/>
        </pc:sldMkLst>
        <pc:spChg chg="mod">
          <ac:chgData name="McCloskey, Ross" userId="b1990487-ee44-4922-b58f-5b2980a02730" providerId="ADAL" clId="{7D443C21-FD7D-4E65-8C72-B41829F67170}" dt="2026-10-11T17:18:23.790" v="65401" actId="255"/>
          <ac:spMkLst>
            <pc:docMk/>
            <pc:sldMk cId="2453236817" sldId="269"/>
            <ac:spMk id="2" creationId="{894A7BD2-3123-DBC7-0364-6D50EC9EC777}"/>
          </ac:spMkLst>
        </pc:spChg>
        <pc:spChg chg="mod">
          <ac:chgData name="McCloskey, Ross" userId="b1990487-ee44-4922-b58f-5b2980a02730" providerId="ADAL" clId="{7D443C21-FD7D-4E65-8C72-B41829F67170}" dt="2026-10-11T17:18:30.043" v="65402" actId="255"/>
          <ac:spMkLst>
            <pc:docMk/>
            <pc:sldMk cId="2453236817" sldId="269"/>
            <ac:spMk id="3" creationId="{49C733D4-541E-6B5C-3F35-44B27BE9E251}"/>
          </ac:spMkLst>
        </pc:spChg>
        <pc:graphicFrameChg chg="add mod modGraphic">
          <ac:chgData name="McCloskey, Ross" userId="b1990487-ee44-4922-b58f-5b2980a02730" providerId="ADAL" clId="{7D443C21-FD7D-4E65-8C72-B41829F67170}" dt="2026-10-11T17:18:43.239" v="65404" actId="255"/>
          <ac:graphicFrameMkLst>
            <pc:docMk/>
            <pc:sldMk cId="2453236817" sldId="269"/>
            <ac:graphicFrameMk id="4" creationId="{51A74387-ABA4-2CD1-3B32-AA097E8E5995}"/>
          </ac:graphicFrameMkLst>
        </pc:graphicFrameChg>
      </pc:sldChg>
      <pc:sldChg chg="addSp delSp modSp add del mod modTransition modShow modNotesTx">
        <pc:chgData name="McCloskey, Ross" userId="b1990487-ee44-4922-b58f-5b2980a02730" providerId="ADAL" clId="{7D443C21-FD7D-4E65-8C72-B41829F67170}" dt="2026-10-11T18:16:36.332" v="68507" actId="47"/>
        <pc:sldMkLst>
          <pc:docMk/>
          <pc:sldMk cId="2086669846" sldId="272"/>
        </pc:sldMkLst>
      </pc:sldChg>
      <pc:sldChg chg="modSp new mod modTransition modNotesTx">
        <pc:chgData name="McCloskey, Ross" userId="b1990487-ee44-4922-b58f-5b2980a02730" providerId="ADAL" clId="{7D443C21-FD7D-4E65-8C72-B41829F67170}" dt="2026-10-12T20:59:39.358" v="69373" actId="20577"/>
        <pc:sldMkLst>
          <pc:docMk/>
          <pc:sldMk cId="3961457399" sldId="274"/>
        </pc:sldMkLst>
        <pc:spChg chg="mod">
          <ac:chgData name="McCloskey, Ross" userId="b1990487-ee44-4922-b58f-5b2980a02730" providerId="ADAL" clId="{7D443C21-FD7D-4E65-8C72-B41829F67170}" dt="2026-10-11T18:17:29.675" v="68517" actId="255"/>
          <ac:spMkLst>
            <pc:docMk/>
            <pc:sldMk cId="3961457399" sldId="274"/>
            <ac:spMk id="2" creationId="{2F2B3A85-FF15-2E24-EA6C-ADE5E4905FFA}"/>
          </ac:spMkLst>
        </pc:spChg>
        <pc:spChg chg="mod">
          <ac:chgData name="McCloskey, Ross" userId="b1990487-ee44-4922-b58f-5b2980a02730" providerId="ADAL" clId="{7D443C21-FD7D-4E65-8C72-B41829F67170}" dt="2026-10-11T18:30:07.188" v="68832" actId="20577"/>
          <ac:spMkLst>
            <pc:docMk/>
            <pc:sldMk cId="3961457399" sldId="274"/>
            <ac:spMk id="3" creationId="{83096D75-D04D-1D5E-BAB4-CA4D9F65201A}"/>
          </ac:spMkLst>
        </pc:spChg>
      </pc:sldChg>
      <pc:sldChg chg="modSp new mod ord modTransition">
        <pc:chgData name="McCloskey, Ross" userId="b1990487-ee44-4922-b58f-5b2980a02730" providerId="ADAL" clId="{7D443C21-FD7D-4E65-8C72-B41829F67170}" dt="2026-10-10T20:46:29.814" v="60469"/>
        <pc:sldMkLst>
          <pc:docMk/>
          <pc:sldMk cId="3828347332" sldId="275"/>
        </pc:sldMkLst>
        <pc:spChg chg="mod">
          <ac:chgData name="McCloskey, Ross" userId="b1990487-ee44-4922-b58f-5b2980a02730" providerId="ADAL" clId="{7D443C21-FD7D-4E65-8C72-B41829F67170}" dt="2026-10-10T20:46:29.814" v="60469"/>
          <ac:spMkLst>
            <pc:docMk/>
            <pc:sldMk cId="3828347332" sldId="275"/>
            <ac:spMk id="2" creationId="{CC7E2660-CCAF-C324-AEDC-DAB568204B99}"/>
          </ac:spMkLst>
        </pc:spChg>
        <pc:spChg chg="mod">
          <ac:chgData name="McCloskey, Ross" userId="b1990487-ee44-4922-b58f-5b2980a02730" providerId="ADAL" clId="{7D443C21-FD7D-4E65-8C72-B41829F67170}" dt="2026-10-10T20:46:29.814" v="60469"/>
          <ac:spMkLst>
            <pc:docMk/>
            <pc:sldMk cId="3828347332" sldId="275"/>
            <ac:spMk id="3" creationId="{885418ED-A63B-953F-40F8-8E5E3218F568}"/>
          </ac:spMkLst>
        </pc:spChg>
      </pc:sldChg>
      <pc:sldChg chg="modSp add mod modTransition modNotesTx">
        <pc:chgData name="McCloskey, Ross" userId="b1990487-ee44-4922-b58f-5b2980a02730" providerId="ADAL" clId="{7D443C21-FD7D-4E65-8C72-B41829F67170}" dt="2026-10-11T16:21:09.570" v="63828" actId="255"/>
        <pc:sldMkLst>
          <pc:docMk/>
          <pc:sldMk cId="1882015763" sldId="277"/>
        </pc:sldMkLst>
        <pc:spChg chg="mod">
          <ac:chgData name="McCloskey, Ross" userId="b1990487-ee44-4922-b58f-5b2980a02730" providerId="ADAL" clId="{7D443C21-FD7D-4E65-8C72-B41829F67170}" dt="2026-10-11T16:21:09.570" v="63828" actId="255"/>
          <ac:spMkLst>
            <pc:docMk/>
            <pc:sldMk cId="1882015763" sldId="277"/>
            <ac:spMk id="2" creationId="{ED8F4F21-E44A-8428-88A9-5472B256D169}"/>
          </ac:spMkLst>
        </pc:spChg>
        <pc:spChg chg="mod">
          <ac:chgData name="McCloskey, Ross" userId="b1990487-ee44-4922-b58f-5b2980a02730" providerId="ADAL" clId="{7D443C21-FD7D-4E65-8C72-B41829F67170}" dt="2026-10-11T16:20:52.436" v="63825" actId="255"/>
          <ac:spMkLst>
            <pc:docMk/>
            <pc:sldMk cId="1882015763" sldId="277"/>
            <ac:spMk id="4" creationId="{9E5096C5-3BD2-27F3-58AD-14865937D002}"/>
          </ac:spMkLst>
        </pc:spChg>
        <pc:spChg chg="mod">
          <ac:chgData name="McCloskey, Ross" userId="b1990487-ee44-4922-b58f-5b2980a02730" providerId="ADAL" clId="{7D443C21-FD7D-4E65-8C72-B41829F67170}" dt="2026-10-11T16:20:58.410" v="63826" actId="255"/>
          <ac:spMkLst>
            <pc:docMk/>
            <pc:sldMk cId="1882015763" sldId="277"/>
            <ac:spMk id="6" creationId="{E709375E-380E-E0E4-AABB-C3C82F7FD360}"/>
          </ac:spMkLst>
        </pc:spChg>
        <pc:spChg chg="mod">
          <ac:chgData name="McCloskey, Ross" userId="b1990487-ee44-4922-b58f-5b2980a02730" providerId="ADAL" clId="{7D443C21-FD7D-4E65-8C72-B41829F67170}" dt="2026-10-11T16:21:05.250" v="63827" actId="255"/>
          <ac:spMkLst>
            <pc:docMk/>
            <pc:sldMk cId="1882015763" sldId="277"/>
            <ac:spMk id="14" creationId="{B6290506-0F17-7A96-BD89-BF7282E95E12}"/>
          </ac:spMkLst>
        </pc:spChg>
      </pc:sldChg>
      <pc:sldChg chg="modSp add mod modTransition modNotesTx">
        <pc:chgData name="McCloskey, Ross" userId="b1990487-ee44-4922-b58f-5b2980a02730" providerId="ADAL" clId="{7D443C21-FD7D-4E65-8C72-B41829F67170}" dt="2026-10-11T16:22:21.552" v="63840" actId="1076"/>
        <pc:sldMkLst>
          <pc:docMk/>
          <pc:sldMk cId="1751481264" sldId="278"/>
        </pc:sldMkLst>
        <pc:spChg chg="mod">
          <ac:chgData name="McCloskey, Ross" userId="b1990487-ee44-4922-b58f-5b2980a02730" providerId="ADAL" clId="{7D443C21-FD7D-4E65-8C72-B41829F67170}" dt="2026-10-11T16:22:21.552" v="63840" actId="1076"/>
          <ac:spMkLst>
            <pc:docMk/>
            <pc:sldMk cId="1751481264" sldId="278"/>
            <ac:spMk id="2" creationId="{3A06ED3F-3EE2-A148-CDAC-00C69C4BE356}"/>
          </ac:spMkLst>
        </pc:spChg>
      </pc:sldChg>
      <pc:sldChg chg="modSp add mod modTransition modNotesTx">
        <pc:chgData name="McCloskey, Ross" userId="b1990487-ee44-4922-b58f-5b2980a02730" providerId="ADAL" clId="{7D443C21-FD7D-4E65-8C72-B41829F67170}" dt="2026-10-11T17:10:24.182" v="65130" actId="20577"/>
        <pc:sldMkLst>
          <pc:docMk/>
          <pc:sldMk cId="4265969964" sldId="279"/>
        </pc:sldMkLst>
        <pc:spChg chg="mod">
          <ac:chgData name="McCloskey, Ross" userId="b1990487-ee44-4922-b58f-5b2980a02730" providerId="ADAL" clId="{7D443C21-FD7D-4E65-8C72-B41829F67170}" dt="2026-10-11T16:23:22.391" v="63850" actId="1076"/>
          <ac:spMkLst>
            <pc:docMk/>
            <pc:sldMk cId="4265969964" sldId="279"/>
            <ac:spMk id="2" creationId="{829A81EC-7EB1-427C-5C76-AD96F09FB01F}"/>
          </ac:spMkLst>
        </pc:spChg>
      </pc:sldChg>
      <pc:sldChg chg="modSp add mod modTransition modNotesTx">
        <pc:chgData name="McCloskey, Ross" userId="b1990487-ee44-4922-b58f-5b2980a02730" providerId="ADAL" clId="{7D443C21-FD7D-4E65-8C72-B41829F67170}" dt="2026-10-11T17:22:47.521" v="65594" actId="20577"/>
        <pc:sldMkLst>
          <pc:docMk/>
          <pc:sldMk cId="2953870959" sldId="280"/>
        </pc:sldMkLst>
        <pc:spChg chg="mod">
          <ac:chgData name="McCloskey, Ross" userId="b1990487-ee44-4922-b58f-5b2980a02730" providerId="ADAL" clId="{7D443C21-FD7D-4E65-8C72-B41829F67170}" dt="2026-10-11T16:23:42.101" v="63852" actId="1076"/>
          <ac:spMkLst>
            <pc:docMk/>
            <pc:sldMk cId="2953870959" sldId="280"/>
            <ac:spMk id="2" creationId="{92A6E555-C0BC-AF31-9777-EA4C81CCD0C4}"/>
          </ac:spMkLst>
        </pc:spChg>
      </pc:sldChg>
      <pc:sldChg chg="modSp add mod modTransition modNotesTx">
        <pc:chgData name="McCloskey, Ross" userId="b1990487-ee44-4922-b58f-5b2980a02730" providerId="ADAL" clId="{7D443C21-FD7D-4E65-8C72-B41829F67170}" dt="2026-10-11T18:14:35.073" v="68471" actId="255"/>
        <pc:sldMkLst>
          <pc:docMk/>
          <pc:sldMk cId="3912189396" sldId="281"/>
        </pc:sldMkLst>
        <pc:spChg chg="mod">
          <ac:chgData name="McCloskey, Ross" userId="b1990487-ee44-4922-b58f-5b2980a02730" providerId="ADAL" clId="{7D443C21-FD7D-4E65-8C72-B41829F67170}" dt="2026-10-11T18:14:35.073" v="68471" actId="255"/>
          <ac:spMkLst>
            <pc:docMk/>
            <pc:sldMk cId="3912189396" sldId="281"/>
            <ac:spMk id="2" creationId="{ED8F4F21-E44A-8428-88A9-5472B256D169}"/>
          </ac:spMkLst>
        </pc:spChg>
      </pc:sldChg>
      <pc:sldChg chg="modSp add mod modTransition modNotesTx">
        <pc:chgData name="McCloskey, Ross" userId="b1990487-ee44-4922-b58f-5b2980a02730" providerId="ADAL" clId="{7D443C21-FD7D-4E65-8C72-B41829F67170}" dt="2026-10-11T19:14:57.061" v="69271" actId="20577"/>
        <pc:sldMkLst>
          <pc:docMk/>
          <pc:sldMk cId="3239764286" sldId="282"/>
        </pc:sldMkLst>
        <pc:spChg chg="mod">
          <ac:chgData name="McCloskey, Ross" userId="b1990487-ee44-4922-b58f-5b2980a02730" providerId="ADAL" clId="{7D443C21-FD7D-4E65-8C72-B41829F67170}" dt="2026-10-11T18:34:13.472" v="69023" actId="255"/>
          <ac:spMkLst>
            <pc:docMk/>
            <pc:sldMk cId="3239764286" sldId="282"/>
            <ac:spMk id="2" creationId="{5269B80D-97BA-366D-6087-ADA04EA737B7}"/>
          </ac:spMkLst>
        </pc:spChg>
        <pc:spChg chg="mod">
          <ac:chgData name="McCloskey, Ross" userId="b1990487-ee44-4922-b58f-5b2980a02730" providerId="ADAL" clId="{7D443C21-FD7D-4E65-8C72-B41829F67170}" dt="2026-10-11T18:36:41.664" v="69042" actId="20577"/>
          <ac:spMkLst>
            <pc:docMk/>
            <pc:sldMk cId="3239764286" sldId="282"/>
            <ac:spMk id="3" creationId="{B99AE6ED-9701-79F4-3025-927EC8F0DEEB}"/>
          </ac:spMkLst>
        </pc:spChg>
      </pc:sldChg>
      <pc:sldChg chg="addSp delSp modSp add mod modTransition modNotesTx">
        <pc:chgData name="McCloskey, Ross" userId="b1990487-ee44-4922-b58f-5b2980a02730" providerId="ADAL" clId="{7D443C21-FD7D-4E65-8C72-B41829F67170}" dt="2026-10-11T18:56:43.937" v="69203" actId="1037"/>
        <pc:sldMkLst>
          <pc:docMk/>
          <pc:sldMk cId="1825651329" sldId="285"/>
        </pc:sldMkLst>
        <pc:spChg chg="mod">
          <ac:chgData name="McCloskey, Ross" userId="b1990487-ee44-4922-b58f-5b2980a02730" providerId="ADAL" clId="{7D443C21-FD7D-4E65-8C72-B41829F67170}" dt="2026-10-11T18:14:51.249" v="68472" actId="255"/>
          <ac:spMkLst>
            <pc:docMk/>
            <pc:sldMk cId="1825651329" sldId="285"/>
            <ac:spMk id="2" creationId="{C948AEF3-5B1D-A65E-1850-71F6DB8EBF22}"/>
          </ac:spMkLst>
        </pc:spChg>
        <pc:grpChg chg="add mod">
          <ac:chgData name="McCloskey, Ross" userId="b1990487-ee44-4922-b58f-5b2980a02730" providerId="ADAL" clId="{7D443C21-FD7D-4E65-8C72-B41829F67170}" dt="2026-10-07T16:33:11.343" v="28583" actId="164"/>
          <ac:grpSpMkLst>
            <pc:docMk/>
            <pc:sldMk cId="1825651329" sldId="285"/>
            <ac:grpSpMk id="8" creationId="{34DDAF54-FB5A-7900-647E-A4B4F8DB9CA7}"/>
          </ac:grpSpMkLst>
        </pc:grpChg>
        <pc:grpChg chg="add mod">
          <ac:chgData name="McCloskey, Ross" userId="b1990487-ee44-4922-b58f-5b2980a02730" providerId="ADAL" clId="{7D443C21-FD7D-4E65-8C72-B41829F67170}" dt="2026-10-07T16:34:37.270" v="28601" actId="164"/>
          <ac:grpSpMkLst>
            <pc:docMk/>
            <pc:sldMk cId="1825651329" sldId="285"/>
            <ac:grpSpMk id="9" creationId="{3A7AA99A-30CA-6EB5-CD11-E62A0866A4F2}"/>
          </ac:grpSpMkLst>
        </pc:grpChg>
        <pc:grpChg chg="add del mod">
          <ac:chgData name="McCloskey, Ross" userId="b1990487-ee44-4922-b58f-5b2980a02730" providerId="ADAL" clId="{7D443C21-FD7D-4E65-8C72-B41829F67170}" dt="2026-10-11T18:15:50.272" v="68497" actId="165"/>
          <ac:grpSpMkLst>
            <pc:docMk/>
            <pc:sldMk cId="1825651329" sldId="285"/>
            <ac:grpSpMk id="12" creationId="{9B0458AC-7FDA-3D37-5FE3-9AA972749FE6}"/>
          </ac:grpSpMkLst>
        </pc:grpChg>
        <pc:picChg chg="mod topLvl">
          <ac:chgData name="McCloskey, Ross" userId="b1990487-ee44-4922-b58f-5b2980a02730" providerId="ADAL" clId="{7D443C21-FD7D-4E65-8C72-B41829F67170}" dt="2026-10-11T18:15:50.272" v="68497" actId="165"/>
          <ac:picMkLst>
            <pc:docMk/>
            <pc:sldMk cId="1825651329" sldId="285"/>
            <ac:picMk id="13" creationId="{C992CD4A-3AE4-00A4-D1EB-97F4CEA4A238}"/>
          </ac:picMkLst>
        </pc:picChg>
        <pc:picChg chg="mod topLvl">
          <ac:chgData name="McCloskey, Ross" userId="b1990487-ee44-4922-b58f-5b2980a02730" providerId="ADAL" clId="{7D443C21-FD7D-4E65-8C72-B41829F67170}" dt="2026-10-11T18:56:11.801" v="69192" actId="1036"/>
          <ac:picMkLst>
            <pc:docMk/>
            <pc:sldMk cId="1825651329" sldId="285"/>
            <ac:picMk id="15" creationId="{65877C02-7A2D-A999-0CBE-E04D1F99CFC4}"/>
          </ac:picMkLst>
        </pc:picChg>
        <pc:picChg chg="mod topLvl">
          <ac:chgData name="McCloskey, Ross" userId="b1990487-ee44-4922-b58f-5b2980a02730" providerId="ADAL" clId="{7D443C21-FD7D-4E65-8C72-B41829F67170}" dt="2026-10-11T18:56:43.937" v="69203" actId="1037"/>
          <ac:picMkLst>
            <pc:docMk/>
            <pc:sldMk cId="1825651329" sldId="285"/>
            <ac:picMk id="16" creationId="{13CC2665-E4C0-9F71-62C1-DB346CF4E7D9}"/>
          </ac:picMkLst>
        </pc:picChg>
        <pc:picChg chg="mod topLvl">
          <ac:chgData name="McCloskey, Ross" userId="b1990487-ee44-4922-b58f-5b2980a02730" providerId="ADAL" clId="{7D443C21-FD7D-4E65-8C72-B41829F67170}" dt="2026-10-11T18:15:50.272" v="68497" actId="165"/>
          <ac:picMkLst>
            <pc:docMk/>
            <pc:sldMk cId="1825651329" sldId="285"/>
            <ac:picMk id="17" creationId="{24C5F617-8FDB-90A3-6D97-CEFE55120829}"/>
          </ac:picMkLst>
        </pc:picChg>
        <pc:picChg chg="mod topLvl">
          <ac:chgData name="McCloskey, Ross" userId="b1990487-ee44-4922-b58f-5b2980a02730" providerId="ADAL" clId="{7D443C21-FD7D-4E65-8C72-B41829F67170}" dt="2026-10-11T18:15:50.272" v="68497" actId="165"/>
          <ac:picMkLst>
            <pc:docMk/>
            <pc:sldMk cId="1825651329" sldId="285"/>
            <ac:picMk id="18" creationId="{1AA145AC-1968-D740-A4D2-A0ACDBF29738}"/>
          </ac:picMkLst>
        </pc:picChg>
        <pc:picChg chg="mod topLvl modCrop">
          <ac:chgData name="McCloskey, Ross" userId="b1990487-ee44-4922-b58f-5b2980a02730" providerId="ADAL" clId="{7D443C21-FD7D-4E65-8C72-B41829F67170}" dt="2026-10-07T16:33:11.343" v="28583" actId="164"/>
          <ac:picMkLst>
            <pc:docMk/>
            <pc:sldMk cId="1825651329" sldId="285"/>
            <ac:picMk id="35" creationId="{83CB3557-326C-C287-63AB-E40D4D5733A1}"/>
          </ac:picMkLst>
        </pc:picChg>
        <pc:picChg chg="mod topLvl">
          <ac:chgData name="McCloskey, Ross" userId="b1990487-ee44-4922-b58f-5b2980a02730" providerId="ADAL" clId="{7D443C21-FD7D-4E65-8C72-B41829F67170}" dt="2026-10-07T16:33:11.343" v="28583" actId="164"/>
          <ac:picMkLst>
            <pc:docMk/>
            <pc:sldMk cId="1825651329" sldId="285"/>
            <ac:picMk id="37" creationId="{744FD7EB-6B7D-03A6-28C7-01CD533C0B4E}"/>
          </ac:picMkLst>
        </pc:picChg>
        <pc:picChg chg="mod ord topLvl">
          <ac:chgData name="McCloskey, Ross" userId="b1990487-ee44-4922-b58f-5b2980a02730" providerId="ADAL" clId="{7D443C21-FD7D-4E65-8C72-B41829F67170}" dt="2026-10-07T16:33:11.343" v="28583" actId="164"/>
          <ac:picMkLst>
            <pc:docMk/>
            <pc:sldMk cId="1825651329" sldId="285"/>
            <ac:picMk id="40" creationId="{97F15C4F-F9D4-78D3-88B1-63B83C598B6E}"/>
          </ac:picMkLst>
        </pc:picChg>
        <pc:picChg chg="mod topLvl modCrop">
          <ac:chgData name="McCloskey, Ross" userId="b1990487-ee44-4922-b58f-5b2980a02730" providerId="ADAL" clId="{7D443C21-FD7D-4E65-8C72-B41829F67170}" dt="2026-10-07T16:34:37.270" v="28601" actId="164"/>
          <ac:picMkLst>
            <pc:docMk/>
            <pc:sldMk cId="1825651329" sldId="285"/>
            <ac:picMk id="43" creationId="{FDF5DBC0-A2D6-4E8F-03CB-37A7B31C7F47}"/>
          </ac:picMkLst>
        </pc:picChg>
        <pc:picChg chg="mod topLvl">
          <ac:chgData name="McCloskey, Ross" userId="b1990487-ee44-4922-b58f-5b2980a02730" providerId="ADAL" clId="{7D443C21-FD7D-4E65-8C72-B41829F67170}" dt="2026-10-07T16:34:37.270" v="28601" actId="164"/>
          <ac:picMkLst>
            <pc:docMk/>
            <pc:sldMk cId="1825651329" sldId="285"/>
            <ac:picMk id="44" creationId="{4AA5D260-7B63-2C90-E697-09AC4869F06E}"/>
          </ac:picMkLst>
        </pc:picChg>
        <pc:picChg chg="mod topLvl">
          <ac:chgData name="McCloskey, Ross" userId="b1990487-ee44-4922-b58f-5b2980a02730" providerId="ADAL" clId="{7D443C21-FD7D-4E65-8C72-B41829F67170}" dt="2026-10-07T16:34:37.270" v="28601" actId="164"/>
          <ac:picMkLst>
            <pc:docMk/>
            <pc:sldMk cId="1825651329" sldId="285"/>
            <ac:picMk id="47" creationId="{7A79FF59-43C9-BB41-4E27-5D7613065F4F}"/>
          </ac:picMkLst>
        </pc:picChg>
      </pc:sldChg>
      <pc:sldChg chg="addSp delSp modSp add mod modTransition modNotesTx">
        <pc:chgData name="McCloskey, Ross" userId="b1990487-ee44-4922-b58f-5b2980a02730" providerId="ADAL" clId="{7D443C21-FD7D-4E65-8C72-B41829F67170}" dt="2026-10-11T18:56:06.381" v="69190" actId="1036"/>
        <pc:sldMkLst>
          <pc:docMk/>
          <pc:sldMk cId="2783949618" sldId="286"/>
        </pc:sldMkLst>
        <pc:spChg chg="mod">
          <ac:chgData name="McCloskey, Ross" userId="b1990487-ee44-4922-b58f-5b2980a02730" providerId="ADAL" clId="{7D443C21-FD7D-4E65-8C72-B41829F67170}" dt="2026-10-11T18:15:20.192" v="68487" actId="255"/>
          <ac:spMkLst>
            <pc:docMk/>
            <pc:sldMk cId="2783949618" sldId="286"/>
            <ac:spMk id="2" creationId="{7126F797-3CB6-9A8A-6EF7-869E522AACE4}"/>
          </ac:spMkLst>
        </pc:spChg>
        <pc:grpChg chg="add mod">
          <ac:chgData name="McCloskey, Ross" userId="b1990487-ee44-4922-b58f-5b2980a02730" providerId="ADAL" clId="{7D443C21-FD7D-4E65-8C72-B41829F67170}" dt="2026-10-07T16:48:16.842" v="28858" actId="164"/>
          <ac:grpSpMkLst>
            <pc:docMk/>
            <pc:sldMk cId="2783949618" sldId="286"/>
            <ac:grpSpMk id="7" creationId="{C696534B-CEA1-D35C-33FC-63CF1489FF88}"/>
          </ac:grpSpMkLst>
        </pc:grpChg>
        <pc:grpChg chg="add mod">
          <ac:chgData name="McCloskey, Ross" userId="b1990487-ee44-4922-b58f-5b2980a02730" providerId="ADAL" clId="{7D443C21-FD7D-4E65-8C72-B41829F67170}" dt="2026-10-07T16:49:10.378" v="28872" actId="164"/>
          <ac:grpSpMkLst>
            <pc:docMk/>
            <pc:sldMk cId="2783949618" sldId="286"/>
            <ac:grpSpMk id="10" creationId="{276BAB15-F78B-1DDB-8B38-4B401D3961DC}"/>
          </ac:grpSpMkLst>
        </pc:grpChg>
        <pc:picChg chg="mod ord topLvl">
          <ac:chgData name="McCloskey, Ross" userId="b1990487-ee44-4922-b58f-5b2980a02730" providerId="ADAL" clId="{7D443C21-FD7D-4E65-8C72-B41829F67170}" dt="2026-10-07T16:47:42.862" v="28853" actId="165"/>
          <ac:picMkLst>
            <pc:docMk/>
            <pc:sldMk cId="2783949618" sldId="286"/>
            <ac:picMk id="4" creationId="{2A7868B5-C7CC-2198-2070-6C8F5EB5A2F5}"/>
          </ac:picMkLst>
        </pc:picChg>
        <pc:picChg chg="mod ord topLvl modCrop">
          <ac:chgData name="McCloskey, Ross" userId="b1990487-ee44-4922-b58f-5b2980a02730" providerId="ADAL" clId="{7D443C21-FD7D-4E65-8C72-B41829F67170}" dt="2026-10-07T16:48:00.932" v="28857" actId="732"/>
          <ac:picMkLst>
            <pc:docMk/>
            <pc:sldMk cId="2783949618" sldId="286"/>
            <ac:picMk id="20" creationId="{5C5EF605-9DB9-5F1C-AD4E-9EA50A24545C}"/>
          </ac:picMkLst>
        </pc:picChg>
        <pc:picChg chg="mod topLvl">
          <ac:chgData name="McCloskey, Ross" userId="b1990487-ee44-4922-b58f-5b2980a02730" providerId="ADAL" clId="{7D443C21-FD7D-4E65-8C72-B41829F67170}" dt="2026-10-07T16:47:42.862" v="28853" actId="165"/>
          <ac:picMkLst>
            <pc:docMk/>
            <pc:sldMk cId="2783949618" sldId="286"/>
            <ac:picMk id="24" creationId="{D6E184C8-A957-89F2-A809-833D053A5ADF}"/>
          </ac:picMkLst>
        </pc:picChg>
        <pc:picChg chg="mod ord topLvl modCrop">
          <ac:chgData name="McCloskey, Ross" userId="b1990487-ee44-4922-b58f-5b2980a02730" providerId="ADAL" clId="{7D443C21-FD7D-4E65-8C72-B41829F67170}" dt="2026-10-11T18:56:06.381" v="69190" actId="1036"/>
          <ac:picMkLst>
            <pc:docMk/>
            <pc:sldMk cId="2783949618" sldId="286"/>
            <ac:picMk id="32" creationId="{4569996E-C105-7642-3257-142361B86890}"/>
          </ac:picMkLst>
        </pc:picChg>
        <pc:picChg chg="mod topLvl modCrop">
          <ac:chgData name="McCloskey, Ross" userId="b1990487-ee44-4922-b58f-5b2980a02730" providerId="ADAL" clId="{7D443C21-FD7D-4E65-8C72-B41829F67170}" dt="2026-10-07T16:48:16.842" v="28858" actId="164"/>
          <ac:picMkLst>
            <pc:docMk/>
            <pc:sldMk cId="2783949618" sldId="286"/>
            <ac:picMk id="35" creationId="{85E3EB52-1EC1-CE55-3E6E-BAE7E0A6A31B}"/>
          </ac:picMkLst>
        </pc:picChg>
        <pc:picChg chg="mod topLvl">
          <ac:chgData name="McCloskey, Ross" userId="b1990487-ee44-4922-b58f-5b2980a02730" providerId="ADAL" clId="{7D443C21-FD7D-4E65-8C72-B41829F67170}" dt="2026-10-07T16:48:16.842" v="28858" actId="164"/>
          <ac:picMkLst>
            <pc:docMk/>
            <pc:sldMk cId="2783949618" sldId="286"/>
            <ac:picMk id="40" creationId="{2AC621C9-1458-AE89-F5B9-7A343C95152D}"/>
          </ac:picMkLst>
        </pc:picChg>
        <pc:picChg chg="mod topLvl modCrop">
          <ac:chgData name="McCloskey, Ross" userId="b1990487-ee44-4922-b58f-5b2980a02730" providerId="ADAL" clId="{7D443C21-FD7D-4E65-8C72-B41829F67170}" dt="2026-10-07T16:49:10.378" v="28872" actId="164"/>
          <ac:picMkLst>
            <pc:docMk/>
            <pc:sldMk cId="2783949618" sldId="286"/>
            <ac:picMk id="43" creationId="{1DF59FAF-5FEE-B57D-3325-F5D05A20D9EF}"/>
          </ac:picMkLst>
        </pc:picChg>
        <pc:picChg chg="mod topLvl">
          <ac:chgData name="McCloskey, Ross" userId="b1990487-ee44-4922-b58f-5b2980a02730" providerId="ADAL" clId="{7D443C21-FD7D-4E65-8C72-B41829F67170}" dt="2026-10-07T16:49:10.378" v="28872" actId="164"/>
          <ac:picMkLst>
            <pc:docMk/>
            <pc:sldMk cId="2783949618" sldId="286"/>
            <ac:picMk id="47" creationId="{106AFA60-DA8F-EB1D-8014-CA09B75D1814}"/>
          </ac:picMkLst>
        </pc:picChg>
      </pc:sldChg>
      <pc:sldChg chg="modSp add mod modTransition">
        <pc:chgData name="McCloskey, Ross" userId="b1990487-ee44-4922-b58f-5b2980a02730" providerId="ADAL" clId="{7D443C21-FD7D-4E65-8C72-B41829F67170}" dt="2026-10-10T20:46:29.814" v="60469"/>
        <pc:sldMkLst>
          <pc:docMk/>
          <pc:sldMk cId="125036241" sldId="287"/>
        </pc:sldMkLst>
        <pc:spChg chg="mod">
          <ac:chgData name="McCloskey, Ross" userId="b1990487-ee44-4922-b58f-5b2980a02730" providerId="ADAL" clId="{7D443C21-FD7D-4E65-8C72-B41829F67170}" dt="2026-10-10T20:46:29.814" v="60469"/>
          <ac:spMkLst>
            <pc:docMk/>
            <pc:sldMk cId="125036241" sldId="287"/>
            <ac:spMk id="2" creationId="{942C52EC-1B0B-CAE3-D686-BE73422DB350}"/>
          </ac:spMkLst>
        </pc:spChg>
      </pc:sldChg>
      <pc:sldChg chg="modSp add mod modTransition modNotesTx">
        <pc:chgData name="McCloskey, Ross" userId="b1990487-ee44-4922-b58f-5b2980a02730" providerId="ADAL" clId="{7D443C21-FD7D-4E65-8C72-B41829F67170}" dt="2026-10-12T20:53:06.866" v="69370" actId="20577"/>
        <pc:sldMkLst>
          <pc:docMk/>
          <pc:sldMk cId="2979780820" sldId="288"/>
        </pc:sldMkLst>
        <pc:spChg chg="mod">
          <ac:chgData name="McCloskey, Ross" userId="b1990487-ee44-4922-b58f-5b2980a02730" providerId="ADAL" clId="{7D443C21-FD7D-4E65-8C72-B41829F67170}" dt="2026-10-10T20:46:29.814" v="60469"/>
          <ac:spMkLst>
            <pc:docMk/>
            <pc:sldMk cId="2979780820" sldId="288"/>
            <ac:spMk id="2" creationId="{C85E6474-CB48-2B92-C287-3E76A00F47E9}"/>
          </ac:spMkLst>
        </pc:spChg>
      </pc:sldChg>
      <pc:sldChg chg="modSp new mod modTransition modNotesTx">
        <pc:chgData name="McCloskey, Ross" userId="b1990487-ee44-4922-b58f-5b2980a02730" providerId="ADAL" clId="{7D443C21-FD7D-4E65-8C72-B41829F67170}" dt="2026-10-12T21:34:32.701" v="69402" actId="20577"/>
        <pc:sldMkLst>
          <pc:docMk/>
          <pc:sldMk cId="3214108413" sldId="289"/>
        </pc:sldMkLst>
        <pc:spChg chg="mod">
          <ac:chgData name="McCloskey, Ross" userId="b1990487-ee44-4922-b58f-5b2980a02730" providerId="ADAL" clId="{7D443C21-FD7D-4E65-8C72-B41829F67170}" dt="2026-10-12T21:34:32.701" v="69402" actId="20577"/>
          <ac:spMkLst>
            <pc:docMk/>
            <pc:sldMk cId="3214108413" sldId="289"/>
            <ac:spMk id="2" creationId="{93F5C9AD-FC0D-3A86-E202-84D9D17D21BF}"/>
          </ac:spMkLst>
        </pc:spChg>
        <pc:spChg chg="mod">
          <ac:chgData name="McCloskey, Ross" userId="b1990487-ee44-4922-b58f-5b2980a02730" providerId="ADAL" clId="{7D443C21-FD7D-4E65-8C72-B41829F67170}" dt="2026-10-12T21:34:22.353" v="69396" actId="20577"/>
          <ac:spMkLst>
            <pc:docMk/>
            <pc:sldMk cId="3214108413" sldId="289"/>
            <ac:spMk id="3" creationId="{B794F408-F88D-DCBB-61B4-3BF6CF83AD6C}"/>
          </ac:spMkLst>
        </pc:spChg>
      </pc:sldChg>
      <pc:sldChg chg="modSp add del mod ord modTransition modShow modNotesTx">
        <pc:chgData name="McCloskey, Ross" userId="b1990487-ee44-4922-b58f-5b2980a02730" providerId="ADAL" clId="{7D443C21-FD7D-4E65-8C72-B41829F67170}" dt="2026-10-12T20:49:23.011" v="69298" actId="20577"/>
        <pc:sldMkLst>
          <pc:docMk/>
          <pc:sldMk cId="642340047" sldId="290"/>
        </pc:sldMkLst>
        <pc:spChg chg="mod">
          <ac:chgData name="McCloskey, Ross" userId="b1990487-ee44-4922-b58f-5b2980a02730" providerId="ADAL" clId="{7D443C21-FD7D-4E65-8C72-B41829F67170}" dt="2026-10-10T20:46:29.814" v="60469"/>
          <ac:spMkLst>
            <pc:docMk/>
            <pc:sldMk cId="642340047" sldId="290"/>
            <ac:spMk id="2" creationId="{A9540869-6938-5F0F-72D8-BB4B812ADDD3}"/>
          </ac:spMkLst>
        </pc:spChg>
        <pc:spChg chg="mod">
          <ac:chgData name="McCloskey, Ross" userId="b1990487-ee44-4922-b58f-5b2980a02730" providerId="ADAL" clId="{7D443C21-FD7D-4E65-8C72-B41829F67170}" dt="2026-10-12T20:49:23.011" v="69298" actId="20577"/>
          <ac:spMkLst>
            <pc:docMk/>
            <pc:sldMk cId="642340047" sldId="290"/>
            <ac:spMk id="3" creationId="{8F7D8B53-4936-9A06-42AB-CD3147FACA60}"/>
          </ac:spMkLst>
        </pc:spChg>
      </pc:sldChg>
      <pc:sldChg chg="modSp add mod ord modTransition modNotesTx">
        <pc:chgData name="McCloskey, Ross" userId="b1990487-ee44-4922-b58f-5b2980a02730" providerId="ADAL" clId="{7D443C21-FD7D-4E65-8C72-B41829F67170}" dt="2026-10-12T20:49:57.498" v="69323" actId="20577"/>
        <pc:sldMkLst>
          <pc:docMk/>
          <pc:sldMk cId="3563553666" sldId="291"/>
        </pc:sldMkLst>
        <pc:spChg chg="mod">
          <ac:chgData name="McCloskey, Ross" userId="b1990487-ee44-4922-b58f-5b2980a02730" providerId="ADAL" clId="{7D443C21-FD7D-4E65-8C72-B41829F67170}" dt="2026-10-11T16:21:16.639" v="63829" actId="255"/>
          <ac:spMkLst>
            <pc:docMk/>
            <pc:sldMk cId="3563553666" sldId="291"/>
            <ac:spMk id="2" creationId="{5DBC125D-F94C-5E4C-42AD-F0B859B8CF2E}"/>
          </ac:spMkLst>
        </pc:spChg>
        <pc:spChg chg="mod">
          <ac:chgData name="McCloskey, Ross" userId="b1990487-ee44-4922-b58f-5b2980a02730" providerId="ADAL" clId="{7D443C21-FD7D-4E65-8C72-B41829F67170}" dt="2026-10-11T16:21:29.191" v="63833" actId="20577"/>
          <ac:spMkLst>
            <pc:docMk/>
            <pc:sldMk cId="3563553666" sldId="291"/>
            <ac:spMk id="3" creationId="{413D4BA6-DC9C-10D3-6121-00777C05BED4}"/>
          </ac:spMkLst>
        </pc:spChg>
      </pc:sldChg>
      <pc:sldChg chg="addSp delSp modSp add mod ord modTransition modNotesTx">
        <pc:chgData name="McCloskey, Ross" userId="b1990487-ee44-4922-b58f-5b2980a02730" providerId="ADAL" clId="{7D443C21-FD7D-4E65-8C72-B41829F67170}" dt="2026-10-12T21:46:29.086" v="69403" actId="20577"/>
        <pc:sldMkLst>
          <pc:docMk/>
          <pc:sldMk cId="3316263188" sldId="293"/>
        </pc:sldMkLst>
        <pc:spChg chg="mod">
          <ac:chgData name="McCloskey, Ross" userId="b1990487-ee44-4922-b58f-5b2980a02730" providerId="ADAL" clId="{7D443C21-FD7D-4E65-8C72-B41829F67170}" dt="2026-10-10T20:46:29.814" v="60469"/>
          <ac:spMkLst>
            <pc:docMk/>
            <pc:sldMk cId="3316263188" sldId="293"/>
            <ac:spMk id="2" creationId="{DBEDB7D2-D742-C937-15BF-C83CA0D243DC}"/>
          </ac:spMkLst>
        </pc:spChg>
        <pc:spChg chg="mod">
          <ac:chgData name="McCloskey, Ross" userId="b1990487-ee44-4922-b58f-5b2980a02730" providerId="ADAL" clId="{7D443C21-FD7D-4E65-8C72-B41829F67170}" dt="2026-10-11T17:02:34.439" v="64558" actId="20577"/>
          <ac:spMkLst>
            <pc:docMk/>
            <pc:sldMk cId="3316263188" sldId="293"/>
            <ac:spMk id="3" creationId="{D835EE31-F76A-4588-64F1-4DB574648197}"/>
          </ac:spMkLst>
        </pc:spChg>
        <pc:spChg chg="add mod">
          <ac:chgData name="McCloskey, Ross" userId="b1990487-ee44-4922-b58f-5b2980a02730" providerId="ADAL" clId="{7D443C21-FD7D-4E65-8C72-B41829F67170}" dt="2026-10-11T16:27:35.388" v="63913" actId="33987"/>
          <ac:spMkLst>
            <pc:docMk/>
            <pc:sldMk cId="3316263188" sldId="293"/>
            <ac:spMk id="6" creationId="{D6CA8F3F-FE86-1C28-8FC0-3B119C9207D3}"/>
          </ac:spMkLst>
        </pc:spChg>
        <pc:spChg chg="add mod">
          <ac:chgData name="McCloskey, Ross" userId="b1990487-ee44-4922-b58f-5b2980a02730" providerId="ADAL" clId="{7D443C21-FD7D-4E65-8C72-B41829F67170}" dt="2026-10-11T16:29:53.340" v="63932" actId="33987"/>
          <ac:spMkLst>
            <pc:docMk/>
            <pc:sldMk cId="3316263188" sldId="293"/>
            <ac:spMk id="9" creationId="{A9B8B4B0-963A-3AF3-451D-489DD3908508}"/>
          </ac:spMkLst>
        </pc:spChg>
        <pc:spChg chg="add mod">
          <ac:chgData name="McCloskey, Ross" userId="b1990487-ee44-4922-b58f-5b2980a02730" providerId="ADAL" clId="{7D443C21-FD7D-4E65-8C72-B41829F67170}" dt="2026-10-11T17:04:31.520" v="64941" actId="1076"/>
          <ac:spMkLst>
            <pc:docMk/>
            <pc:sldMk cId="3316263188" sldId="293"/>
            <ac:spMk id="10" creationId="{21C46BA1-20A6-7887-A14F-93E0E75F1890}"/>
          </ac:spMkLst>
        </pc:spChg>
        <pc:spChg chg="add del mod">
          <ac:chgData name="McCloskey, Ross" userId="b1990487-ee44-4922-b58f-5b2980a02730" providerId="ADAL" clId="{7D443C21-FD7D-4E65-8C72-B41829F67170}" dt="2026-10-11T16:32:23.512" v="63970" actId="478"/>
          <ac:spMkLst>
            <pc:docMk/>
            <pc:sldMk cId="3316263188" sldId="293"/>
            <ac:spMk id="12" creationId="{1D7D15DF-E3A4-0AD5-1051-9BE605C2BB19}"/>
          </ac:spMkLst>
        </pc:spChg>
        <pc:spChg chg="add del mod">
          <ac:chgData name="McCloskey, Ross" userId="b1990487-ee44-4922-b58f-5b2980a02730" providerId="ADAL" clId="{7D443C21-FD7D-4E65-8C72-B41829F67170}" dt="2026-10-11T16:32:24.852" v="63971" actId="478"/>
          <ac:spMkLst>
            <pc:docMk/>
            <pc:sldMk cId="3316263188" sldId="293"/>
            <ac:spMk id="14" creationId="{81F701CA-06FE-D30E-9678-6A38AC0CFC21}"/>
          </ac:spMkLst>
        </pc:spChg>
        <pc:spChg chg="add del mod">
          <ac:chgData name="McCloskey, Ross" userId="b1990487-ee44-4922-b58f-5b2980a02730" providerId="ADAL" clId="{7D443C21-FD7D-4E65-8C72-B41829F67170}" dt="2026-10-11T16:32:29.149" v="63973" actId="478"/>
          <ac:spMkLst>
            <pc:docMk/>
            <pc:sldMk cId="3316263188" sldId="293"/>
            <ac:spMk id="16" creationId="{ADD84DE1-9DE2-0A7F-D0C0-2CC52C93FBDF}"/>
          </ac:spMkLst>
        </pc:spChg>
        <pc:spChg chg="add del mod">
          <ac:chgData name="McCloskey, Ross" userId="b1990487-ee44-4922-b58f-5b2980a02730" providerId="ADAL" clId="{7D443C21-FD7D-4E65-8C72-B41829F67170}" dt="2026-10-11T16:32:31.658" v="63974" actId="478"/>
          <ac:spMkLst>
            <pc:docMk/>
            <pc:sldMk cId="3316263188" sldId="293"/>
            <ac:spMk id="18" creationId="{D40754DF-1DEB-D671-A260-5AA6CE626A8F}"/>
          </ac:spMkLst>
        </pc:spChg>
        <pc:spChg chg="add mod">
          <ac:chgData name="McCloskey, Ross" userId="b1990487-ee44-4922-b58f-5b2980a02730" providerId="ADAL" clId="{7D443C21-FD7D-4E65-8C72-B41829F67170}" dt="2026-10-11T17:04:31.520" v="64941" actId="1076"/>
          <ac:spMkLst>
            <pc:docMk/>
            <pc:sldMk cId="3316263188" sldId="293"/>
            <ac:spMk id="20" creationId="{9C9D3E62-34DE-9FFC-6F63-08DCE5515CBA}"/>
          </ac:spMkLst>
        </pc:spChg>
        <pc:spChg chg="add mod">
          <ac:chgData name="McCloskey, Ross" userId="b1990487-ee44-4922-b58f-5b2980a02730" providerId="ADAL" clId="{7D443C21-FD7D-4E65-8C72-B41829F67170}" dt="2026-10-11T17:04:31.520" v="64941" actId="1076"/>
          <ac:spMkLst>
            <pc:docMk/>
            <pc:sldMk cId="3316263188" sldId="293"/>
            <ac:spMk id="22" creationId="{04DC1D44-3B93-4AE1-E3E8-0C0B5F7F5A01}"/>
          </ac:spMkLst>
        </pc:spChg>
        <pc:spChg chg="add mod">
          <ac:chgData name="McCloskey, Ross" userId="b1990487-ee44-4922-b58f-5b2980a02730" providerId="ADAL" clId="{7D443C21-FD7D-4E65-8C72-B41829F67170}" dt="2026-10-11T17:04:31.520" v="64941" actId="1076"/>
          <ac:spMkLst>
            <pc:docMk/>
            <pc:sldMk cId="3316263188" sldId="293"/>
            <ac:spMk id="24" creationId="{27E33FD1-1CCE-829D-02F4-2B387E44EAC9}"/>
          </ac:spMkLst>
        </pc:spChg>
        <pc:spChg chg="add mod">
          <ac:chgData name="McCloskey, Ross" userId="b1990487-ee44-4922-b58f-5b2980a02730" providerId="ADAL" clId="{7D443C21-FD7D-4E65-8C72-B41829F67170}" dt="2026-10-11T17:04:31.520" v="64941" actId="1076"/>
          <ac:spMkLst>
            <pc:docMk/>
            <pc:sldMk cId="3316263188" sldId="293"/>
            <ac:spMk id="26" creationId="{EE502543-898F-BD4A-CED0-A1138E23A84C}"/>
          </ac:spMkLst>
        </pc:spChg>
        <pc:spChg chg="add mod">
          <ac:chgData name="McCloskey, Ross" userId="b1990487-ee44-4922-b58f-5b2980a02730" providerId="ADAL" clId="{7D443C21-FD7D-4E65-8C72-B41829F67170}" dt="2026-10-11T16:35:34.326" v="64127" actId="12"/>
          <ac:spMkLst>
            <pc:docMk/>
            <pc:sldMk cId="3316263188" sldId="293"/>
            <ac:spMk id="27" creationId="{E88D3E28-29A0-8D63-582B-A53EACCEECA1}"/>
          </ac:spMkLst>
        </pc:spChg>
        <pc:spChg chg="add mod ord">
          <ac:chgData name="McCloskey, Ross" userId="b1990487-ee44-4922-b58f-5b2980a02730" providerId="ADAL" clId="{7D443C21-FD7D-4E65-8C72-B41829F67170}" dt="2026-10-12T21:46:29.086" v="69403" actId="20577"/>
          <ac:spMkLst>
            <pc:docMk/>
            <pc:sldMk cId="3316263188" sldId="293"/>
            <ac:spMk id="28" creationId="{4A39E1E5-F1D3-DF24-638C-9F969DD90D08}"/>
          </ac:spMkLst>
        </pc:spChg>
        <pc:spChg chg="add mod">
          <ac:chgData name="McCloskey, Ross" userId="b1990487-ee44-4922-b58f-5b2980a02730" providerId="ADAL" clId="{7D443C21-FD7D-4E65-8C72-B41829F67170}" dt="2026-10-11T17:04:40.241" v="64945" actId="1076"/>
          <ac:spMkLst>
            <pc:docMk/>
            <pc:sldMk cId="3316263188" sldId="293"/>
            <ac:spMk id="30" creationId="{A5F90D40-9418-37EE-5931-D6556B4EBEC9}"/>
          </ac:spMkLst>
        </pc:spChg>
        <pc:spChg chg="add mod">
          <ac:chgData name="McCloskey, Ross" userId="b1990487-ee44-4922-b58f-5b2980a02730" providerId="ADAL" clId="{7D443C21-FD7D-4E65-8C72-B41829F67170}" dt="2026-10-11T17:04:12.567" v="64940" actId="571"/>
          <ac:spMkLst>
            <pc:docMk/>
            <pc:sldMk cId="3316263188" sldId="293"/>
            <ac:spMk id="31" creationId="{837C61D8-9949-1620-17B5-F016BA8B24FF}"/>
          </ac:spMkLst>
        </pc:spChg>
        <pc:spChg chg="add mod">
          <ac:chgData name="McCloskey, Ross" userId="b1990487-ee44-4922-b58f-5b2980a02730" providerId="ADAL" clId="{7D443C21-FD7D-4E65-8C72-B41829F67170}" dt="2026-10-11T17:04:12.567" v="64940" actId="571"/>
          <ac:spMkLst>
            <pc:docMk/>
            <pc:sldMk cId="3316263188" sldId="293"/>
            <ac:spMk id="32" creationId="{A9568BBF-84D9-26E5-39AC-443B13BB6151}"/>
          </ac:spMkLst>
        </pc:spChg>
        <pc:spChg chg="add mod">
          <ac:chgData name="McCloskey, Ross" userId="b1990487-ee44-4922-b58f-5b2980a02730" providerId="ADAL" clId="{7D443C21-FD7D-4E65-8C72-B41829F67170}" dt="2026-10-11T17:04:12.567" v="64940" actId="571"/>
          <ac:spMkLst>
            <pc:docMk/>
            <pc:sldMk cId="3316263188" sldId="293"/>
            <ac:spMk id="33" creationId="{D8572343-9AE2-9C41-1382-E1FEEBF1A645}"/>
          </ac:spMkLst>
        </pc:spChg>
        <pc:spChg chg="add mod">
          <ac:chgData name="McCloskey, Ross" userId="b1990487-ee44-4922-b58f-5b2980a02730" providerId="ADAL" clId="{7D443C21-FD7D-4E65-8C72-B41829F67170}" dt="2026-10-11T17:04:12.567" v="64940" actId="571"/>
          <ac:spMkLst>
            <pc:docMk/>
            <pc:sldMk cId="3316263188" sldId="293"/>
            <ac:spMk id="34" creationId="{564D993D-E80A-BEE7-F9AF-A870AA0EA909}"/>
          </ac:spMkLst>
        </pc:spChg>
        <pc:spChg chg="add mod">
          <ac:chgData name="McCloskey, Ross" userId="b1990487-ee44-4922-b58f-5b2980a02730" providerId="ADAL" clId="{7D443C21-FD7D-4E65-8C72-B41829F67170}" dt="2026-10-11T17:04:12.567" v="64940" actId="571"/>
          <ac:spMkLst>
            <pc:docMk/>
            <pc:sldMk cId="3316263188" sldId="293"/>
            <ac:spMk id="35" creationId="{069CAED6-9BC2-CEB6-B515-0701D1097EDE}"/>
          </ac:spMkLst>
        </pc:spChg>
        <pc:spChg chg="add mod">
          <ac:chgData name="McCloskey, Ross" userId="b1990487-ee44-4922-b58f-5b2980a02730" providerId="ADAL" clId="{7D443C21-FD7D-4E65-8C72-B41829F67170}" dt="2026-10-11T17:04:12.567" v="64940" actId="571"/>
          <ac:spMkLst>
            <pc:docMk/>
            <pc:sldMk cId="3316263188" sldId="293"/>
            <ac:spMk id="36" creationId="{A23FFAE0-B1DD-6EE8-8FC0-414E6DA3B023}"/>
          </ac:spMkLst>
        </pc:spChg>
        <pc:spChg chg="add mod">
          <ac:chgData name="McCloskey, Ross" userId="b1990487-ee44-4922-b58f-5b2980a02730" providerId="ADAL" clId="{7D443C21-FD7D-4E65-8C72-B41829F67170}" dt="2026-10-11T17:04:12.567" v="64940" actId="571"/>
          <ac:spMkLst>
            <pc:docMk/>
            <pc:sldMk cId="3316263188" sldId="293"/>
            <ac:spMk id="37" creationId="{F9F0158C-D1F6-0077-89FE-50FA7E5E6ABA}"/>
          </ac:spMkLst>
        </pc:spChg>
        <pc:spChg chg="add del mod">
          <ac:chgData name="McCloskey, Ross" userId="b1990487-ee44-4922-b58f-5b2980a02730" providerId="ADAL" clId="{7D443C21-FD7D-4E65-8C72-B41829F67170}" dt="2026-10-11T17:04:11.951" v="64939" actId="767"/>
          <ac:spMkLst>
            <pc:docMk/>
            <pc:sldMk cId="3316263188" sldId="293"/>
            <ac:spMk id="38" creationId="{9E22BC03-77F9-2C3A-B577-20912DBB973B}"/>
          </ac:spMkLst>
        </pc:spChg>
        <pc:picChg chg="add del mod">
          <ac:chgData name="McCloskey, Ross" userId="b1990487-ee44-4922-b58f-5b2980a02730" providerId="ADAL" clId="{7D443C21-FD7D-4E65-8C72-B41829F67170}" dt="2026-10-11T16:33:56.599" v="63999" actId="478"/>
          <ac:picMkLst>
            <pc:docMk/>
            <pc:sldMk cId="3316263188" sldId="293"/>
            <ac:picMk id="5" creationId="{1FA9A728-5BDB-2DD4-DAA1-EAEDFC207FDA}"/>
          </ac:picMkLst>
        </pc:picChg>
        <pc:picChg chg="add del">
          <ac:chgData name="McCloskey, Ross" userId="b1990487-ee44-4922-b58f-5b2980a02730" providerId="ADAL" clId="{7D443C21-FD7D-4E65-8C72-B41829F67170}" dt="2026-10-11T16:27:34.104" v="63910" actId="22"/>
          <ac:picMkLst>
            <pc:docMk/>
            <pc:sldMk cId="3316263188" sldId="293"/>
            <ac:picMk id="8" creationId="{A94A2F41-7CD5-53E0-1A1B-B78DE2961ED9}"/>
          </ac:picMkLst>
        </pc:picChg>
      </pc:sldChg>
      <pc:sldChg chg="addSp delSp modSp add mod modTransition modNotesTx">
        <pc:chgData name="McCloskey, Ross" userId="b1990487-ee44-4922-b58f-5b2980a02730" providerId="ADAL" clId="{7D443C21-FD7D-4E65-8C72-B41829F67170}" dt="2026-10-11T17:21:55.785" v="65459" actId="20577"/>
        <pc:sldMkLst>
          <pc:docMk/>
          <pc:sldMk cId="4288031876" sldId="294"/>
        </pc:sldMkLst>
        <pc:spChg chg="mod">
          <ac:chgData name="McCloskey, Ross" userId="b1990487-ee44-4922-b58f-5b2980a02730" providerId="ADAL" clId="{7D443C21-FD7D-4E65-8C72-B41829F67170}" dt="2026-10-10T20:40:55.991" v="60445"/>
          <ac:spMkLst>
            <pc:docMk/>
            <pc:sldMk cId="4288031876" sldId="294"/>
            <ac:spMk id="2" creationId="{51150834-5FB1-DCF3-9412-1E83D8CC89C2}"/>
          </ac:spMkLst>
        </pc:spChg>
        <pc:picChg chg="add mod">
          <ac:chgData name="McCloskey, Ross" userId="b1990487-ee44-4922-b58f-5b2980a02730" providerId="ADAL" clId="{7D443C21-FD7D-4E65-8C72-B41829F67170}" dt="2026-10-08T17:05:15.153" v="42447" actId="14100"/>
          <ac:picMkLst>
            <pc:docMk/>
            <pc:sldMk cId="4288031876" sldId="294"/>
            <ac:picMk id="8" creationId="{B3DB197F-6F82-7DF2-2642-58D76DF429EB}"/>
          </ac:picMkLst>
        </pc:picChg>
        <pc:picChg chg="add mod modCrop">
          <ac:chgData name="McCloskey, Ross" userId="b1990487-ee44-4922-b58f-5b2980a02730" providerId="ADAL" clId="{7D443C21-FD7D-4E65-8C72-B41829F67170}" dt="2026-10-08T17:04:36.337" v="42436" actId="1076"/>
          <ac:picMkLst>
            <pc:docMk/>
            <pc:sldMk cId="4288031876" sldId="294"/>
            <ac:picMk id="12" creationId="{57A572CA-1E05-D65E-FD1C-57BF815EA4F0}"/>
          </ac:picMkLst>
        </pc:picChg>
        <pc:picChg chg="add mod">
          <ac:chgData name="McCloskey, Ross" userId="b1990487-ee44-4922-b58f-5b2980a02730" providerId="ADAL" clId="{7D443C21-FD7D-4E65-8C72-B41829F67170}" dt="2026-10-08T17:05:15.991" v="42448" actId="1076"/>
          <ac:picMkLst>
            <pc:docMk/>
            <pc:sldMk cId="4288031876" sldId="294"/>
            <ac:picMk id="14" creationId="{EB646FFA-A2BF-E21E-BE4E-81E9EEF2C4A7}"/>
          </ac:picMkLst>
        </pc:picChg>
        <pc:picChg chg="add mod">
          <ac:chgData name="McCloskey, Ross" userId="b1990487-ee44-4922-b58f-5b2980a02730" providerId="ADAL" clId="{7D443C21-FD7D-4E65-8C72-B41829F67170}" dt="2026-10-08T17:05:40.384" v="42456" actId="1076"/>
          <ac:picMkLst>
            <pc:docMk/>
            <pc:sldMk cId="4288031876" sldId="294"/>
            <ac:picMk id="17" creationId="{12852A16-B58E-F6FC-8396-D94557173695}"/>
          </ac:picMkLst>
        </pc:picChg>
      </pc:sldChg>
      <pc:sldChg chg="modSp add mod modTransition modNotesTx">
        <pc:chgData name="McCloskey, Ross" userId="b1990487-ee44-4922-b58f-5b2980a02730" providerId="ADAL" clId="{7D443C21-FD7D-4E65-8C72-B41829F67170}" dt="2026-10-11T17:28:41.283" v="66126" actId="20577"/>
        <pc:sldMkLst>
          <pc:docMk/>
          <pc:sldMk cId="1224442207" sldId="295"/>
        </pc:sldMkLst>
        <pc:spChg chg="mod">
          <ac:chgData name="McCloskey, Ross" userId="b1990487-ee44-4922-b58f-5b2980a02730" providerId="ADAL" clId="{7D443C21-FD7D-4E65-8C72-B41829F67170}" dt="2026-10-11T17:27:48.222" v="66052" actId="255"/>
          <ac:spMkLst>
            <pc:docMk/>
            <pc:sldMk cId="1224442207" sldId="295"/>
            <ac:spMk id="2" creationId="{F9E5161E-02A7-5DD1-E29A-7F38A926484D}"/>
          </ac:spMkLst>
        </pc:spChg>
        <pc:spChg chg="mod">
          <ac:chgData name="McCloskey, Ross" userId="b1990487-ee44-4922-b58f-5b2980a02730" providerId="ADAL" clId="{7D443C21-FD7D-4E65-8C72-B41829F67170}" dt="2026-10-11T17:28:24.410" v="66101" actId="255"/>
          <ac:spMkLst>
            <pc:docMk/>
            <pc:sldMk cId="1224442207" sldId="295"/>
            <ac:spMk id="3" creationId="{0DF5F42B-5B28-54E8-C738-C505F433CF7A}"/>
          </ac:spMkLst>
        </pc:spChg>
      </pc:sldChg>
      <pc:sldChg chg="addSp delSp modSp add mod modNotesTx">
        <pc:chgData name="McCloskey, Ross" userId="b1990487-ee44-4922-b58f-5b2980a02730" providerId="ADAL" clId="{7D443C21-FD7D-4E65-8C72-B41829F67170}" dt="2026-10-10T20:46:29.814" v="60469"/>
        <pc:sldMkLst>
          <pc:docMk/>
          <pc:sldMk cId="4064069303" sldId="297"/>
        </pc:sldMkLst>
        <pc:spChg chg="mod">
          <ac:chgData name="McCloskey, Ross" userId="b1990487-ee44-4922-b58f-5b2980a02730" providerId="ADAL" clId="{7D443C21-FD7D-4E65-8C72-B41829F67170}" dt="2026-10-10T20:40:58.504" v="60447"/>
          <ac:spMkLst>
            <pc:docMk/>
            <pc:sldMk cId="4064069303" sldId="297"/>
            <ac:spMk id="2" creationId="{EBC75D4E-FDDB-5963-434D-B2D2D7A7B75B}"/>
          </ac:spMkLst>
        </pc:spChg>
        <pc:spChg chg="mod">
          <ac:chgData name="McCloskey, Ross" userId="b1990487-ee44-4922-b58f-5b2980a02730" providerId="ADAL" clId="{7D443C21-FD7D-4E65-8C72-B41829F67170}" dt="2026-10-10T20:46:29.814" v="60469"/>
          <ac:spMkLst>
            <pc:docMk/>
            <pc:sldMk cId="4064069303" sldId="297"/>
            <ac:spMk id="3" creationId="{7DE28272-3A87-2ABE-16C9-D5AC44A20755}"/>
          </ac:spMkLst>
        </pc:spChg>
        <pc:spChg chg="add mod">
          <ac:chgData name="McCloskey, Ross" userId="b1990487-ee44-4922-b58f-5b2980a02730" providerId="ADAL" clId="{7D443C21-FD7D-4E65-8C72-B41829F67170}" dt="2026-10-10T20:07:04.452" v="60287" actId="1036"/>
          <ac:spMkLst>
            <pc:docMk/>
            <pc:sldMk cId="4064069303" sldId="297"/>
            <ac:spMk id="4" creationId="{95AEC774-F1DB-7101-A876-0AD6AC6F916B}"/>
          </ac:spMkLst>
        </pc:spChg>
        <pc:spChg chg="add mod">
          <ac:chgData name="McCloskey, Ross" userId="b1990487-ee44-4922-b58f-5b2980a02730" providerId="ADAL" clId="{7D443C21-FD7D-4E65-8C72-B41829F67170}" dt="2026-10-10T20:07:09.580" v="60288" actId="1076"/>
          <ac:spMkLst>
            <pc:docMk/>
            <pc:sldMk cId="4064069303" sldId="297"/>
            <ac:spMk id="9" creationId="{7AFCA215-E713-3703-203D-DDA1AADC518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2F02B8-4FA1-4FC2-9CCB-CC07671CD3EF}"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C1AA38-86D1-4674-9C68-DF52A9C1CC65}" type="slidenum">
              <a:rPr lang="en-US" smtClean="0"/>
              <a:t>‹#›</a:t>
            </a:fld>
            <a:endParaRPr lang="en-US"/>
          </a:p>
        </p:txBody>
      </p:sp>
    </p:spTree>
    <p:extLst>
      <p:ext uri="{BB962C8B-B14F-4D97-AF65-F5344CB8AC3E}">
        <p14:creationId xmlns:p14="http://schemas.microsoft.com/office/powerpoint/2010/main" val="680762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Hello! My name is William McCloskey and today I’ll be presenting this research I worked on as an undergrad looking at larval fish assemblages in the northern California Current ecosystem</a:t>
            </a:r>
          </a:p>
        </p:txBody>
      </p:sp>
      <p:sp>
        <p:nvSpPr>
          <p:cNvPr id="4" name="Slide Number Placeholder 3"/>
          <p:cNvSpPr>
            <a:spLocks noGrp="1"/>
          </p:cNvSpPr>
          <p:nvPr>
            <p:ph type="sldNum" sz="quarter" idx="5"/>
          </p:nvPr>
        </p:nvSpPr>
        <p:spPr/>
        <p:txBody>
          <a:bodyPr/>
          <a:lstStyle/>
          <a:p>
            <a:fld id="{3AC1AA38-86D1-4674-9C68-DF52A9C1CC65}" type="slidenum">
              <a:rPr lang="en-US" smtClean="0"/>
              <a:t>1</a:t>
            </a:fld>
            <a:endParaRPr lang="en-US"/>
          </a:p>
        </p:txBody>
      </p:sp>
    </p:spTree>
    <p:extLst>
      <p:ext uri="{BB962C8B-B14F-4D97-AF65-F5344CB8AC3E}">
        <p14:creationId xmlns:p14="http://schemas.microsoft.com/office/powerpoint/2010/main" val="1108794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First, I’d like to share some context for the study</a:t>
            </a:r>
          </a:p>
        </p:txBody>
      </p:sp>
      <p:sp>
        <p:nvSpPr>
          <p:cNvPr id="4" name="Slide Number Placeholder 3"/>
          <p:cNvSpPr>
            <a:spLocks noGrp="1"/>
          </p:cNvSpPr>
          <p:nvPr>
            <p:ph type="sldNum" sz="quarter" idx="5"/>
          </p:nvPr>
        </p:nvSpPr>
        <p:spPr/>
        <p:txBody>
          <a:bodyPr/>
          <a:lstStyle/>
          <a:p>
            <a:fld id="{3AC1AA38-86D1-4674-9C68-DF52A9C1CC65}" type="slidenum">
              <a:rPr lang="en-US" smtClean="0"/>
              <a:t>2</a:t>
            </a:fld>
            <a:endParaRPr lang="en-US"/>
          </a:p>
        </p:txBody>
      </p:sp>
    </p:spTree>
    <p:extLst>
      <p:ext uri="{BB962C8B-B14F-4D97-AF65-F5344CB8AC3E}">
        <p14:creationId xmlns:p14="http://schemas.microsoft.com/office/powerpoint/2010/main" val="475864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dirty="0"/>
              <a:t>The larval fish assemblage (LFA) refers to a temporary component of the zooplankton community consisting of larval-stage ichthyoplankton (Richardson et al., 1980)</a:t>
            </a:r>
          </a:p>
          <a:p>
            <a:pPr marL="171450" lvl="0" indent="-171450">
              <a:buFont typeface="Arial" panose="020B0604020202020204" pitchFamily="34" charset="0"/>
              <a:buChar char="•"/>
            </a:pPr>
            <a:r>
              <a:rPr lang="en-US" dirty="0"/>
              <a:t>Many previous studies have established that the LFA is found almost entirely in the upper portion of the water column (Auth and Brodeur, 2006; Thompson et al., 2014)</a:t>
            </a:r>
          </a:p>
          <a:p>
            <a:pPr marL="628650" lvl="1" indent="-171450">
              <a:buFont typeface="Arial" panose="020B0604020202020204" pitchFamily="34" charset="0"/>
              <a:buChar char="•"/>
            </a:pPr>
            <a:r>
              <a:rPr lang="en-US" dirty="0"/>
              <a:t>Including one by Auth which found 96% of fish larvae in the upper 100 meters (Auth et al., 2007)</a:t>
            </a:r>
          </a:p>
          <a:p>
            <a:pPr marL="171450" lvl="0" indent="-171450">
              <a:buFont typeface="Arial" panose="020B0604020202020204" pitchFamily="34" charset="0"/>
              <a:buChar char="•"/>
            </a:pPr>
            <a:r>
              <a:rPr lang="en-US" dirty="0"/>
              <a:t>Larvae aggregate both horizontally and vertically (Pattrick et al., 2021) with vertical distributions influenced by migration in some cases</a:t>
            </a:r>
          </a:p>
          <a:p>
            <a:pPr marL="628650" lvl="1" indent="-171450">
              <a:buFont typeface="Arial" panose="020B0604020202020204" pitchFamily="34" charset="0"/>
              <a:buChar char="•"/>
            </a:pPr>
            <a:r>
              <a:rPr lang="en-US" dirty="0"/>
              <a:t>Some larvae migrate vertically to reach or maintain a position </a:t>
            </a:r>
            <a:r>
              <a:rPr lang="en-US" sz="1200" i="0" kern="1200" dirty="0">
                <a:solidFill>
                  <a:schemeClr val="tx1"/>
                </a:solidFill>
                <a:effectLst/>
                <a:latin typeface="+mn-lt"/>
                <a:ea typeface="+mn-ea"/>
                <a:cs typeface="+mn-cs"/>
              </a:rPr>
              <a:t>within favorable water masses (Huebert et al., 2010)</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kern="1200" dirty="0">
                <a:solidFill>
                  <a:schemeClr val="tx1"/>
                </a:solidFill>
                <a:effectLst/>
                <a:latin typeface="+mn-lt"/>
                <a:ea typeface="+mn-ea"/>
                <a:cs typeface="+mn-cs"/>
              </a:rPr>
              <a:t>There is evidence of some larval fishes displaying DVM (Auth, 2007)</a:t>
            </a:r>
          </a:p>
          <a:p>
            <a:pPr marL="171450" lvl="0" indent="-171450">
              <a:buClrTx/>
              <a:buSzTx/>
              <a:buFont typeface="Arial" panose="020B0604020202020204" pitchFamily="34" charset="0"/>
              <a:buChar char="•"/>
            </a:pPr>
            <a:r>
              <a:rPr lang="en-US" dirty="0"/>
              <a:t>The LFA is known to be influenced by broad oceanographic conditions and finer-scale environmental factors</a:t>
            </a:r>
          </a:p>
          <a:p>
            <a:pPr marL="628650" lvl="1" indent="-171450">
              <a:buFont typeface="Arial" panose="020B0604020202020204" pitchFamily="34" charset="0"/>
              <a:buChar char="•"/>
            </a:pPr>
            <a:r>
              <a:rPr lang="en-US" dirty="0"/>
              <a:t>Finer-scale environmental factors include…</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kern="1200" dirty="0">
                <a:solidFill>
                  <a:schemeClr val="tx1"/>
                </a:solidFill>
                <a:effectLst/>
                <a:latin typeface="+mn-lt"/>
                <a:ea typeface="+mn-ea"/>
                <a:cs typeface="+mn-cs"/>
              </a:rPr>
              <a:t>Temperature, salinity, and DO </a:t>
            </a:r>
            <a:r>
              <a:rPr lang="en-US" dirty="0"/>
              <a:t>(Pepin, 1991; </a:t>
            </a:r>
            <a:r>
              <a:rPr lang="en-US" sz="1200" kern="1200" dirty="0" err="1">
                <a:solidFill>
                  <a:schemeClr val="tx1"/>
                </a:solidFill>
                <a:effectLst/>
                <a:latin typeface="+mn-lt"/>
                <a:ea typeface="+mn-ea"/>
                <a:cs typeface="+mn-cs"/>
              </a:rPr>
              <a:t>Bœuf</a:t>
            </a:r>
            <a:r>
              <a:rPr lang="en-US" sz="1200" kern="1200" dirty="0">
                <a:solidFill>
                  <a:schemeClr val="tx1"/>
                </a:solidFill>
                <a:effectLst/>
                <a:latin typeface="+mn-lt"/>
                <a:ea typeface="+mn-ea"/>
                <a:cs typeface="+mn-cs"/>
              </a:rPr>
              <a:t> and Payan, 2001; Johnson-Colegrove et al., 2015)</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Primary productivity which </a:t>
            </a:r>
            <a:r>
              <a:rPr lang="en-US" sz="1200" i="0" kern="1200" dirty="0">
                <a:solidFill>
                  <a:schemeClr val="tx1"/>
                </a:solidFill>
                <a:effectLst/>
                <a:latin typeface="+mn-lt"/>
                <a:ea typeface="+mn-ea"/>
                <a:cs typeface="+mn-cs"/>
              </a:rPr>
              <a:t>may indirectly indicate prey availability (Whiney et al., 2021)</a:t>
            </a: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3AC1AA38-86D1-4674-9C68-DF52A9C1CC65}" type="slidenum">
              <a:rPr lang="en-US" smtClean="0"/>
              <a:t>3</a:t>
            </a:fld>
            <a:endParaRPr lang="en-US"/>
          </a:p>
        </p:txBody>
      </p:sp>
    </p:spTree>
    <p:extLst>
      <p:ext uri="{BB962C8B-B14F-4D97-AF65-F5344CB8AC3E}">
        <p14:creationId xmlns:p14="http://schemas.microsoft.com/office/powerpoint/2010/main" val="9134331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northern California Current ecosystem (NCC) is a dynamic eastern boundary current system</a:t>
            </a:r>
          </a:p>
          <a:p>
            <a:pPr marL="628650" lvl="1" indent="-171450">
              <a:buFont typeface="Arial" panose="020B0604020202020204" pitchFamily="34" charset="0"/>
              <a:buChar char="•"/>
            </a:pPr>
            <a:r>
              <a:rPr lang="en-US" dirty="0"/>
              <a:t>With upwelling regimes that vary latitudinally and seasonally (Schmid et al., 2023)</a:t>
            </a:r>
          </a:p>
          <a:p>
            <a:pPr marL="171450" indent="-171450">
              <a:buFont typeface="Arial" panose="020B0604020202020204" pitchFamily="34" charset="0"/>
              <a:buChar char="•"/>
            </a:pPr>
            <a:r>
              <a:rPr lang="en-US" dirty="0"/>
              <a:t>Supports several economically and culturally important fish populations</a:t>
            </a:r>
          </a:p>
          <a:p>
            <a:pPr marL="628650" lvl="1" indent="-171450">
              <a:buFont typeface="Arial" panose="020B0604020202020204" pitchFamily="34" charset="0"/>
              <a:buChar char="•"/>
            </a:pPr>
            <a:r>
              <a:rPr lang="en-US" dirty="0"/>
              <a:t>Many of which are tightly coupled to seasonal oceanographic processes during early life stages (Auth, 2011)</a:t>
            </a:r>
          </a:p>
          <a:p>
            <a:pPr marL="171450" lvl="0" indent="-171450">
              <a:buFont typeface="Arial" panose="020B0604020202020204" pitchFamily="34" charset="0"/>
              <a:buChar char="•"/>
            </a:pPr>
            <a:r>
              <a:rPr lang="en-US" dirty="0"/>
              <a:t>Peak spawning occurs in winter for many fish species</a:t>
            </a:r>
          </a:p>
          <a:p>
            <a:pPr marL="628650" lvl="1" indent="-171450">
              <a:buFont typeface="Arial" panose="020B0604020202020204" pitchFamily="34" charset="0"/>
              <a:buChar char="•"/>
            </a:pPr>
            <a:r>
              <a:rPr lang="en-US" dirty="0"/>
              <a:t>Time of greatest larval fish abundance and diversity in the NCC ecosystem (Brodeur et al., 2008)</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Offshore transport is minimal due to the relaxation of coastal upwelling (Doyle, 1992; Brodeur et al., 2008)</a:t>
            </a:r>
          </a:p>
          <a:p>
            <a:pPr marL="171450" lvl="0" indent="-171450">
              <a:buFont typeface="Arial" panose="020B0604020202020204" pitchFamily="34" charset="0"/>
              <a:buChar char="•"/>
            </a:pPr>
            <a:r>
              <a:rPr lang="en-US" dirty="0"/>
              <a:t>Larval dynamics can be useful indicators</a:t>
            </a:r>
          </a:p>
          <a:p>
            <a:pPr marL="628650" lvl="1" indent="-171450">
              <a:buClrTx/>
              <a:buSzTx/>
              <a:buFont typeface="Arial" panose="020B0604020202020204" pitchFamily="34" charset="0"/>
              <a:buChar char="•"/>
            </a:pPr>
            <a:r>
              <a:rPr lang="en-US" dirty="0"/>
              <a:t>Can serve as an early estimate of recruitment potential and spawning success (Brodeur et al., 2008)</a:t>
            </a:r>
          </a:p>
          <a:p>
            <a:pPr marL="628650" lvl="1" indent="-171450">
              <a:buClrTx/>
              <a:buSzTx/>
              <a:buFont typeface="Arial" panose="020B0604020202020204" pitchFamily="34" charset="0"/>
              <a:buChar char="•"/>
            </a:pPr>
            <a:r>
              <a:rPr lang="en-US" dirty="0"/>
              <a:t>They’re also important prey for other taxa including ocean-entering juvenile salmon, for example (Daly et al., 2013)</a:t>
            </a:r>
          </a:p>
          <a:p>
            <a:pPr marL="171450" lvl="0" indent="-171450">
              <a:buClrTx/>
              <a:buSzTx/>
              <a:buFont typeface="Arial" panose="020B0604020202020204" pitchFamily="34" charset="0"/>
              <a:buChar char="•"/>
            </a:pPr>
            <a:endParaRPr lang="en-US" dirty="0"/>
          </a:p>
          <a:p>
            <a:pPr marL="171450" lvl="0" indent="-171450">
              <a:buClrTx/>
              <a:buSzTx/>
              <a:buFont typeface="Arial" panose="020B0604020202020204" pitchFamily="34" charset="0"/>
              <a:buChar char="•"/>
            </a:pPr>
            <a:r>
              <a:rPr lang="en-US" dirty="0"/>
              <a:t>Despite all of this, winter ichthyoplankton research is relatively scarce, compared to spring and summer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kern="1200" dirty="0">
                <a:solidFill>
                  <a:schemeClr val="tx1"/>
                </a:solidFill>
                <a:effectLst/>
                <a:latin typeface="+mn-lt"/>
                <a:ea typeface="+mn-ea"/>
                <a:cs typeface="+mn-cs"/>
              </a:rPr>
              <a:t>We are not aware of any previous depth-stratified studies of ichthyoplankton abundance or assemblage composition during winter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kern="1200" dirty="0">
                <a:solidFill>
                  <a:schemeClr val="tx1"/>
                </a:solidFill>
                <a:effectLst/>
                <a:latin typeface="+mn-lt"/>
                <a:ea typeface="+mn-ea"/>
                <a:cs typeface="+mn-cs"/>
              </a:rPr>
              <a:t>The degree to which existing winter ichthyoplankton research is biased by vertical distributions and migration remains unknown. </a:t>
            </a:r>
            <a:endParaRPr lang="en-US" dirty="0"/>
          </a:p>
          <a:p>
            <a:pPr marL="171450" lvl="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AC1AA38-86D1-4674-9C68-DF52A9C1CC65}" type="slidenum">
              <a:rPr lang="en-US" smtClean="0"/>
              <a:t>4</a:t>
            </a:fld>
            <a:endParaRPr lang="en-US"/>
          </a:p>
        </p:txBody>
      </p:sp>
    </p:spTree>
    <p:extLst>
      <p:ext uri="{BB962C8B-B14F-4D97-AF65-F5344CB8AC3E}">
        <p14:creationId xmlns:p14="http://schemas.microsoft.com/office/powerpoint/2010/main" val="2020108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6BE50-82BA-C1D4-0939-208B7D1798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FF6A0B-8E57-A30C-7482-87CB911B7F2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D03172E-767D-B4D8-F4EA-806FE35D5DFC}"/>
              </a:ext>
            </a:extLst>
          </p:cNvPr>
          <p:cNvSpPr>
            <a:spLocks noGrp="1"/>
          </p:cNvSpPr>
          <p:nvPr>
            <p:ph type="body" idx="1"/>
          </p:nvPr>
        </p:nvSpPr>
        <p:spPr/>
        <p:txBody>
          <a:bodyPr/>
          <a:lstStyle/>
          <a:p>
            <a:pPr marL="171450" lvl="0" indent="-171450">
              <a:buFont typeface="Arial" panose="020B0604020202020204" pitchFamily="34" charset="0"/>
              <a:buChar char="•"/>
            </a:pPr>
            <a:r>
              <a:rPr lang="en-US" dirty="0"/>
              <a:t>We also know that peak spawning occurs in winter for many fish species</a:t>
            </a:r>
          </a:p>
          <a:p>
            <a:pPr marL="628650" lvl="1" indent="-171450">
              <a:buFont typeface="Arial" panose="020B0604020202020204" pitchFamily="34" charset="0"/>
              <a:buChar char="•"/>
            </a:pPr>
            <a:r>
              <a:rPr lang="en-US" dirty="0"/>
              <a:t>Time of greatest larval fish abundance and diversity in the NCC ecosystem (Brodeur et al., 2008)</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Offshore transport is minimal (Doyle, 1992; Brodeur et al., 2008)</a:t>
            </a:r>
          </a:p>
          <a:p>
            <a:pPr marL="171450" lvl="0" indent="-171450">
              <a:buFont typeface="Arial" panose="020B0604020202020204" pitchFamily="34" charset="0"/>
              <a:buChar char="•"/>
            </a:pPr>
            <a:r>
              <a:rPr lang="en-US" dirty="0"/>
              <a:t>Larval dynamics can be useful indicators</a:t>
            </a:r>
          </a:p>
          <a:p>
            <a:pPr marL="628650" lvl="1" indent="-171450">
              <a:buFont typeface="Arial" panose="020B0604020202020204" pitchFamily="34" charset="0"/>
              <a:buChar char="•"/>
            </a:pPr>
            <a:r>
              <a:rPr lang="en-US" dirty="0"/>
              <a:t>Can serve as an early estimate of recruitment potential and spawning success (Brodeur et al., 2008)</a:t>
            </a:r>
          </a:p>
          <a:p>
            <a:pPr marL="628650" lvl="1" indent="-171450">
              <a:buFont typeface="Arial" panose="020B0604020202020204" pitchFamily="34" charset="0"/>
              <a:buChar char="•"/>
            </a:pPr>
            <a:r>
              <a:rPr lang="en-US" dirty="0"/>
              <a:t>They’re also important prey for other taxa including ocean-entering juvenile salmon, for example(Daly et al., 2013)</a:t>
            </a:r>
          </a:p>
          <a:p>
            <a:pPr marL="628650" lvl="1" indent="-171450">
              <a:buFont typeface="Arial" panose="020B0604020202020204" pitchFamily="34" charset="0"/>
              <a:buChar char="•"/>
            </a:pPr>
            <a:r>
              <a:rPr lang="en-US" dirty="0"/>
              <a:t>This is all under the backdrop of ichthyoplankton surveys being relatively low-tech and low-cost compared to other quantitative assessments of diverse fish communities (Koslow and Wright, 2016)</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Despite all of this, winter ichthyoplankton research is relatively scarce, compared to spring and summer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kern="1200" dirty="0">
                <a:solidFill>
                  <a:schemeClr val="tx1"/>
                </a:solidFill>
                <a:effectLst/>
                <a:latin typeface="+mn-lt"/>
                <a:ea typeface="+mn-ea"/>
                <a:cs typeface="+mn-cs"/>
              </a:rPr>
              <a:t>We are not aware of any previous depth-stratified studies of ichthyoplankton abundance or assemblage composition during winter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0" kern="1200" dirty="0">
                <a:solidFill>
                  <a:schemeClr val="tx1"/>
                </a:solidFill>
                <a:effectLst/>
                <a:latin typeface="+mn-lt"/>
                <a:ea typeface="+mn-ea"/>
                <a:cs typeface="+mn-cs"/>
              </a:rPr>
              <a:t>The degree to which existing winter ichthyoplankton research is biased by vertical distributions and migration remains unknown. </a:t>
            </a:r>
            <a:endParaRPr lang="en-US" dirty="0"/>
          </a:p>
          <a:p>
            <a:pPr marL="0" lv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8C9CDB6D-A801-A64D-AFB1-5BC065CAF61C}"/>
              </a:ext>
            </a:extLst>
          </p:cNvPr>
          <p:cNvSpPr>
            <a:spLocks noGrp="1"/>
          </p:cNvSpPr>
          <p:nvPr>
            <p:ph type="sldNum" sz="quarter" idx="5"/>
          </p:nvPr>
        </p:nvSpPr>
        <p:spPr/>
        <p:txBody>
          <a:bodyPr/>
          <a:lstStyle/>
          <a:p>
            <a:fld id="{3AC1AA38-86D1-4674-9C68-DF52A9C1CC65}" type="slidenum">
              <a:rPr lang="en-US" smtClean="0"/>
              <a:t>5</a:t>
            </a:fld>
            <a:endParaRPr lang="en-US"/>
          </a:p>
        </p:txBody>
      </p:sp>
    </p:spTree>
    <p:extLst>
      <p:ext uri="{BB962C8B-B14F-4D97-AF65-F5344CB8AC3E}">
        <p14:creationId xmlns:p14="http://schemas.microsoft.com/office/powerpoint/2010/main" val="176759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i="0" dirty="0"/>
              <a:t>Essentially read off slide. If not able to see…</a:t>
            </a:r>
          </a:p>
          <a:p>
            <a:pPr marL="228600" indent="-228600">
              <a:buAutoNum type="arabicParenBoth"/>
            </a:pPr>
            <a:r>
              <a:rPr lang="en-US" i="0" dirty="0"/>
              <a:t>Characterize winter ichthyoplankton assemblages in the NCC;</a:t>
            </a:r>
          </a:p>
          <a:p>
            <a:pPr marL="228600" indent="-228600">
              <a:buAutoNum type="arabicParenBoth"/>
            </a:pPr>
            <a:r>
              <a:rPr lang="en-US" i="0" dirty="0"/>
              <a:t>Explain variation in winter ichthyoplankton assemblage composition using fine-scale spatiotemporal and environmental factors; and</a:t>
            </a:r>
          </a:p>
          <a:p>
            <a:pPr marL="228600" indent="-228600">
              <a:buAutoNum type="arabicParenBoth"/>
            </a:pPr>
            <a:r>
              <a:rPr lang="en-US" i="0" dirty="0"/>
              <a:t>Examine taxon-specific diel variation in vertical abundance distribution</a:t>
            </a:r>
          </a:p>
        </p:txBody>
      </p:sp>
      <p:sp>
        <p:nvSpPr>
          <p:cNvPr id="4" name="Slide Number Placeholder 3"/>
          <p:cNvSpPr>
            <a:spLocks noGrp="1"/>
          </p:cNvSpPr>
          <p:nvPr>
            <p:ph type="sldNum" sz="quarter" idx="5"/>
          </p:nvPr>
        </p:nvSpPr>
        <p:spPr/>
        <p:txBody>
          <a:bodyPr/>
          <a:lstStyle/>
          <a:p>
            <a:fld id="{3AC1AA38-86D1-4674-9C68-DF52A9C1CC65}" type="slidenum">
              <a:rPr lang="en-US" smtClean="0"/>
              <a:t>6</a:t>
            </a:fld>
            <a:endParaRPr lang="en-US"/>
          </a:p>
        </p:txBody>
      </p:sp>
    </p:spTree>
    <p:extLst>
      <p:ext uri="{BB962C8B-B14F-4D97-AF65-F5344CB8AC3E}">
        <p14:creationId xmlns:p14="http://schemas.microsoft.com/office/powerpoint/2010/main" val="22630089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Next, I’ll briefly describe some of our methods </a:t>
            </a:r>
          </a:p>
        </p:txBody>
      </p:sp>
      <p:sp>
        <p:nvSpPr>
          <p:cNvPr id="4" name="Slide Number Placeholder 3"/>
          <p:cNvSpPr>
            <a:spLocks noGrp="1"/>
          </p:cNvSpPr>
          <p:nvPr>
            <p:ph type="sldNum" sz="quarter" idx="5"/>
          </p:nvPr>
        </p:nvSpPr>
        <p:spPr/>
        <p:txBody>
          <a:bodyPr/>
          <a:lstStyle/>
          <a:p>
            <a:fld id="{3AC1AA38-86D1-4674-9C68-DF52A9C1CC65}" type="slidenum">
              <a:rPr lang="en-US" smtClean="0"/>
              <a:t>7</a:t>
            </a:fld>
            <a:endParaRPr lang="en-US"/>
          </a:p>
        </p:txBody>
      </p:sp>
    </p:spTree>
    <p:extLst>
      <p:ext uri="{BB962C8B-B14F-4D97-AF65-F5344CB8AC3E}">
        <p14:creationId xmlns:p14="http://schemas.microsoft.com/office/powerpoint/2010/main" val="1565081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43EB-093E-4235-6A96-2CE6815BFC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7275C-9BA8-F74D-6CDC-A3F3A8ADF7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911921-D94F-B578-7BF7-A44EDC9DC677}"/>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Sampling occurred in the NCC on research cruises during the winters of 2018, 2019, 2022, and 2023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Plankton were collected using a coupled Multiple Opening/Closing Net and Environmental Sensing System (MOCNESS) </a:t>
            </a:r>
          </a:p>
          <a:p>
            <a:pPr marL="628650" lvl="1" indent="-171450">
              <a:buFont typeface="Arial" panose="020B0604020202020204" pitchFamily="34" charset="0"/>
              <a:buChar char="•"/>
            </a:pPr>
            <a:r>
              <a:rPr lang="en-US" dirty="0"/>
              <a:t>It was equipped with a flowmeter, a depth sensor, and temperature and conductivity sensors</a:t>
            </a:r>
          </a:p>
          <a:p>
            <a:pPr marL="171450" lvl="0" indent="-171450">
              <a:buFont typeface="Arial" panose="020B0604020202020204" pitchFamily="34" charset="0"/>
              <a:buChar char="•"/>
            </a:pPr>
            <a:r>
              <a:rPr lang="en-US" dirty="0"/>
              <a:t>Within 3 hours of MOCNESS sampling, a sensor package containing a DO sensor and a fluorescence probe was towed vertically through the top 100 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After collection and preservation, ichthyoplankton were visually identified to the lowest possible taxonomic resolution and counted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i="1"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i="1" dirty="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1" dirty="0"/>
              <a:t>Though some taxa were later grouped within families (Because certain genera and species were rare, could only be identified to family, or were considered very ecologically similar)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1" dirty="0"/>
              <a:t>To reduce noise, data were filtered to remove rare taxa and small samples from analysis</a:t>
            </a:r>
          </a:p>
        </p:txBody>
      </p:sp>
      <p:sp>
        <p:nvSpPr>
          <p:cNvPr id="4" name="Slide Number Placeholder 3">
            <a:extLst>
              <a:ext uri="{FF2B5EF4-FFF2-40B4-BE49-F238E27FC236}">
                <a16:creationId xmlns:a16="http://schemas.microsoft.com/office/drawing/2014/main" id="{779E2713-3511-CE0E-B289-6DD18AEDE789}"/>
              </a:ext>
            </a:extLst>
          </p:cNvPr>
          <p:cNvSpPr>
            <a:spLocks noGrp="1"/>
          </p:cNvSpPr>
          <p:nvPr>
            <p:ph type="sldNum" sz="quarter" idx="5"/>
          </p:nvPr>
        </p:nvSpPr>
        <p:spPr/>
        <p:txBody>
          <a:bodyPr/>
          <a:lstStyle/>
          <a:p>
            <a:fld id="{3AC1AA38-86D1-4674-9C68-DF52A9C1CC65}" type="slidenum">
              <a:rPr lang="en-US" smtClean="0"/>
              <a:t>8</a:t>
            </a:fld>
            <a:endParaRPr lang="en-US"/>
          </a:p>
        </p:txBody>
      </p:sp>
    </p:spTree>
    <p:extLst>
      <p:ext uri="{BB962C8B-B14F-4D97-AF65-F5344CB8AC3E}">
        <p14:creationId xmlns:p14="http://schemas.microsoft.com/office/powerpoint/2010/main" val="1929967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i="1" dirty="0"/>
              <a:t>Italics = remove from talk but keep for now to possibly include on notecards incase there is a question about it)</a:t>
            </a:r>
          </a:p>
          <a:p>
            <a:r>
              <a:rPr lang="en-US" dirty="0"/>
              <a:t>(1) Characterizing assemblages</a:t>
            </a:r>
          </a:p>
          <a:p>
            <a:pPr marL="171450" indent="-171450">
              <a:buFont typeface="Arial" panose="020B0604020202020204" pitchFamily="34" charset="0"/>
              <a:buChar char="•"/>
            </a:pPr>
            <a:r>
              <a:rPr lang="en-US" dirty="0"/>
              <a:t>Hierarchical cluster analysis was performed (</a:t>
            </a:r>
            <a:r>
              <a:rPr lang="en-US" i="1" dirty="0"/>
              <a:t>on a Bray-Curtis dissimilarity matrix of square-root transformed concentrations of ichthyoplankton from each taxonomic group</a:t>
            </a:r>
            <a:r>
              <a:rPr lang="en-US" dirty="0"/>
              <a:t>) on the ichthyoplankton community data to define ecologically distinct assemblages of larval fish within the broader assemblage</a:t>
            </a:r>
          </a:p>
          <a:p>
            <a:pPr marL="628650" lvl="1" indent="-171450">
              <a:buFont typeface="Arial" panose="020B0604020202020204" pitchFamily="34" charset="0"/>
              <a:buChar char="•"/>
            </a:pPr>
            <a:r>
              <a:rPr lang="en-US" i="1" dirty="0"/>
              <a:t>The number of clusters was chosen such that samples assigned to each cluster differed meaningfully in adult habitat affinity and taxonomic composition, thus representing ecologically meaningful differences among clusters</a:t>
            </a:r>
          </a:p>
          <a:p>
            <a:pPr marL="171450" lvl="0" indent="-171450">
              <a:buFont typeface="Arial" panose="020B0604020202020204" pitchFamily="34" charset="0"/>
              <a:buChar char="•"/>
            </a:pPr>
            <a:r>
              <a:rPr lang="en-US" dirty="0"/>
              <a:t>An indicator species analysis was used to identify characteristic taxa for each cluster</a:t>
            </a:r>
            <a:endParaRPr lang="en-US" i="1" dirty="0"/>
          </a:p>
          <a:p>
            <a:pPr marL="0" lvl="0" indent="0">
              <a:buFont typeface="Arial" panose="020B0604020202020204" pitchFamily="34" charset="0"/>
              <a:buNone/>
            </a:pPr>
            <a:r>
              <a:rPr lang="en-US" dirty="0"/>
              <a:t>(2) Influences on assemblages</a:t>
            </a:r>
          </a:p>
          <a:p>
            <a:pPr marL="171450" lvl="0" indent="-171450">
              <a:buFont typeface="Arial" panose="020B0604020202020204" pitchFamily="34" charset="0"/>
              <a:buChar char="•"/>
            </a:pPr>
            <a:r>
              <a:rPr lang="en-US" dirty="0"/>
              <a:t>Distance-based redundancy analysis (</a:t>
            </a:r>
            <a:r>
              <a:rPr lang="en-US" dirty="0" err="1"/>
              <a:t>dbRDA</a:t>
            </a:r>
            <a:r>
              <a:rPr lang="en-US" dirty="0"/>
              <a:t>) was used to assess the effects of spatiotemporal and environmental factors on assemblage composition.</a:t>
            </a:r>
          </a:p>
          <a:p>
            <a:pPr marL="628650" lvl="1" indent="-171450">
              <a:buFont typeface="Arial" panose="020B0604020202020204" pitchFamily="34" charset="0"/>
              <a:buChar char="•"/>
            </a:pPr>
            <a:r>
              <a:rPr lang="en-US" i="0" dirty="0"/>
              <a:t>Permutation-based ANOVA was used to test the significance of variation explained by the </a:t>
            </a:r>
            <a:r>
              <a:rPr lang="en-US" i="0" dirty="0" err="1"/>
              <a:t>db</a:t>
            </a:r>
            <a:r>
              <a:rPr lang="en-US" i="0" dirty="0"/>
              <a:t>-RDA models.</a:t>
            </a:r>
            <a:endParaRPr lang="en-US" i="1" dirty="0"/>
          </a:p>
          <a:p>
            <a:pPr marL="628650" lvl="1" indent="-171450">
              <a:buFont typeface="Arial" panose="020B0604020202020204" pitchFamily="34" charset="0"/>
              <a:buChar char="•"/>
            </a:pPr>
            <a:r>
              <a:rPr lang="en-US" i="0" dirty="0"/>
              <a:t>Variance partitioning analysis was used to estimate the variance in assemblage composition explained by spatiotemporal and environmental covariates</a:t>
            </a:r>
          </a:p>
          <a:p>
            <a:pPr marL="0" lvl="0" indent="0">
              <a:buFont typeface="Arial" panose="020B0604020202020204" pitchFamily="34" charset="0"/>
              <a:buNone/>
            </a:pPr>
            <a:r>
              <a:rPr lang="en-US" i="0" dirty="0"/>
              <a:t>(3) Taxon-specific diel variation in vertical distribution</a:t>
            </a:r>
          </a:p>
          <a:p>
            <a:pPr marL="171450" lvl="0" indent="-171450">
              <a:buFont typeface="Arial" panose="020B0604020202020204" pitchFamily="34" charset="0"/>
              <a:buChar char="•"/>
            </a:pPr>
            <a:r>
              <a:rPr lang="en-US" i="0" dirty="0"/>
              <a:t>A negative binomial general linear mixed effects model (GLMM) was fit to counts of ichthyoplankton belonging to each taxon in each sample</a:t>
            </a:r>
          </a:p>
          <a:p>
            <a:pPr marL="628650" lvl="1" indent="-171450">
              <a:buFont typeface="Arial" panose="020B0604020202020204" pitchFamily="34" charset="0"/>
              <a:buChar char="•"/>
            </a:pPr>
            <a:endParaRPr lang="en-US" i="1" dirty="0"/>
          </a:p>
          <a:p>
            <a:pPr marL="628650" lvl="1" indent="-171450">
              <a:buFont typeface="Arial" panose="020B0604020202020204" pitchFamily="34" charset="0"/>
              <a:buChar char="•"/>
            </a:pPr>
            <a:endParaRPr lang="en-US" i="1" dirty="0"/>
          </a:p>
          <a:p>
            <a:pPr marL="628650" lvl="1" indent="-171450">
              <a:buFont typeface="Arial" panose="020B0604020202020204" pitchFamily="34" charset="0"/>
              <a:buChar char="•"/>
            </a:pPr>
            <a:endParaRPr lang="en-US" i="1" dirty="0"/>
          </a:p>
          <a:p>
            <a:pPr marL="171450" lvl="0" indent="-171450">
              <a:buFont typeface="Arial" panose="020B0604020202020204" pitchFamily="34" charset="0"/>
              <a:buChar char="•"/>
            </a:pPr>
            <a:r>
              <a:rPr lang="en-US" i="1" dirty="0"/>
              <a:t>(1) Non-metric multidimensional scaling was used to visualize similarities in the taxonomic composition of samples belonging to each cluster and cluster correlations with spatiotemporal factors.</a:t>
            </a:r>
          </a:p>
          <a:p>
            <a:pPr marL="628650" lvl="1" indent="-171450">
              <a:buFont typeface="Arial" panose="020B0604020202020204" pitchFamily="34" charset="0"/>
              <a:buChar char="•"/>
            </a:pPr>
            <a:r>
              <a:rPr lang="en-US" i="1" dirty="0"/>
              <a:t>To assess the ordination fit, we calculated a null distribution of stress values for the data and used a z-test to determine whether our observed stress was lower than expected under the null model, following Dexter et al. (2018)</a:t>
            </a:r>
          </a:p>
          <a:p>
            <a:pPr marL="171450" lvl="0" indent="-171450">
              <a:buFont typeface="Arial" panose="020B0604020202020204" pitchFamily="34" charset="0"/>
              <a:buChar char="•"/>
            </a:pPr>
            <a:r>
              <a:rPr lang="en-US" i="1" dirty="0"/>
              <a:t>“Time of day” as used in the NMDS plot and subsequent analyses was calculated for each net tow as a normalized start time relative to local sunrise and sunset. Values near 0 indicate sampling near sunrise or sunset and values near 1 or -1 indicate sampling near the midpoint of the day or night, respectively</a:t>
            </a:r>
          </a:p>
          <a:p>
            <a:pPr marL="171450" lvl="0" indent="-171450">
              <a:buFont typeface="Arial" panose="020B0604020202020204" pitchFamily="34" charset="0"/>
              <a:buChar char="•"/>
            </a:pPr>
            <a:r>
              <a:rPr lang="en-US" i="1" dirty="0"/>
              <a:t>(2) The significance of the additional variation explained by environmental covariates was assessed using a nested </a:t>
            </a:r>
            <a:r>
              <a:rPr lang="en-US" i="1" dirty="0" err="1"/>
              <a:t>dbRDA</a:t>
            </a:r>
            <a:r>
              <a:rPr lang="en-US" i="1" dirty="0"/>
              <a:t> model comparison between the base and full models using a similar permutational ANOVA</a:t>
            </a:r>
          </a:p>
          <a:p>
            <a:pPr marL="171450" lvl="0" indent="-171450">
              <a:buFont typeface="Arial" panose="020B0604020202020204" pitchFamily="34" charset="0"/>
              <a:buChar char="•"/>
            </a:pPr>
            <a:r>
              <a:rPr lang="en-US" i="1" dirty="0"/>
              <a:t>(3) Plotted the model for each taxon to visualize how their predicted abundances varied with depth and time of day to…</a:t>
            </a:r>
          </a:p>
          <a:p>
            <a:pPr marL="628650" lvl="1" indent="-171450">
              <a:buFont typeface="Arial" panose="020B0604020202020204" pitchFamily="34" charset="0"/>
              <a:buChar char="•"/>
            </a:pPr>
            <a:r>
              <a:rPr lang="en-US" i="1" dirty="0"/>
              <a:t>Visualize how the vertical distribution of each taxon varies over the course of a day by plotting predicted concentration of individuals across combinations of depth and time of day</a:t>
            </a:r>
          </a:p>
          <a:p>
            <a:pPr marL="628650" lvl="1" indent="-171450">
              <a:buFont typeface="Arial" panose="020B0604020202020204" pitchFamily="34" charset="0"/>
              <a:buChar char="•"/>
            </a:pPr>
            <a:r>
              <a:rPr lang="en-US" i="1" dirty="0"/>
              <a:t>Show how total predicted abundance of each taxon in the sampled depth strata varied over the course of a day by plotting total predicted abundance of each taxon across the sampled portion of the water column against time of day</a:t>
            </a:r>
          </a:p>
          <a:p>
            <a:pPr marL="628650" lvl="1" indent="-171450">
              <a:buFont typeface="Arial" panose="020B0604020202020204" pitchFamily="34" charset="0"/>
              <a:buChar char="•"/>
            </a:pPr>
            <a:r>
              <a:rPr lang="en-US" i="1" dirty="0"/>
              <a:t>Show when during the day total predicted abundance of a taxon increased or decreased with depth by plotting the depth gradient in log predicted abundance for each taxon against time of day</a:t>
            </a:r>
          </a:p>
          <a:p>
            <a:pPr marL="171450" lvl="0" indent="-171450">
              <a:buFont typeface="Arial" panose="020B0604020202020204" pitchFamily="34" charset="0"/>
              <a:buChar char="•"/>
            </a:pPr>
            <a:endParaRPr lang="en-US" i="1" dirty="0"/>
          </a:p>
        </p:txBody>
      </p:sp>
      <p:sp>
        <p:nvSpPr>
          <p:cNvPr id="4" name="Slide Number Placeholder 3"/>
          <p:cNvSpPr>
            <a:spLocks noGrp="1"/>
          </p:cNvSpPr>
          <p:nvPr>
            <p:ph type="sldNum" sz="quarter" idx="5"/>
          </p:nvPr>
        </p:nvSpPr>
        <p:spPr/>
        <p:txBody>
          <a:bodyPr/>
          <a:lstStyle/>
          <a:p>
            <a:fld id="{3AC1AA38-86D1-4674-9C68-DF52A9C1CC65}" type="slidenum">
              <a:rPr lang="en-US" smtClean="0"/>
              <a:t>9</a:t>
            </a:fld>
            <a:endParaRPr lang="en-US"/>
          </a:p>
        </p:txBody>
      </p:sp>
    </p:spTree>
    <p:extLst>
      <p:ext uri="{BB962C8B-B14F-4D97-AF65-F5344CB8AC3E}">
        <p14:creationId xmlns:p14="http://schemas.microsoft.com/office/powerpoint/2010/main" val="2263008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And now onto some of our results</a:t>
            </a:r>
          </a:p>
        </p:txBody>
      </p:sp>
      <p:sp>
        <p:nvSpPr>
          <p:cNvPr id="4" name="Slide Number Placeholder 3"/>
          <p:cNvSpPr>
            <a:spLocks noGrp="1"/>
          </p:cNvSpPr>
          <p:nvPr>
            <p:ph type="sldNum" sz="quarter" idx="5"/>
          </p:nvPr>
        </p:nvSpPr>
        <p:spPr/>
        <p:txBody>
          <a:bodyPr/>
          <a:lstStyle/>
          <a:p>
            <a:fld id="{3AC1AA38-86D1-4674-9C68-DF52A9C1CC65}" type="slidenum">
              <a:rPr lang="en-US" smtClean="0"/>
              <a:t>10</a:t>
            </a:fld>
            <a:endParaRPr lang="en-US"/>
          </a:p>
        </p:txBody>
      </p:sp>
    </p:spTree>
    <p:extLst>
      <p:ext uri="{BB962C8B-B14F-4D97-AF65-F5344CB8AC3E}">
        <p14:creationId xmlns:p14="http://schemas.microsoft.com/office/powerpoint/2010/main" val="19061186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First, looking at the findings of objective 1: characterizing assemblages</a:t>
            </a:r>
          </a:p>
        </p:txBody>
      </p:sp>
      <p:sp>
        <p:nvSpPr>
          <p:cNvPr id="4" name="Slide Number Placeholder 3"/>
          <p:cNvSpPr>
            <a:spLocks noGrp="1"/>
          </p:cNvSpPr>
          <p:nvPr>
            <p:ph type="sldNum" sz="quarter" idx="5"/>
          </p:nvPr>
        </p:nvSpPr>
        <p:spPr/>
        <p:txBody>
          <a:bodyPr/>
          <a:lstStyle/>
          <a:p>
            <a:fld id="{3AC1AA38-86D1-4674-9C68-DF52A9C1CC65}" type="slidenum">
              <a:rPr lang="en-US" smtClean="0"/>
              <a:t>11</a:t>
            </a:fld>
            <a:endParaRPr lang="en-US"/>
          </a:p>
        </p:txBody>
      </p:sp>
    </p:spTree>
    <p:extLst>
      <p:ext uri="{BB962C8B-B14F-4D97-AF65-F5344CB8AC3E}">
        <p14:creationId xmlns:p14="http://schemas.microsoft.com/office/powerpoint/2010/main" val="19795937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96EFE-5A46-3E08-3DBB-2676DFE07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C44661-9AB2-ABDC-6450-F65FF2AC0CD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DCA8EF-7337-FF12-8706-EFC485FE451D}"/>
              </a:ext>
            </a:extLst>
          </p:cNvPr>
          <p:cNvSpPr>
            <a:spLocks noGrp="1"/>
          </p:cNvSpPr>
          <p:nvPr>
            <p:ph type="body" idx="1"/>
          </p:nvPr>
        </p:nvSpPr>
        <p:spPr/>
        <p:txBody>
          <a:bodyPr/>
          <a:lstStyle/>
          <a:p>
            <a:pPr marL="171450" lvl="0" indent="-171450">
              <a:buFont typeface="Arial" panose="020B0604020202020204" pitchFamily="34" charset="0"/>
              <a:buChar char="•"/>
            </a:pPr>
            <a:r>
              <a:rPr lang="en-US" dirty="0"/>
              <a:t>Cluster analysis yielded 7 total clusters:</a:t>
            </a:r>
          </a:p>
          <a:p>
            <a:pPr marL="628650" lvl="1" indent="-171450">
              <a:buFont typeface="Arial" panose="020B0604020202020204" pitchFamily="34" charset="0"/>
              <a:buChar char="•"/>
            </a:pPr>
            <a:r>
              <a:rPr lang="en-US" dirty="0"/>
              <a:t>Cluster 1 is heavily dominated by its indicator taxon, </a:t>
            </a:r>
            <a:r>
              <a:rPr lang="en-US" i="1" dirty="0"/>
              <a:t>Sebastes</a:t>
            </a:r>
            <a:r>
              <a:rPr lang="en-US" i="0" dirty="0"/>
              <a:t> spp.</a:t>
            </a:r>
          </a:p>
          <a:p>
            <a:pPr marL="628650" lvl="1" indent="-171450">
              <a:buFont typeface="Arial" panose="020B0604020202020204" pitchFamily="34" charset="0"/>
              <a:buChar char="•"/>
            </a:pPr>
            <a:r>
              <a:rPr lang="en-US" i="0" dirty="0"/>
              <a:t>Cluster 2 was dominated by Pleuronectiformes, especially the indicator taxon </a:t>
            </a:r>
            <a:r>
              <a:rPr lang="en-US" i="1" dirty="0"/>
              <a:t>Parophrys vetulus</a:t>
            </a:r>
            <a:endParaRPr lang="en-US" i="0" dirty="0"/>
          </a:p>
          <a:p>
            <a:pPr marL="628650" lvl="1" indent="-171450">
              <a:buFont typeface="Arial" panose="020B0604020202020204" pitchFamily="34" charset="0"/>
              <a:buChar char="•"/>
            </a:pPr>
            <a:r>
              <a:rPr lang="en-US" i="0" dirty="0"/>
              <a:t>Cluster 3 was significantly associated with </a:t>
            </a:r>
            <a:r>
              <a:rPr lang="en-US" i="1" dirty="0"/>
              <a:t>Stenobrachius leucopsarus</a:t>
            </a:r>
            <a:r>
              <a:rPr lang="en-US" i="0" dirty="0"/>
              <a:t> and is composed largely of mesopelagic taxa</a:t>
            </a:r>
          </a:p>
          <a:p>
            <a:pPr marL="628650" lvl="1" indent="-171450">
              <a:buFont typeface="Arial" panose="020B0604020202020204" pitchFamily="34" charset="0"/>
              <a:buChar char="•"/>
            </a:pPr>
            <a:r>
              <a:rPr lang="en-US" i="0" dirty="0"/>
              <a:t>Cluster 5 was dominated by general coastal taxa such as </a:t>
            </a:r>
            <a:r>
              <a:rPr lang="en-US" i="1" dirty="0"/>
              <a:t>P. vetulus</a:t>
            </a:r>
            <a:r>
              <a:rPr lang="en-US" i="0" dirty="0"/>
              <a:t> and </a:t>
            </a:r>
            <a:r>
              <a:rPr lang="en-US" i="1" dirty="0"/>
              <a:t>Liparis</a:t>
            </a:r>
            <a:r>
              <a:rPr lang="en-US" i="0" dirty="0"/>
              <a:t> spp.</a:t>
            </a:r>
          </a:p>
          <a:p>
            <a:pPr marL="628650" lvl="1" indent="-171450">
              <a:buFont typeface="Arial" panose="020B0604020202020204" pitchFamily="34" charset="0"/>
              <a:buChar char="•"/>
            </a:pPr>
            <a:r>
              <a:rPr lang="en-US" i="0" dirty="0"/>
              <a:t>Cluster 6 was also composed mostly of costal taxa, but especially Osmerids</a:t>
            </a:r>
          </a:p>
          <a:p>
            <a:pPr marL="628650" lvl="1" indent="-171450">
              <a:buFont typeface="Arial" panose="020B0604020202020204" pitchFamily="34" charset="0"/>
              <a:buChar char="•"/>
            </a:pPr>
            <a:r>
              <a:rPr lang="en-US" i="0" dirty="0"/>
              <a:t>Clusters 4 and 7 each contained only a single sample and were ignored (</a:t>
            </a:r>
            <a:r>
              <a:rPr lang="en-US" b="1" i="0" dirty="0"/>
              <a:t>find a better word for this</a:t>
            </a:r>
            <a:r>
              <a:rPr lang="en-US" b="0" i="0" dirty="0"/>
              <a:t>) in subsequent analyses</a:t>
            </a:r>
            <a:endParaRPr lang="en-US" dirty="0"/>
          </a:p>
        </p:txBody>
      </p:sp>
      <p:sp>
        <p:nvSpPr>
          <p:cNvPr id="4" name="Slide Number Placeholder 3">
            <a:extLst>
              <a:ext uri="{FF2B5EF4-FFF2-40B4-BE49-F238E27FC236}">
                <a16:creationId xmlns:a16="http://schemas.microsoft.com/office/drawing/2014/main" id="{23CE65C5-B1F0-87A2-4E42-6B81A24542E2}"/>
              </a:ext>
            </a:extLst>
          </p:cNvPr>
          <p:cNvSpPr>
            <a:spLocks noGrp="1"/>
          </p:cNvSpPr>
          <p:nvPr>
            <p:ph type="sldNum" sz="quarter" idx="5"/>
          </p:nvPr>
        </p:nvSpPr>
        <p:spPr/>
        <p:txBody>
          <a:bodyPr/>
          <a:lstStyle/>
          <a:p>
            <a:fld id="{3AC1AA38-86D1-4674-9C68-DF52A9C1CC65}" type="slidenum">
              <a:rPr lang="en-US" smtClean="0"/>
              <a:t>12</a:t>
            </a:fld>
            <a:endParaRPr lang="en-US"/>
          </a:p>
        </p:txBody>
      </p:sp>
    </p:spTree>
    <p:extLst>
      <p:ext uri="{BB962C8B-B14F-4D97-AF65-F5344CB8AC3E}">
        <p14:creationId xmlns:p14="http://schemas.microsoft.com/office/powerpoint/2010/main" val="23282008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Map of vertical and horizontal distributions of clustered samples. </a:t>
            </a:r>
          </a:p>
          <a:p>
            <a:pPr marL="171450" indent="-171450">
              <a:buFont typeface="Arial" panose="020B0604020202020204" pitchFamily="34" charset="0"/>
              <a:buChar char="•"/>
            </a:pPr>
            <a:r>
              <a:rPr lang="en-US" dirty="0"/>
              <a:t>Includes all sampling replicates across years.</a:t>
            </a:r>
          </a:p>
          <a:p>
            <a:pPr marL="171450" indent="-171450">
              <a:buFont typeface="Arial" panose="020B0604020202020204" pitchFamily="34" charset="0"/>
              <a:buChar char="•"/>
            </a:pPr>
            <a:r>
              <a:rPr lang="en-US" dirty="0"/>
              <a:t>Unwieldy to look at in this format so… zoom into 2022</a:t>
            </a:r>
          </a:p>
        </p:txBody>
      </p:sp>
      <p:sp>
        <p:nvSpPr>
          <p:cNvPr id="4" name="Slide Number Placeholder 3"/>
          <p:cNvSpPr>
            <a:spLocks noGrp="1"/>
          </p:cNvSpPr>
          <p:nvPr>
            <p:ph type="sldNum" sz="quarter" idx="5"/>
          </p:nvPr>
        </p:nvSpPr>
        <p:spPr/>
        <p:txBody>
          <a:bodyPr/>
          <a:lstStyle/>
          <a:p>
            <a:fld id="{3AC1AA38-86D1-4674-9C68-DF52A9C1CC65}" type="slidenum">
              <a:rPr lang="en-US" smtClean="0"/>
              <a:t>13</a:t>
            </a:fld>
            <a:endParaRPr lang="en-US"/>
          </a:p>
        </p:txBody>
      </p:sp>
    </p:spTree>
    <p:extLst>
      <p:ext uri="{BB962C8B-B14F-4D97-AF65-F5344CB8AC3E}">
        <p14:creationId xmlns:p14="http://schemas.microsoft.com/office/powerpoint/2010/main" val="3997137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21DA6-95F1-0B76-70AF-E27A3AB140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879078-EAE0-478F-6FD5-0F7A15B1F2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78711E-6AD9-A081-A8A2-E2A5375EEC7D}"/>
              </a:ext>
            </a:extLst>
          </p:cNvPr>
          <p:cNvSpPr>
            <a:spLocks noGrp="1"/>
          </p:cNvSpPr>
          <p:nvPr>
            <p:ph type="body" idx="1"/>
          </p:nvPr>
        </p:nvSpPr>
        <p:spPr/>
        <p:txBody>
          <a:bodyPr/>
          <a:lstStyle/>
          <a:p>
            <a:pPr marL="171450" indent="-171450">
              <a:buFont typeface="Arial" panose="020B0604020202020204" pitchFamily="34" charset="0"/>
              <a:buChar char="•"/>
            </a:pPr>
            <a:r>
              <a:rPr lang="en-US" dirty="0"/>
              <a:t>Almost all of the major spatial trends can be seen in this 2022 panel</a:t>
            </a:r>
          </a:p>
          <a:p>
            <a:pPr marL="171450" indent="-171450">
              <a:buFont typeface="Arial" panose="020B0604020202020204" pitchFamily="34" charset="0"/>
              <a:buChar char="•"/>
            </a:pPr>
            <a:r>
              <a:rPr lang="en-US" dirty="0"/>
              <a:t>Cluster 1 (</a:t>
            </a:r>
            <a:r>
              <a:rPr lang="en-US" i="1" dirty="0"/>
              <a:t>Sebastes</a:t>
            </a:r>
            <a:r>
              <a:rPr lang="en-US" i="0" dirty="0"/>
              <a:t> spp., yellow) occurred along the shelf slope break</a:t>
            </a:r>
          </a:p>
          <a:p>
            <a:pPr marL="171450" indent="-171450">
              <a:buFont typeface="Arial" panose="020B0604020202020204" pitchFamily="34" charset="0"/>
              <a:buChar char="•"/>
            </a:pPr>
            <a:r>
              <a:rPr lang="en-US" i="0" dirty="0"/>
              <a:t>Cluster 2 (</a:t>
            </a:r>
            <a:r>
              <a:rPr lang="en-US" i="1" dirty="0"/>
              <a:t>P. vetulus</a:t>
            </a:r>
            <a:r>
              <a:rPr lang="en-US" i="0" dirty="0"/>
              <a:t>, teal) was present exclusively over the shelf</a:t>
            </a:r>
          </a:p>
          <a:p>
            <a:pPr marL="171450" indent="-171450">
              <a:buFont typeface="Arial" panose="020B0604020202020204" pitchFamily="34" charset="0"/>
              <a:buChar char="•"/>
            </a:pPr>
            <a:r>
              <a:rPr lang="en-US" i="0" dirty="0"/>
              <a:t>Cluster 3 (</a:t>
            </a:r>
            <a:r>
              <a:rPr lang="en-US" i="0" dirty="0" err="1"/>
              <a:t>mesopelagics</a:t>
            </a:r>
            <a:r>
              <a:rPr lang="en-US" i="0" dirty="0"/>
              <a:t>, pink) occurred offshore, over the shelf break, and in deep net tows</a:t>
            </a:r>
          </a:p>
          <a:p>
            <a:pPr marL="171450" lvl="0" indent="-171450">
              <a:buFont typeface="Arial" panose="020B0604020202020204" pitchFamily="34" charset="0"/>
              <a:buChar char="•"/>
            </a:pPr>
            <a:r>
              <a:rPr lang="en-US" dirty="0"/>
              <a:t>Cluster 5 (general coastal, green) was most prevalent in 2022 and mostly occurred close to shore</a:t>
            </a:r>
          </a:p>
          <a:p>
            <a:pPr marL="171450" lvl="0" indent="-171450">
              <a:buFont typeface="Arial" panose="020B0604020202020204" pitchFamily="34" charset="0"/>
              <a:buChar char="•"/>
            </a:pPr>
            <a:r>
              <a:rPr lang="en-US" dirty="0"/>
              <a:t>Cluster 6 (Osmeridae coastal, brown) was present only in 2022 and 2023 and occurred at shallow depths and nearshore stations north of Newport, OR (near </a:t>
            </a:r>
            <a:r>
              <a:rPr lang="en-US" sz="1200" dirty="0"/>
              <a:t>45°N)</a:t>
            </a:r>
            <a:endParaRPr lang="en-US" dirty="0"/>
          </a:p>
        </p:txBody>
      </p:sp>
      <p:sp>
        <p:nvSpPr>
          <p:cNvPr id="4" name="Slide Number Placeholder 3">
            <a:extLst>
              <a:ext uri="{FF2B5EF4-FFF2-40B4-BE49-F238E27FC236}">
                <a16:creationId xmlns:a16="http://schemas.microsoft.com/office/drawing/2014/main" id="{95A28668-A9AD-9387-384D-B48EAFB8E6B1}"/>
              </a:ext>
            </a:extLst>
          </p:cNvPr>
          <p:cNvSpPr>
            <a:spLocks noGrp="1"/>
          </p:cNvSpPr>
          <p:nvPr>
            <p:ph type="sldNum" sz="quarter" idx="5"/>
          </p:nvPr>
        </p:nvSpPr>
        <p:spPr/>
        <p:txBody>
          <a:bodyPr/>
          <a:lstStyle/>
          <a:p>
            <a:fld id="{3AC1AA38-86D1-4674-9C68-DF52A9C1CC65}" type="slidenum">
              <a:rPr lang="en-US" smtClean="0"/>
              <a:t>14</a:t>
            </a:fld>
            <a:endParaRPr lang="en-US"/>
          </a:p>
        </p:txBody>
      </p:sp>
    </p:spTree>
    <p:extLst>
      <p:ext uri="{BB962C8B-B14F-4D97-AF65-F5344CB8AC3E}">
        <p14:creationId xmlns:p14="http://schemas.microsoft.com/office/powerpoint/2010/main" val="645342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Next, we’ll look at the influences on these larval fish assemblages</a:t>
            </a:r>
          </a:p>
        </p:txBody>
      </p:sp>
      <p:sp>
        <p:nvSpPr>
          <p:cNvPr id="4" name="Slide Number Placeholder 3"/>
          <p:cNvSpPr>
            <a:spLocks noGrp="1"/>
          </p:cNvSpPr>
          <p:nvPr>
            <p:ph type="sldNum" sz="quarter" idx="5"/>
          </p:nvPr>
        </p:nvSpPr>
        <p:spPr/>
        <p:txBody>
          <a:bodyPr/>
          <a:lstStyle/>
          <a:p>
            <a:fld id="{3AC1AA38-86D1-4674-9C68-DF52A9C1CC65}" type="slidenum">
              <a:rPr lang="en-US" smtClean="0"/>
              <a:t>15</a:t>
            </a:fld>
            <a:endParaRPr lang="en-US"/>
          </a:p>
        </p:txBody>
      </p:sp>
    </p:spTree>
    <p:extLst>
      <p:ext uri="{BB962C8B-B14F-4D97-AF65-F5344CB8AC3E}">
        <p14:creationId xmlns:p14="http://schemas.microsoft.com/office/powerpoint/2010/main" val="38677249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For the </a:t>
            </a:r>
            <a:r>
              <a:rPr lang="en-US" dirty="0" err="1"/>
              <a:t>db</a:t>
            </a:r>
            <a:r>
              <a:rPr lang="en-US" dirty="0"/>
              <a:t>-RDA we fit a base model including effects of  year, time of day, latitude, net tow depth, and seafloor depth as well as a full model including those previously stated in addition to temperature, salinity, DO, and chlorophyll-</a:t>
            </a:r>
            <a:r>
              <a:rPr lang="en-US" i="1" dirty="0"/>
              <a: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t>Both models explained a significant amount of variation in the composition of the ichthyoplankton assemblages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t>The full model explained a significant amount of ADDITIONAL variation, over the base model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t>Variance Partitioning found that…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t>Spatiotemporal covariates explained 3.72% of variation;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t>Environmental covariates explained 1.92%; and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t>Spatiotemporal and environmental covariates together explained 1.57% of variation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i="0" dirty="0"/>
              <a:t>With all of these amounts determined to be statistically significant</a:t>
            </a:r>
          </a:p>
        </p:txBody>
      </p:sp>
      <p:sp>
        <p:nvSpPr>
          <p:cNvPr id="4" name="Slide Number Placeholder 3"/>
          <p:cNvSpPr>
            <a:spLocks noGrp="1"/>
          </p:cNvSpPr>
          <p:nvPr>
            <p:ph type="sldNum" sz="quarter" idx="5"/>
          </p:nvPr>
        </p:nvSpPr>
        <p:spPr/>
        <p:txBody>
          <a:bodyPr/>
          <a:lstStyle/>
          <a:p>
            <a:fld id="{3AC1AA38-86D1-4674-9C68-DF52A9C1CC65}" type="slidenum">
              <a:rPr lang="en-US" smtClean="0"/>
              <a:t>16</a:t>
            </a:fld>
            <a:endParaRPr lang="en-US"/>
          </a:p>
        </p:txBody>
      </p:sp>
    </p:spTree>
    <p:extLst>
      <p:ext uri="{BB962C8B-B14F-4D97-AF65-F5344CB8AC3E}">
        <p14:creationId xmlns:p14="http://schemas.microsoft.com/office/powerpoint/2010/main" val="11220459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7DC60-2EF8-1C61-3FA1-216D92BD2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BAC1E-5776-A705-2977-B458510B3B9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9B3445-489C-F65A-0664-9B27077BC965}"/>
              </a:ext>
            </a:extLst>
          </p:cNvPr>
          <p:cNvSpPr>
            <a:spLocks noGrp="1"/>
          </p:cNvSpPr>
          <p:nvPr>
            <p:ph type="body" idx="1"/>
          </p:nvPr>
        </p:nvSpPr>
        <p:spPr/>
        <p:txBody>
          <a:bodyPr/>
          <a:lstStyle/>
          <a:p>
            <a:pPr marL="171450" indent="-171450">
              <a:buFont typeface="Arial" panose="020B0604020202020204" pitchFamily="34" charset="0"/>
              <a:buChar char="•"/>
            </a:pPr>
            <a:r>
              <a:rPr lang="en-US" i="0" dirty="0"/>
              <a:t>All covariates in the base model were determined to have statistically significant effects on the occurrence of assemblages</a:t>
            </a:r>
          </a:p>
          <a:p>
            <a:pPr marL="171450" indent="-171450">
              <a:buFont typeface="Arial" panose="020B0604020202020204" pitchFamily="34" charset="0"/>
              <a:buChar char="•"/>
            </a:pPr>
            <a:r>
              <a:rPr lang="en-US" i="0" dirty="0"/>
              <a:t>From this ordination plot, we can identify several effects of covariates on the assemblages assigned to each cluster. A few to highlight are…</a:t>
            </a:r>
          </a:p>
          <a:p>
            <a:pPr marL="628650" lvl="1" indent="-171450">
              <a:buFont typeface="Arial" panose="020B0604020202020204" pitchFamily="34" charset="0"/>
              <a:buChar char="•"/>
            </a:pPr>
            <a:r>
              <a:rPr lang="en-US" i="0" dirty="0"/>
              <a:t>The effect of seafloor depth on the occurrence of the </a:t>
            </a:r>
            <a:r>
              <a:rPr lang="en-US" i="1" dirty="0"/>
              <a:t>Sebastes</a:t>
            </a:r>
            <a:r>
              <a:rPr lang="en-US" i="0" dirty="0"/>
              <a:t> spp. and mesopelagic assemblages (clusters 1 and 3) was positive but had a negative effect on the occurrence of the </a:t>
            </a:r>
            <a:r>
              <a:rPr lang="en-US" i="1" dirty="0"/>
              <a:t>P. vetulus</a:t>
            </a:r>
            <a:r>
              <a:rPr lang="en-US" i="0" dirty="0"/>
              <a:t>, general coastal, and Osmerid assemblages</a:t>
            </a:r>
          </a:p>
          <a:p>
            <a:pPr marL="1085850" lvl="2" indent="-171450">
              <a:buFont typeface="Arial" panose="020B0604020202020204" pitchFamily="34" charset="0"/>
              <a:buChar char="•"/>
            </a:pPr>
            <a:r>
              <a:rPr lang="en-US" i="0" dirty="0"/>
              <a:t>If we recall back to the cluster distributions map shown for objective 1, these relationships were reflected in the map wherein clusters 1 and 3 occurred along the shelf-slope break and offshore while clusters 2, 5, and 6 were all seen predominantly nearshore, where seafloor depth tends to be shallower</a:t>
            </a:r>
          </a:p>
          <a:p>
            <a:pPr marL="628650" lvl="1" indent="-171450">
              <a:buFont typeface="Arial" panose="020B0604020202020204" pitchFamily="34" charset="0"/>
              <a:buChar char="•"/>
            </a:pPr>
            <a:r>
              <a:rPr lang="en-US" i="0" dirty="0"/>
              <a:t>The effects of DO and temperature on the occurrence of the mesopelagic assemblage were positive, though the magnitude of the effect of DO was relatively small</a:t>
            </a:r>
          </a:p>
          <a:p>
            <a:pPr marL="628650" lvl="1" indent="-171450">
              <a:buFont typeface="Arial" panose="020B0604020202020204" pitchFamily="34" charset="0"/>
              <a:buChar char="•"/>
            </a:pPr>
            <a:r>
              <a:rPr lang="en-US" i="0" dirty="0"/>
              <a:t>Chlorophyll-</a:t>
            </a:r>
            <a:r>
              <a:rPr lang="en-US" i="1" dirty="0"/>
              <a:t>a</a:t>
            </a:r>
            <a:r>
              <a:rPr lang="en-US" i="0" dirty="0"/>
              <a:t>, representing primary productivity, had a positive effect on the </a:t>
            </a:r>
            <a:r>
              <a:rPr lang="en-US" i="1" dirty="0"/>
              <a:t>P. vetulus </a:t>
            </a:r>
            <a:r>
              <a:rPr lang="en-US" i="0" dirty="0"/>
              <a:t>and Osmerid assemblages and a negative effect on the </a:t>
            </a:r>
            <a:r>
              <a:rPr lang="en-US" i="1" dirty="0"/>
              <a:t>Sebastes</a:t>
            </a:r>
            <a:r>
              <a:rPr lang="en-US" i="0" dirty="0"/>
              <a:t> spp. and mesopelagic assemblages.</a:t>
            </a:r>
          </a:p>
          <a:p>
            <a:pPr marL="628650" lvl="1" indent="-171450">
              <a:buFont typeface="Arial" panose="020B0604020202020204" pitchFamily="34" charset="0"/>
              <a:buChar char="•"/>
            </a:pPr>
            <a:r>
              <a:rPr lang="en-US" i="0" dirty="0"/>
              <a:t>Time of day had a positive effect on the coastal and </a:t>
            </a:r>
            <a:r>
              <a:rPr lang="en-US" i="1" dirty="0"/>
              <a:t>Sebastes </a:t>
            </a:r>
            <a:r>
              <a:rPr lang="en-US" i="0" dirty="0"/>
              <a:t>spp. assemblage but a negative effect on the occurrence of the mesopelagic assemblage.</a:t>
            </a:r>
          </a:p>
          <a:p>
            <a:pPr marL="1085850" lvl="2" indent="-171450">
              <a:buFont typeface="Arial" panose="020B0604020202020204" pitchFamily="34" charset="0"/>
              <a:buChar char="•"/>
            </a:pPr>
            <a:r>
              <a:rPr lang="en-US" i="0" dirty="0"/>
              <a:t>It was the significance and variance in the effects of time of day that justified our investigation of objective 3</a:t>
            </a:r>
          </a:p>
        </p:txBody>
      </p:sp>
      <p:sp>
        <p:nvSpPr>
          <p:cNvPr id="4" name="Slide Number Placeholder 3">
            <a:extLst>
              <a:ext uri="{FF2B5EF4-FFF2-40B4-BE49-F238E27FC236}">
                <a16:creationId xmlns:a16="http://schemas.microsoft.com/office/drawing/2014/main" id="{677B37FD-9FAD-ABAB-6C88-276437C72DB0}"/>
              </a:ext>
            </a:extLst>
          </p:cNvPr>
          <p:cNvSpPr>
            <a:spLocks noGrp="1"/>
          </p:cNvSpPr>
          <p:nvPr>
            <p:ph type="sldNum" sz="quarter" idx="5"/>
          </p:nvPr>
        </p:nvSpPr>
        <p:spPr/>
        <p:txBody>
          <a:bodyPr/>
          <a:lstStyle/>
          <a:p>
            <a:fld id="{3AC1AA38-86D1-4674-9C68-DF52A9C1CC65}" type="slidenum">
              <a:rPr lang="en-US" smtClean="0"/>
              <a:t>17</a:t>
            </a:fld>
            <a:endParaRPr lang="en-US"/>
          </a:p>
        </p:txBody>
      </p:sp>
    </p:spTree>
    <p:extLst>
      <p:ext uri="{BB962C8B-B14F-4D97-AF65-F5344CB8AC3E}">
        <p14:creationId xmlns:p14="http://schemas.microsoft.com/office/powerpoint/2010/main" val="13256092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And finally, moving on from looking at assemblages, we’ll look at taxon-specific diel variation in vertical distribution</a:t>
            </a:r>
          </a:p>
        </p:txBody>
      </p:sp>
      <p:sp>
        <p:nvSpPr>
          <p:cNvPr id="4" name="Slide Number Placeholder 3"/>
          <p:cNvSpPr>
            <a:spLocks noGrp="1"/>
          </p:cNvSpPr>
          <p:nvPr>
            <p:ph type="sldNum" sz="quarter" idx="5"/>
          </p:nvPr>
        </p:nvSpPr>
        <p:spPr/>
        <p:txBody>
          <a:bodyPr/>
          <a:lstStyle/>
          <a:p>
            <a:fld id="{3AC1AA38-86D1-4674-9C68-DF52A9C1CC65}" type="slidenum">
              <a:rPr lang="en-US" smtClean="0"/>
              <a:t>18</a:t>
            </a:fld>
            <a:endParaRPr lang="en-US"/>
          </a:p>
        </p:txBody>
      </p:sp>
    </p:spTree>
    <p:extLst>
      <p:ext uri="{BB962C8B-B14F-4D97-AF65-F5344CB8AC3E}">
        <p14:creationId xmlns:p14="http://schemas.microsoft.com/office/powerpoint/2010/main" val="40745912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F2FBD-94A2-4BEA-CA73-6BF7D669B3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1DB01-6509-305A-9647-BDE0DAD747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5098AF-E61C-3FE7-26AE-8B6E4888FEB9}"/>
              </a:ext>
            </a:extLst>
          </p:cNvPr>
          <p:cNvSpPr>
            <a:spLocks noGrp="1"/>
          </p:cNvSpPr>
          <p:nvPr>
            <p:ph type="body" idx="1"/>
          </p:nvPr>
        </p:nvSpPr>
        <p:spPr/>
        <p:txBody>
          <a:bodyPr/>
          <a:lstStyle/>
          <a:p>
            <a:pPr marL="171450" lvl="0" indent="-171450">
              <a:buFont typeface="Arial" panose="020B0604020202020204" pitchFamily="34" charset="0"/>
              <a:buChar char="•"/>
            </a:pPr>
            <a:r>
              <a:rPr lang="en-US" dirty="0"/>
              <a:t>As mentioned in the methods, we began approaching this objective by fitting a negative binomial GLMM to the counts of ichthyoplankton belonging to each taxon in each sample</a:t>
            </a:r>
          </a:p>
          <a:p>
            <a:pPr marL="628650" lvl="1" indent="-171450">
              <a:buFont typeface="Arial" panose="020B0604020202020204" pitchFamily="34" charset="0"/>
              <a:buChar char="•"/>
            </a:pPr>
            <a:r>
              <a:rPr lang="en-US" i="1" dirty="0"/>
              <a:t>Accounting for the effect of sampling effort with an offset for the log-transformed volume of water filtered during each net tow</a:t>
            </a:r>
          </a:p>
          <a:p>
            <a:pPr marL="628650" lvl="1" indent="-171450">
              <a:buFont typeface="Arial" panose="020B0604020202020204" pitchFamily="34" charset="0"/>
              <a:buChar char="•"/>
            </a:pPr>
            <a:r>
              <a:rPr lang="en-US" dirty="0"/>
              <a:t>Fixed effects included taxon, year, time of day, depth, latitude, seafloor depth, temperature, salinity, DO, chlorophyll-</a:t>
            </a:r>
            <a:r>
              <a:rPr lang="en-US" i="1" dirty="0"/>
              <a:t>a</a:t>
            </a:r>
            <a:r>
              <a:rPr lang="en-US" i="0" dirty="0"/>
              <a:t> and the full interaction among taxon, time of day, and depth</a:t>
            </a:r>
          </a:p>
          <a:p>
            <a:pPr marL="1085850" lvl="2" indent="-171450">
              <a:buFont typeface="Arial" panose="020B0604020202020204" pitchFamily="34" charset="0"/>
              <a:buChar char="•"/>
            </a:pPr>
            <a:r>
              <a:rPr lang="en-US" i="0" dirty="0"/>
              <a:t>The interaction term served to quantify vertical shifts while all the others accounted for the known effects of environmental and spatiotemporal variables on the LFA</a:t>
            </a:r>
          </a:p>
          <a:p>
            <a:pPr marL="628650" lvl="1" indent="-171450">
              <a:buFont typeface="Arial" panose="020B0604020202020204" pitchFamily="34" charset="0"/>
              <a:buChar char="•"/>
            </a:pPr>
            <a:r>
              <a:rPr lang="en-US" i="1" dirty="0"/>
              <a:t>Continuous predictors were centered and scaled before model fitting and a random intercept for each sample was included</a:t>
            </a:r>
          </a:p>
          <a:p>
            <a:pPr marL="171450" lvl="0" indent="-171450">
              <a:buFont typeface="Arial" panose="020B0604020202020204" pitchFamily="34" charset="0"/>
              <a:buChar char="•"/>
            </a:pPr>
            <a:r>
              <a:rPr lang="en-US" i="0" dirty="0"/>
              <a:t>The interaction between taxon, time of day, and depth was significant for many taxa</a:t>
            </a:r>
          </a:p>
          <a:p>
            <a:pPr marL="171450" lvl="0" indent="-171450">
              <a:buFont typeface="Arial" panose="020B0604020202020204" pitchFamily="34" charset="0"/>
              <a:buChar char="•"/>
            </a:pPr>
            <a:r>
              <a:rPr lang="en-US" i="0" dirty="0"/>
              <a:t>The model alone does not directly address whether each taxon is exhibiting DVM, so plots were made to visualize the interaction between time of day and depth on predicted abundance for each taxon</a:t>
            </a:r>
          </a:p>
        </p:txBody>
      </p:sp>
      <p:sp>
        <p:nvSpPr>
          <p:cNvPr id="4" name="Slide Number Placeholder 3">
            <a:extLst>
              <a:ext uri="{FF2B5EF4-FFF2-40B4-BE49-F238E27FC236}">
                <a16:creationId xmlns:a16="http://schemas.microsoft.com/office/drawing/2014/main" id="{09345863-FCD0-F0EC-C0BA-A9372E2141FB}"/>
              </a:ext>
            </a:extLst>
          </p:cNvPr>
          <p:cNvSpPr>
            <a:spLocks noGrp="1"/>
          </p:cNvSpPr>
          <p:nvPr>
            <p:ph type="sldNum" sz="quarter" idx="5"/>
          </p:nvPr>
        </p:nvSpPr>
        <p:spPr/>
        <p:txBody>
          <a:bodyPr/>
          <a:lstStyle/>
          <a:p>
            <a:fld id="{3AC1AA38-86D1-4674-9C68-DF52A9C1CC65}" type="slidenum">
              <a:rPr lang="en-US" smtClean="0"/>
              <a:t>19</a:t>
            </a:fld>
            <a:endParaRPr lang="en-US"/>
          </a:p>
        </p:txBody>
      </p:sp>
    </p:spTree>
    <p:extLst>
      <p:ext uri="{BB962C8B-B14F-4D97-AF65-F5344CB8AC3E}">
        <p14:creationId xmlns:p14="http://schemas.microsoft.com/office/powerpoint/2010/main" val="5558949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i="0" dirty="0"/>
              <a:t>And here are those plots</a:t>
            </a:r>
          </a:p>
          <a:p>
            <a:pPr marL="171450" lvl="0" indent="-171450">
              <a:buFont typeface="Arial" panose="020B0604020202020204" pitchFamily="34" charset="0"/>
              <a:buChar char="•"/>
            </a:pPr>
            <a:r>
              <a:rPr lang="en-US" i="0" dirty="0"/>
              <a:t>First on the left are surface plots of relative predicted abundance for each taxon at each combination of depth and time of day</a:t>
            </a:r>
          </a:p>
          <a:p>
            <a:pPr marL="628650" lvl="1" indent="-171450">
              <a:buFont typeface="Arial" panose="020B0604020202020204" pitchFamily="34" charset="0"/>
              <a:buChar char="•"/>
            </a:pPr>
            <a:r>
              <a:rPr lang="en-US" i="0" dirty="0"/>
              <a:t>Only 1 (~5%) taxon had its greatest abundance at depth during the day;</a:t>
            </a:r>
          </a:p>
          <a:p>
            <a:pPr marL="628650" lvl="1" indent="-171450">
              <a:buFont typeface="Arial" panose="020B0604020202020204" pitchFamily="34" charset="0"/>
              <a:buChar char="•"/>
            </a:pPr>
            <a:r>
              <a:rPr lang="en-US" i="0" dirty="0"/>
              <a:t>3 (~14%) exhibited greatest abundance at depth at night;</a:t>
            </a:r>
          </a:p>
          <a:p>
            <a:pPr marL="628650" lvl="1" indent="-171450">
              <a:buFont typeface="Arial" panose="020B0604020202020204" pitchFamily="34" charset="0"/>
              <a:buChar char="•"/>
            </a:pPr>
            <a:r>
              <a:rPr lang="en-US" i="0" dirty="0"/>
              <a:t>8 (~36%) exhibited greatest abundance at the surface at night;</a:t>
            </a:r>
          </a:p>
          <a:p>
            <a:pPr marL="628650" lvl="1" indent="-171450">
              <a:buFont typeface="Arial" panose="020B0604020202020204" pitchFamily="34" charset="0"/>
              <a:buChar char="•"/>
            </a:pPr>
            <a:r>
              <a:rPr lang="en-US" i="0" dirty="0"/>
              <a:t>3 (~14%) exhibited great abundance at the surface across times of day;</a:t>
            </a:r>
          </a:p>
          <a:p>
            <a:pPr marL="628650" lvl="1" indent="-171450">
              <a:buFont typeface="Arial" panose="020B0604020202020204" pitchFamily="34" charset="0"/>
              <a:buChar char="•"/>
            </a:pPr>
            <a:r>
              <a:rPr lang="en-US" i="0" dirty="0"/>
              <a:t>5 (~22%) exhibited greatest abundance at the surface during the day; and</a:t>
            </a:r>
          </a:p>
          <a:p>
            <a:pPr marL="628650" lvl="1" indent="-171450">
              <a:buFont typeface="Arial" panose="020B0604020202020204" pitchFamily="34" charset="0"/>
              <a:buChar char="•"/>
            </a:pPr>
            <a:r>
              <a:rPr lang="en-US" i="0" dirty="0"/>
              <a:t>2 (~9%) exhibited greatest abundances at depth at night and at the surface during the day</a:t>
            </a:r>
          </a:p>
          <a:p>
            <a:pPr marL="171450" lvl="0" indent="-171450">
              <a:buFont typeface="Arial" panose="020B0604020202020204" pitchFamily="34" charset="0"/>
              <a:buChar char="•"/>
            </a:pPr>
            <a:r>
              <a:rPr lang="en-US" i="0" dirty="0"/>
              <a:t>In the middle, are plots of total predicted abundance in the sampled depth strata against time of day </a:t>
            </a:r>
          </a:p>
          <a:p>
            <a:pPr marL="171450" lvl="0" indent="-171450">
              <a:buFont typeface="Arial" panose="020B0604020202020204" pitchFamily="34" charset="0"/>
              <a:buChar char="•"/>
            </a:pPr>
            <a:r>
              <a:rPr lang="en-US" i="0" dirty="0"/>
              <a:t>And on the right, is a plot of the depth gradient in log-transformed predicted abundance against time of day to show when during the day total predicted abundance of a taxon increased or decreased with depth</a:t>
            </a:r>
          </a:p>
          <a:p>
            <a:pPr marL="171450" lvl="0" indent="-171450">
              <a:buFont typeface="Arial" panose="020B0604020202020204" pitchFamily="34" charset="0"/>
              <a:buChar char="•"/>
            </a:pPr>
            <a:r>
              <a:rPr lang="en-US" i="0" dirty="0"/>
              <a:t>Like the cluster distribution map, these are difficult to look at in this format so we’re going to zoom in on a couple specific taxa of interest</a:t>
            </a:r>
          </a:p>
        </p:txBody>
      </p:sp>
      <p:sp>
        <p:nvSpPr>
          <p:cNvPr id="4" name="Slide Number Placeholder 3"/>
          <p:cNvSpPr>
            <a:spLocks noGrp="1"/>
          </p:cNvSpPr>
          <p:nvPr>
            <p:ph type="sldNum" sz="quarter" idx="5"/>
          </p:nvPr>
        </p:nvSpPr>
        <p:spPr/>
        <p:txBody>
          <a:bodyPr/>
          <a:lstStyle/>
          <a:p>
            <a:fld id="{3AC1AA38-86D1-4674-9C68-DF52A9C1CC65}" type="slidenum">
              <a:rPr lang="en-US" smtClean="0"/>
              <a:t>20</a:t>
            </a:fld>
            <a:endParaRPr lang="en-US"/>
          </a:p>
        </p:txBody>
      </p:sp>
    </p:spTree>
    <p:extLst>
      <p:ext uri="{BB962C8B-B14F-4D97-AF65-F5344CB8AC3E}">
        <p14:creationId xmlns:p14="http://schemas.microsoft.com/office/powerpoint/2010/main" val="22630089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97097-570C-5FF4-E683-9121F6F99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8F9B2-4FA6-8547-3165-1283429C4C2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5C7D1C-5DD0-8CB9-4F2D-4B17A94556E0}"/>
              </a:ext>
            </a:extLst>
          </p:cNvPr>
          <p:cNvSpPr>
            <a:spLocks noGrp="1"/>
          </p:cNvSpPr>
          <p:nvPr>
            <p:ph type="body" idx="1"/>
          </p:nvPr>
        </p:nvSpPr>
        <p:spPr/>
        <p:txBody>
          <a:bodyPr/>
          <a:lstStyle/>
          <a:p>
            <a:pPr marL="171450" indent="-171450">
              <a:buFont typeface="Arial" panose="020B0604020202020204" pitchFamily="34" charset="0"/>
              <a:buChar char="•"/>
            </a:pPr>
            <a:r>
              <a:rPr lang="en-US" i="0" dirty="0"/>
              <a:t>The first we’d like to highlight is </a:t>
            </a:r>
            <a:r>
              <a:rPr lang="en-US" i="1" dirty="0"/>
              <a:t>Lestidiops ringens </a:t>
            </a:r>
            <a:r>
              <a:rPr lang="en-US" i="0" dirty="0"/>
              <a:t>which exhibited part of the expected DVM distribution</a:t>
            </a:r>
          </a:p>
          <a:p>
            <a:pPr marL="628650" lvl="1" indent="-171450">
              <a:buFont typeface="Arial" panose="020B0604020202020204" pitchFamily="34" charset="0"/>
              <a:buChar char="•"/>
            </a:pPr>
            <a:r>
              <a:rPr lang="en-US" i="0" dirty="0"/>
              <a:t>That is, its greatest predicted abundance was at shallow depths during the night, aligning with nighttime migration toward the surface expected in DVM</a:t>
            </a:r>
          </a:p>
          <a:p>
            <a:pPr marL="628650" lvl="1" indent="-171450">
              <a:buFont typeface="Arial" panose="020B0604020202020204" pitchFamily="34" charset="0"/>
              <a:buChar char="•"/>
            </a:pPr>
            <a:r>
              <a:rPr lang="en-US" i="0" dirty="0"/>
              <a:t>However, </a:t>
            </a:r>
            <a:r>
              <a:rPr lang="en-US" i="1" dirty="0"/>
              <a:t>L. ringens</a:t>
            </a:r>
            <a:r>
              <a:rPr lang="en-US" i="0" dirty="0"/>
              <a:t> did not exhibit great predicted abundance at deep depths during the day, as would also be expected in DVM</a:t>
            </a:r>
          </a:p>
          <a:p>
            <a:pPr marL="171450" lvl="0" indent="-171450">
              <a:buFont typeface="Arial" panose="020B0604020202020204" pitchFamily="34" charset="0"/>
              <a:buChar char="•"/>
            </a:pPr>
            <a:r>
              <a:rPr lang="en-US" i="0" dirty="0"/>
              <a:t>Overall, the total predicted abundance of </a:t>
            </a:r>
            <a:r>
              <a:rPr lang="en-US" i="1" dirty="0"/>
              <a:t>L. ringens</a:t>
            </a:r>
            <a:r>
              <a:rPr lang="en-US" i="0" dirty="0"/>
              <a:t> in the top 100 m decreased over the course of the day</a:t>
            </a:r>
          </a:p>
          <a:p>
            <a:pPr marL="171450" lvl="0" indent="-171450">
              <a:buFont typeface="Arial" panose="020B0604020202020204" pitchFamily="34" charset="0"/>
              <a:buChar char="•"/>
            </a:pPr>
            <a:r>
              <a:rPr lang="en-US" i="0" dirty="0"/>
              <a:t>We can also see that over the course of a day total predicted abundance of </a:t>
            </a:r>
            <a:r>
              <a:rPr lang="en-US" i="1" dirty="0"/>
              <a:t>L. ringens</a:t>
            </a:r>
            <a:r>
              <a:rPr lang="en-US" i="0" dirty="0"/>
              <a:t> increased with decreasing depth, a relationship that became less apparent in the daytime and may not be statistically significant given the error shading includes 0 across the entire day</a:t>
            </a:r>
          </a:p>
          <a:p>
            <a:pPr marL="171450" lvl="0" indent="-171450">
              <a:buFont typeface="Arial" panose="020B0604020202020204" pitchFamily="34" charset="0"/>
              <a:buChar char="•"/>
            </a:pPr>
            <a:r>
              <a:rPr lang="en-US" i="0" dirty="0"/>
              <a:t>Low predicted abundance across depths during the day may be explained by daytime migration below 100 m, out of the reach of our nets</a:t>
            </a:r>
          </a:p>
        </p:txBody>
      </p:sp>
      <p:sp>
        <p:nvSpPr>
          <p:cNvPr id="4" name="Slide Number Placeholder 3">
            <a:extLst>
              <a:ext uri="{FF2B5EF4-FFF2-40B4-BE49-F238E27FC236}">
                <a16:creationId xmlns:a16="http://schemas.microsoft.com/office/drawing/2014/main" id="{809894B0-3726-2503-2700-D68D4ED99CC1}"/>
              </a:ext>
            </a:extLst>
          </p:cNvPr>
          <p:cNvSpPr>
            <a:spLocks noGrp="1"/>
          </p:cNvSpPr>
          <p:nvPr>
            <p:ph type="sldNum" sz="quarter" idx="5"/>
          </p:nvPr>
        </p:nvSpPr>
        <p:spPr/>
        <p:txBody>
          <a:bodyPr/>
          <a:lstStyle/>
          <a:p>
            <a:fld id="{3AC1AA38-86D1-4674-9C68-DF52A9C1CC65}" type="slidenum">
              <a:rPr lang="en-US" smtClean="0"/>
              <a:t>21</a:t>
            </a:fld>
            <a:endParaRPr lang="en-US"/>
          </a:p>
        </p:txBody>
      </p:sp>
    </p:spTree>
    <p:extLst>
      <p:ext uri="{BB962C8B-B14F-4D97-AF65-F5344CB8AC3E}">
        <p14:creationId xmlns:p14="http://schemas.microsoft.com/office/powerpoint/2010/main" val="21981400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6CC3E-AAAB-0FB4-D5EE-628445CD99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A21252-735B-4872-AF33-C6FC549B89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DE3CBC-A9FC-3260-D247-A5E5F1F941D7}"/>
              </a:ext>
            </a:extLst>
          </p:cNvPr>
          <p:cNvSpPr>
            <a:spLocks noGrp="1"/>
          </p:cNvSpPr>
          <p:nvPr>
            <p:ph type="body" idx="1"/>
          </p:nvPr>
        </p:nvSpPr>
        <p:spPr/>
        <p:txBody>
          <a:bodyPr/>
          <a:lstStyle/>
          <a:p>
            <a:pPr marL="171450" indent="-171450">
              <a:buFont typeface="Arial" panose="020B0604020202020204" pitchFamily="34" charset="0"/>
              <a:buChar char="•"/>
            </a:pPr>
            <a:r>
              <a:rPr lang="en-US" i="0" dirty="0"/>
              <a:t>We also want to focus in on the mesopelagic species </a:t>
            </a:r>
            <a:r>
              <a:rPr lang="en-US" i="1" dirty="0"/>
              <a:t>Stenobrachius leucopsarus</a:t>
            </a:r>
            <a:endParaRPr lang="en-US" i="0" dirty="0"/>
          </a:p>
          <a:p>
            <a:pPr marL="171450" indent="-171450">
              <a:buFont typeface="Arial" panose="020B0604020202020204" pitchFamily="34" charset="0"/>
              <a:buChar char="•"/>
            </a:pPr>
            <a:r>
              <a:rPr lang="en-US" i="0" dirty="0"/>
              <a:t>The greatest predicted abundance for this taxon is at deep depths during the night AND at the surface during the day</a:t>
            </a:r>
          </a:p>
          <a:p>
            <a:pPr marL="628650" lvl="1" indent="-171450">
              <a:buFont typeface="Arial" panose="020B0604020202020204" pitchFamily="34" charset="0"/>
              <a:buChar char="•"/>
            </a:pPr>
            <a:r>
              <a:rPr lang="en-US" i="0" dirty="0"/>
              <a:t>This is the direct opposite of what is typically expected in DVM</a:t>
            </a:r>
          </a:p>
          <a:p>
            <a:pPr marL="171450" lvl="0" indent="-171450">
              <a:buFont typeface="Arial" panose="020B0604020202020204" pitchFamily="34" charset="0"/>
              <a:buChar char="•"/>
            </a:pPr>
            <a:r>
              <a:rPr lang="en-US" i="0" dirty="0"/>
              <a:t>Overall, the total predicted abundance of </a:t>
            </a:r>
            <a:r>
              <a:rPr lang="en-US" i="1" dirty="0"/>
              <a:t>S. leucopsarus</a:t>
            </a:r>
            <a:r>
              <a:rPr lang="en-US" i="0" dirty="0"/>
              <a:t> across the top 100 m decreased over the course of the day</a:t>
            </a:r>
          </a:p>
          <a:p>
            <a:pPr marL="171450" lvl="0" indent="-171450">
              <a:buFont typeface="Arial" panose="020B0604020202020204" pitchFamily="34" charset="0"/>
              <a:buChar char="•"/>
            </a:pPr>
            <a:r>
              <a:rPr lang="en-US" i="0" dirty="0"/>
              <a:t>We can also see that during the night, total predicted abundance increased slightly with increasing depth</a:t>
            </a:r>
          </a:p>
          <a:p>
            <a:pPr marL="628650" lvl="1" indent="-171450">
              <a:buFont typeface="Arial" panose="020B0604020202020204" pitchFamily="34" charset="0"/>
              <a:buChar char="•"/>
            </a:pPr>
            <a:r>
              <a:rPr lang="en-US" i="0" dirty="0"/>
              <a:t>This reversed, however, over the day when total predicted abundance was seen decreasing with depth</a:t>
            </a:r>
          </a:p>
        </p:txBody>
      </p:sp>
      <p:sp>
        <p:nvSpPr>
          <p:cNvPr id="4" name="Slide Number Placeholder 3">
            <a:extLst>
              <a:ext uri="{FF2B5EF4-FFF2-40B4-BE49-F238E27FC236}">
                <a16:creationId xmlns:a16="http://schemas.microsoft.com/office/drawing/2014/main" id="{05A772A0-5B46-471C-960B-FE3913C9870A}"/>
              </a:ext>
            </a:extLst>
          </p:cNvPr>
          <p:cNvSpPr>
            <a:spLocks noGrp="1"/>
          </p:cNvSpPr>
          <p:nvPr>
            <p:ph type="sldNum" sz="quarter" idx="5"/>
          </p:nvPr>
        </p:nvSpPr>
        <p:spPr/>
        <p:txBody>
          <a:bodyPr/>
          <a:lstStyle/>
          <a:p>
            <a:fld id="{3AC1AA38-86D1-4674-9C68-DF52A9C1CC65}" type="slidenum">
              <a:rPr lang="en-US" smtClean="0"/>
              <a:t>22</a:t>
            </a:fld>
            <a:endParaRPr lang="en-US"/>
          </a:p>
        </p:txBody>
      </p:sp>
    </p:spTree>
    <p:extLst>
      <p:ext uri="{BB962C8B-B14F-4D97-AF65-F5344CB8AC3E}">
        <p14:creationId xmlns:p14="http://schemas.microsoft.com/office/powerpoint/2010/main" val="13998275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NCC LFA clusters into ecologically distinct assemblages during the winter</a:t>
            </a:r>
          </a:p>
          <a:p>
            <a:pPr marL="628650" lvl="1" indent="-171450">
              <a:buFont typeface="Arial" panose="020B0604020202020204" pitchFamily="34" charset="0"/>
              <a:buChar char="•"/>
            </a:pPr>
            <a:r>
              <a:rPr lang="en-US" dirty="0"/>
              <a:t>Horizontal and vertical distributions of assemblages align with the adult habitat affinities of the taxa therein</a:t>
            </a:r>
          </a:p>
          <a:p>
            <a:pPr marL="1085850" lvl="2" indent="-171450">
              <a:buFont typeface="Arial" panose="020B0604020202020204" pitchFamily="34" charset="0"/>
              <a:buChar char="•"/>
            </a:pPr>
            <a:r>
              <a:rPr lang="en-US" dirty="0"/>
              <a:t>Such a relationship has been previously seen in the spring by Doyle et al. (2002)</a:t>
            </a:r>
          </a:p>
          <a:p>
            <a:pPr marL="1085850" lvl="2" indent="-171450">
              <a:buFont typeface="Arial" panose="020B0604020202020204" pitchFamily="34" charset="0"/>
              <a:buChar char="•"/>
            </a:pPr>
            <a:r>
              <a:rPr lang="en-US" dirty="0"/>
              <a:t>With a proposed explanation that this favors retention of larvae in the same habitats as adults to support recruitment</a:t>
            </a:r>
          </a:p>
          <a:p>
            <a:pPr marL="171450" lvl="0" indent="-171450">
              <a:buFont typeface="Arial" panose="020B0604020202020204" pitchFamily="34" charset="0"/>
              <a:buChar char="•"/>
            </a:pPr>
            <a:r>
              <a:rPr lang="en-US" dirty="0"/>
              <a:t>Winter ichthyoplankton assemblages are significantly influenced by spatiotemporal and environmental factors with spatiotemporal explaining 3.72% and environmental explaining 1.92% of assemblage variation</a:t>
            </a:r>
          </a:p>
          <a:p>
            <a:pPr marL="628650" lvl="1" indent="-171450">
              <a:buFont typeface="Arial" panose="020B0604020202020204" pitchFamily="34" charset="0"/>
              <a:buChar char="•"/>
            </a:pPr>
            <a:r>
              <a:rPr lang="en-US" dirty="0"/>
              <a:t>One spatiotemporal covariate was depth which had a positive effect on our more offshore assemblages and a negative effect on the </a:t>
            </a:r>
            <a:r>
              <a:rPr lang="en-US" i="1" dirty="0"/>
              <a:t>P. vetulus</a:t>
            </a:r>
            <a:r>
              <a:rPr lang="en-US" i="0" dirty="0"/>
              <a:t>, coastal, and Osmerid assemblages</a:t>
            </a:r>
          </a:p>
          <a:p>
            <a:pPr marL="1143000" lvl="2" indent="-228600">
              <a:buFont typeface="Arial" panose="020B0604020202020204" pitchFamily="34" charset="0"/>
              <a:buChar char="•"/>
            </a:pPr>
            <a:r>
              <a:rPr lang="en-US" i="0" dirty="0"/>
              <a:t>It is well established that seafloor depth impacts larval fish assemblages in boundary currents and is significant in shaping horizontal structure (Thompson et al., 2014; </a:t>
            </a:r>
            <a:r>
              <a:rPr lang="en-US" sz="2000" dirty="0"/>
              <a:t>Rodriguez et al., 2015</a:t>
            </a:r>
            <a:r>
              <a:rPr lang="en-US" i="0" dirty="0"/>
              <a:t>)</a:t>
            </a:r>
          </a:p>
          <a:p>
            <a:pPr marL="685800" lvl="1" indent="-228600">
              <a:buFont typeface="Arial" panose="020B0604020202020204" pitchFamily="34" charset="0"/>
              <a:buChar char="•"/>
            </a:pPr>
            <a:r>
              <a:rPr lang="en-US" i="1" dirty="0"/>
              <a:t>Sebastes </a:t>
            </a:r>
            <a:r>
              <a:rPr lang="en-US" i="0" dirty="0"/>
              <a:t>spp. associated heavily with the shelf-slope break, as did the mesopelagic assemblage.</a:t>
            </a:r>
          </a:p>
          <a:p>
            <a:pPr marL="1143000" lvl="2" indent="-228600">
              <a:buFont typeface="Arial" panose="020B0604020202020204" pitchFamily="34" charset="0"/>
              <a:buChar char="•"/>
            </a:pPr>
            <a:r>
              <a:rPr lang="en-US" i="0" dirty="0"/>
              <a:t>Association with the shelf-slope break and along the onshore-offshore axis has been previously observed in ichthyoplankton, including specifically the mesopelagic species </a:t>
            </a:r>
            <a:r>
              <a:rPr lang="en-US" i="1" dirty="0"/>
              <a:t>S. leucopsarus</a:t>
            </a:r>
            <a:r>
              <a:rPr lang="en-US" i="0" dirty="0"/>
              <a:t> (Doyle et al., 2002; Auth, 2011)</a:t>
            </a:r>
          </a:p>
          <a:p>
            <a:pPr marL="685800" lvl="1" indent="-228600">
              <a:buFont typeface="Arial" panose="020B0604020202020204" pitchFamily="34" charset="0"/>
              <a:buChar char="•"/>
            </a:pPr>
            <a:r>
              <a:rPr lang="en-US" i="0" dirty="0"/>
              <a:t>We observed positive effects of DO and temperature on the mesopelagic assemblage</a:t>
            </a:r>
          </a:p>
          <a:p>
            <a:pPr marL="1143000" lvl="2" indent="-228600">
              <a:buFont typeface="Arial" panose="020B0604020202020204" pitchFamily="34" charset="0"/>
              <a:buChar char="•"/>
            </a:pPr>
            <a:r>
              <a:rPr lang="en-US" i="0" dirty="0"/>
              <a:t>Both of these factors have well documented effects on overall LFC composition and abundance with some proposing that the temperature effect is due, in part, to the control temperature can exert on egg maturation (Thompson et al., 2014; Auth, 2011, Chen et al., 2025)</a:t>
            </a:r>
          </a:p>
          <a:p>
            <a:pPr marL="685800" lvl="1" indent="-228600">
              <a:buFont typeface="Arial" panose="020B0604020202020204" pitchFamily="34" charset="0"/>
              <a:buChar char="•"/>
            </a:pPr>
            <a:r>
              <a:rPr lang="en-US" i="0" dirty="0"/>
              <a:t>Time of day</a:t>
            </a:r>
          </a:p>
          <a:p>
            <a:pPr marL="685800" lvl="1" indent="-22860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AC1AA38-86D1-4674-9C68-DF52A9C1CC65}" type="slidenum">
              <a:rPr lang="en-US" smtClean="0"/>
              <a:t>23</a:t>
            </a:fld>
            <a:endParaRPr lang="en-US"/>
          </a:p>
        </p:txBody>
      </p:sp>
    </p:spTree>
    <p:extLst>
      <p:ext uri="{BB962C8B-B14F-4D97-AF65-F5344CB8AC3E}">
        <p14:creationId xmlns:p14="http://schemas.microsoft.com/office/powerpoint/2010/main" val="30093854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dirty="0"/>
              <a:t>None of the taxa in this study exhibit a distribution congruent with what is typically expected of DVM</a:t>
            </a:r>
          </a:p>
          <a:p>
            <a:pPr marL="171450" lvl="0" indent="-171450">
              <a:buFont typeface="Arial" panose="020B0604020202020204" pitchFamily="34" charset="0"/>
              <a:buChar char="•"/>
            </a:pPr>
            <a:r>
              <a:rPr lang="en-US" i="0" dirty="0"/>
              <a:t>In fact, some taxa such as </a:t>
            </a:r>
            <a:r>
              <a:rPr lang="en-US" i="1" dirty="0"/>
              <a:t>S. leucopsarus </a:t>
            </a:r>
            <a:r>
              <a:rPr lang="en-US" i="0" dirty="0"/>
              <a:t>exhibited the opposite of normal DVM</a:t>
            </a:r>
          </a:p>
          <a:p>
            <a:pPr marL="628650" lvl="1" indent="-171450">
              <a:buClrTx/>
              <a:buSzTx/>
              <a:buFont typeface="Arial" panose="020B0604020202020204" pitchFamily="34" charset="0"/>
              <a:buChar char="•"/>
            </a:pPr>
            <a:r>
              <a:rPr lang="en-US" i="0" dirty="0"/>
              <a:t>Such distributions were also documented by Auth et al. in 2007 and coined as type-II DVM</a:t>
            </a:r>
            <a:endParaRPr lang="en-US" dirty="0"/>
          </a:p>
          <a:p>
            <a:pPr marL="171450" lvl="0" indent="-171450">
              <a:buFont typeface="Arial" panose="020B0604020202020204" pitchFamily="34" charset="0"/>
              <a:buChar char="•"/>
            </a:pPr>
            <a:r>
              <a:rPr lang="en-US" dirty="0"/>
              <a:t>Several taxa including </a:t>
            </a:r>
            <a:r>
              <a:rPr lang="en-US" i="1" dirty="0"/>
              <a:t>L. ringens</a:t>
            </a:r>
            <a:r>
              <a:rPr lang="en-US" dirty="0"/>
              <a:t> exhibited part of the typical DVM cycle where they were abundant near the surface at night but absent from the sampled depth strata during the day</a:t>
            </a:r>
          </a:p>
          <a:p>
            <a:pPr marL="628650" lvl="1" indent="-171450">
              <a:buFont typeface="Arial" panose="020B0604020202020204" pitchFamily="34" charset="0"/>
              <a:buChar char="•"/>
            </a:pPr>
            <a:r>
              <a:rPr lang="en-US" dirty="0"/>
              <a:t>Migration below 100 m, out of the sampled strata, is one proposed explanation for this finding.</a:t>
            </a:r>
          </a:p>
          <a:p>
            <a:pPr marL="628650" lvl="1" indent="-171450">
              <a:buFont typeface="Arial" panose="020B0604020202020204" pitchFamily="34" charset="0"/>
              <a:buChar char="•"/>
            </a:pPr>
            <a:r>
              <a:rPr lang="en-US" dirty="0"/>
              <a:t>This is unlikely, however, as numerous studies have found the vast majority of the LFA to inhabit the upper 100 m (Auth et al., 2007; Auth and Brodeur, 2006; Thompson et al., 2014)</a:t>
            </a:r>
          </a:p>
          <a:p>
            <a:pPr marL="171450" lvl="0" indent="-171450">
              <a:buFont typeface="Arial" panose="020B0604020202020204" pitchFamily="34" charset="0"/>
              <a:buChar char="•"/>
            </a:pPr>
            <a:r>
              <a:rPr lang="en-US" dirty="0"/>
              <a:t>Many ichthyoplankton, including several taxa in our study, have been documented engaging in DVM</a:t>
            </a:r>
          </a:p>
          <a:p>
            <a:pPr marL="628650" lvl="1" indent="-171450">
              <a:buFont typeface="Arial" panose="020B0604020202020204" pitchFamily="34" charset="0"/>
              <a:buChar char="•"/>
            </a:pPr>
            <a:r>
              <a:rPr lang="en-US" dirty="0"/>
              <a:t>Adaptive advantages including ideal light conditions, predator avoidance, and optimized prey availability have been proposed as explanations (Haldorson et al., 1993; Primo et al., 2012)</a:t>
            </a:r>
          </a:p>
          <a:p>
            <a:pPr marL="628650" lvl="1" indent="-171450">
              <a:buFont typeface="Arial" panose="020B0604020202020204" pitchFamily="34" charset="0"/>
              <a:buChar char="•"/>
            </a:pPr>
            <a:r>
              <a:rPr lang="en-US" dirty="0"/>
              <a:t>Seasonal differences in such factors and other ecological interactions may explain the absence of this behavior in our winter study.</a:t>
            </a:r>
          </a:p>
        </p:txBody>
      </p:sp>
      <p:sp>
        <p:nvSpPr>
          <p:cNvPr id="4" name="Slide Number Placeholder 3"/>
          <p:cNvSpPr>
            <a:spLocks noGrp="1"/>
          </p:cNvSpPr>
          <p:nvPr>
            <p:ph type="sldNum" sz="quarter" idx="5"/>
          </p:nvPr>
        </p:nvSpPr>
        <p:spPr/>
        <p:txBody>
          <a:bodyPr/>
          <a:lstStyle/>
          <a:p>
            <a:fld id="{3AC1AA38-86D1-4674-9C68-DF52A9C1CC65}" type="slidenum">
              <a:rPr lang="en-US" smtClean="0"/>
              <a:t>24</a:t>
            </a:fld>
            <a:endParaRPr lang="en-US"/>
          </a:p>
        </p:txBody>
      </p:sp>
    </p:spTree>
    <p:extLst>
      <p:ext uri="{BB962C8B-B14F-4D97-AF65-F5344CB8AC3E}">
        <p14:creationId xmlns:p14="http://schemas.microsoft.com/office/powerpoint/2010/main" val="23658781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52431-4C72-55B1-841B-6213D69809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1EA8C-D1F8-75DD-8255-79B19C6E3A3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AB67E1-6A8B-E92F-17FC-E7E7631CBE0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Before I conclude here, I’d like to thank [insert funding here], everyone involved in sampling, and the crew members aboard our sampling cruises.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And thank you for your attention. I’d be happy to take a couple questions.</a:t>
            </a:r>
          </a:p>
          <a:p>
            <a:pPr marL="171450" lvl="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1263122-4DFE-88BD-F80B-6171BD315464}"/>
              </a:ext>
            </a:extLst>
          </p:cNvPr>
          <p:cNvSpPr>
            <a:spLocks noGrp="1"/>
          </p:cNvSpPr>
          <p:nvPr>
            <p:ph type="sldNum" sz="quarter" idx="5"/>
          </p:nvPr>
        </p:nvSpPr>
        <p:spPr/>
        <p:txBody>
          <a:bodyPr/>
          <a:lstStyle/>
          <a:p>
            <a:fld id="{3AC1AA38-86D1-4674-9C68-DF52A9C1CC65}" type="slidenum">
              <a:rPr lang="en-US" smtClean="0"/>
              <a:t>25</a:t>
            </a:fld>
            <a:endParaRPr lang="en-US"/>
          </a:p>
        </p:txBody>
      </p:sp>
    </p:spTree>
    <p:extLst>
      <p:ext uri="{BB962C8B-B14F-4D97-AF65-F5344CB8AC3E}">
        <p14:creationId xmlns:p14="http://schemas.microsoft.com/office/powerpoint/2010/main" val="2939804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CC774E-A65B-4DD3-BE4B-56D545A0DA29}"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B33805-9E83-4060-B5C0-E394AAE5CE46}" type="slidenum">
              <a:rPr lang="en-US" smtClean="0"/>
              <a:t>‹#›</a:t>
            </a:fld>
            <a:endParaRPr lang="en-US"/>
          </a:p>
        </p:txBody>
      </p:sp>
    </p:spTree>
    <p:extLst>
      <p:ext uri="{BB962C8B-B14F-4D97-AF65-F5344CB8AC3E}">
        <p14:creationId xmlns:p14="http://schemas.microsoft.com/office/powerpoint/2010/main" val="2210519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CC774E-A65B-4DD3-BE4B-56D545A0DA29}"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B33805-9E83-4060-B5C0-E394AAE5CE46}" type="slidenum">
              <a:rPr lang="en-US" smtClean="0"/>
              <a:t>‹#›</a:t>
            </a:fld>
            <a:endParaRPr lang="en-US"/>
          </a:p>
        </p:txBody>
      </p:sp>
    </p:spTree>
    <p:extLst>
      <p:ext uri="{BB962C8B-B14F-4D97-AF65-F5344CB8AC3E}">
        <p14:creationId xmlns:p14="http://schemas.microsoft.com/office/powerpoint/2010/main" val="4095748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CC774E-A65B-4DD3-BE4B-56D545A0DA29}"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B33805-9E83-4060-B5C0-E394AAE5CE46}" type="slidenum">
              <a:rPr lang="en-US" smtClean="0"/>
              <a:t>‹#›</a:t>
            </a:fld>
            <a:endParaRPr lang="en-US"/>
          </a:p>
        </p:txBody>
      </p:sp>
    </p:spTree>
    <p:extLst>
      <p:ext uri="{BB962C8B-B14F-4D97-AF65-F5344CB8AC3E}">
        <p14:creationId xmlns:p14="http://schemas.microsoft.com/office/powerpoint/2010/main" val="148367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CC774E-A65B-4DD3-BE4B-56D545A0DA29}"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B33805-9E83-4060-B5C0-E394AAE5CE46}" type="slidenum">
              <a:rPr lang="en-US" smtClean="0"/>
              <a:t>‹#›</a:t>
            </a:fld>
            <a:endParaRPr lang="en-US"/>
          </a:p>
        </p:txBody>
      </p:sp>
    </p:spTree>
    <p:extLst>
      <p:ext uri="{BB962C8B-B14F-4D97-AF65-F5344CB8AC3E}">
        <p14:creationId xmlns:p14="http://schemas.microsoft.com/office/powerpoint/2010/main" val="1398322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CC774E-A65B-4DD3-BE4B-56D545A0DA29}"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B33805-9E83-4060-B5C0-E394AAE5CE46}" type="slidenum">
              <a:rPr lang="en-US" smtClean="0"/>
              <a:t>‹#›</a:t>
            </a:fld>
            <a:endParaRPr lang="en-US"/>
          </a:p>
        </p:txBody>
      </p:sp>
    </p:spTree>
    <p:extLst>
      <p:ext uri="{BB962C8B-B14F-4D97-AF65-F5344CB8AC3E}">
        <p14:creationId xmlns:p14="http://schemas.microsoft.com/office/powerpoint/2010/main" val="1430781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CC774E-A65B-4DD3-BE4B-56D545A0DA29}"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B33805-9E83-4060-B5C0-E394AAE5CE46}" type="slidenum">
              <a:rPr lang="en-US" smtClean="0"/>
              <a:t>‹#›</a:t>
            </a:fld>
            <a:endParaRPr lang="en-US"/>
          </a:p>
        </p:txBody>
      </p:sp>
    </p:spTree>
    <p:extLst>
      <p:ext uri="{BB962C8B-B14F-4D97-AF65-F5344CB8AC3E}">
        <p14:creationId xmlns:p14="http://schemas.microsoft.com/office/powerpoint/2010/main" val="3956656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CC774E-A65B-4DD3-BE4B-56D545A0DA29}"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B33805-9E83-4060-B5C0-E394AAE5CE46}" type="slidenum">
              <a:rPr lang="en-US" smtClean="0"/>
              <a:t>‹#›</a:t>
            </a:fld>
            <a:endParaRPr lang="en-US"/>
          </a:p>
        </p:txBody>
      </p:sp>
    </p:spTree>
    <p:extLst>
      <p:ext uri="{BB962C8B-B14F-4D97-AF65-F5344CB8AC3E}">
        <p14:creationId xmlns:p14="http://schemas.microsoft.com/office/powerpoint/2010/main" val="1018801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ECC774E-A65B-4DD3-BE4B-56D545A0DA29}"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B33805-9E83-4060-B5C0-E394AAE5CE46}" type="slidenum">
              <a:rPr lang="en-US" smtClean="0"/>
              <a:t>‹#›</a:t>
            </a:fld>
            <a:endParaRPr lang="en-US"/>
          </a:p>
        </p:txBody>
      </p:sp>
    </p:spTree>
    <p:extLst>
      <p:ext uri="{BB962C8B-B14F-4D97-AF65-F5344CB8AC3E}">
        <p14:creationId xmlns:p14="http://schemas.microsoft.com/office/powerpoint/2010/main" val="360817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ECC774E-A65B-4DD3-BE4B-56D545A0DA29}"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B33805-9E83-4060-B5C0-E394AAE5CE46}" type="slidenum">
              <a:rPr lang="en-US" smtClean="0"/>
              <a:t>‹#›</a:t>
            </a:fld>
            <a:endParaRPr lang="en-US"/>
          </a:p>
        </p:txBody>
      </p:sp>
    </p:spTree>
    <p:extLst>
      <p:ext uri="{BB962C8B-B14F-4D97-AF65-F5344CB8AC3E}">
        <p14:creationId xmlns:p14="http://schemas.microsoft.com/office/powerpoint/2010/main" val="1749088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CC774E-A65B-4DD3-BE4B-56D545A0DA29}"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B33805-9E83-4060-B5C0-E394AAE5CE46}" type="slidenum">
              <a:rPr lang="en-US" smtClean="0"/>
              <a:t>‹#›</a:t>
            </a:fld>
            <a:endParaRPr lang="en-US"/>
          </a:p>
        </p:txBody>
      </p:sp>
    </p:spTree>
    <p:extLst>
      <p:ext uri="{BB962C8B-B14F-4D97-AF65-F5344CB8AC3E}">
        <p14:creationId xmlns:p14="http://schemas.microsoft.com/office/powerpoint/2010/main" val="3398074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CC774E-A65B-4DD3-BE4B-56D545A0DA29}"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B33805-9E83-4060-B5C0-E394AAE5CE46}" type="slidenum">
              <a:rPr lang="en-US" smtClean="0"/>
              <a:t>‹#›</a:t>
            </a:fld>
            <a:endParaRPr lang="en-US"/>
          </a:p>
        </p:txBody>
      </p:sp>
    </p:spTree>
    <p:extLst>
      <p:ext uri="{BB962C8B-B14F-4D97-AF65-F5344CB8AC3E}">
        <p14:creationId xmlns:p14="http://schemas.microsoft.com/office/powerpoint/2010/main" val="3322702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CC774E-A65B-4DD3-BE4B-56D545A0DA29}" type="datetimeFigureOut">
              <a:rPr lang="en-US" smtClean="0"/>
              <a:t>10/1/2026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B33805-9E83-4060-B5C0-E394AAE5CE46}" type="slidenum">
              <a:rPr lang="en-US" smtClean="0"/>
              <a:t>‹#›</a:t>
            </a:fld>
            <a:endParaRPr lang="en-US"/>
          </a:p>
        </p:txBody>
      </p:sp>
    </p:spTree>
    <p:extLst>
      <p:ext uri="{BB962C8B-B14F-4D97-AF65-F5344CB8AC3E}">
        <p14:creationId xmlns:p14="http://schemas.microsoft.com/office/powerpoint/2010/main" val="12464274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4B15A-1BA8-FAE0-F178-B785304BAB9C}"/>
              </a:ext>
            </a:extLst>
          </p:cNvPr>
          <p:cNvSpPr>
            <a:spLocks noGrp="1"/>
          </p:cNvSpPr>
          <p:nvPr>
            <p:ph type="ctrTitle"/>
          </p:nvPr>
        </p:nvSpPr>
        <p:spPr>
          <a:xfrm>
            <a:off x="639679" y="1136984"/>
            <a:ext cx="10912642" cy="3058779"/>
          </a:xfrm>
        </p:spPr>
        <p:txBody>
          <a:bodyPr>
            <a:normAutofit/>
          </a:bodyPr>
          <a:lstStyle/>
          <a:p>
            <a:r>
              <a:rPr lang="en-US" sz="5200" dirty="0"/>
              <a:t>Environmental and spatiotemporal influences on winter ichthyoplankton assemblages of the northern California Current ecosystem</a:t>
            </a:r>
          </a:p>
        </p:txBody>
      </p:sp>
      <p:sp>
        <p:nvSpPr>
          <p:cNvPr id="3" name="Subtitle 2">
            <a:extLst>
              <a:ext uri="{FF2B5EF4-FFF2-40B4-BE49-F238E27FC236}">
                <a16:creationId xmlns:a16="http://schemas.microsoft.com/office/drawing/2014/main" id="{762E0F39-94FA-771E-FB61-BEBEF98967E4}"/>
              </a:ext>
            </a:extLst>
          </p:cNvPr>
          <p:cNvSpPr>
            <a:spLocks noGrp="1"/>
          </p:cNvSpPr>
          <p:nvPr>
            <p:ph type="subTitle" idx="1"/>
          </p:nvPr>
        </p:nvSpPr>
        <p:spPr>
          <a:xfrm>
            <a:off x="1524000" y="4690895"/>
            <a:ext cx="9144000" cy="773216"/>
          </a:xfrm>
        </p:spPr>
        <p:txBody>
          <a:bodyPr/>
          <a:lstStyle/>
          <a:p>
            <a:r>
              <a:rPr lang="en-US" b="1" dirty="0"/>
              <a:t>William R. McCloskey</a:t>
            </a:r>
            <a:r>
              <a:rPr lang="en-US" dirty="0"/>
              <a:t>, Luke A. Bobay, Nicholas F. Howard, Robert K. Cowen and Su Sponaugle</a:t>
            </a:r>
          </a:p>
        </p:txBody>
      </p:sp>
    </p:spTree>
    <p:extLst>
      <p:ext uri="{BB962C8B-B14F-4D97-AF65-F5344CB8AC3E}">
        <p14:creationId xmlns:p14="http://schemas.microsoft.com/office/powerpoint/2010/main" val="3761486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E3F03-D8C1-AD38-095D-B69CB01CC9C5}"/>
              </a:ext>
            </a:extLst>
          </p:cNvPr>
          <p:cNvSpPr>
            <a:spLocks noGrp="1"/>
          </p:cNvSpPr>
          <p:nvPr>
            <p:ph type="title"/>
          </p:nvPr>
        </p:nvSpPr>
        <p:spPr>
          <a:xfrm>
            <a:off x="882650" y="2862262"/>
            <a:ext cx="10515600" cy="1133475"/>
          </a:xfrm>
        </p:spPr>
        <p:txBody>
          <a:bodyPr>
            <a:normAutofit/>
          </a:bodyPr>
          <a:lstStyle/>
          <a:p>
            <a:pPr algn="ctr"/>
            <a:r>
              <a:rPr lang="en-US" sz="6600" b="1" dirty="0"/>
              <a:t>Introduction and Background</a:t>
            </a:r>
          </a:p>
        </p:txBody>
      </p:sp>
    </p:spTree>
    <p:extLst>
      <p:ext uri="{BB962C8B-B14F-4D97-AF65-F5344CB8AC3E}">
        <p14:creationId xmlns:p14="http://schemas.microsoft.com/office/powerpoint/2010/main" val="537475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5C9AD-FC0D-3A86-E202-84D9D17D21BF}"/>
              </a:ext>
            </a:extLst>
          </p:cNvPr>
          <p:cNvSpPr>
            <a:spLocks noGrp="1"/>
          </p:cNvSpPr>
          <p:nvPr>
            <p:ph type="title"/>
          </p:nvPr>
        </p:nvSpPr>
        <p:spPr/>
        <p:txBody>
          <a:bodyPr>
            <a:normAutofit/>
          </a:bodyPr>
          <a:lstStyle/>
          <a:p>
            <a:r>
              <a:rPr lang="en-US" sz="4000" dirty="0"/>
              <a:t>Larval fish assemblages</a:t>
            </a:r>
          </a:p>
        </p:txBody>
      </p:sp>
      <p:sp>
        <p:nvSpPr>
          <p:cNvPr id="3" name="Content Placeholder 2">
            <a:extLst>
              <a:ext uri="{FF2B5EF4-FFF2-40B4-BE49-F238E27FC236}">
                <a16:creationId xmlns:a16="http://schemas.microsoft.com/office/drawing/2014/main" id="{B794F408-F88D-DCBB-61B4-3BF6CF83AD6C}"/>
              </a:ext>
            </a:extLst>
          </p:cNvPr>
          <p:cNvSpPr>
            <a:spLocks noGrp="1"/>
          </p:cNvSpPr>
          <p:nvPr>
            <p:ph idx="1"/>
          </p:nvPr>
        </p:nvSpPr>
        <p:spPr/>
        <p:txBody>
          <a:bodyPr>
            <a:normAutofit/>
          </a:bodyPr>
          <a:lstStyle/>
          <a:p>
            <a:r>
              <a:rPr lang="en-US" dirty="0"/>
              <a:t>Inhabit the upper 100 m of the water column </a:t>
            </a:r>
            <a:r>
              <a:rPr lang="en-US" sz="1600" dirty="0"/>
              <a:t>(Auth and Brodeur, 2006; Thompson et al., 2014)</a:t>
            </a:r>
          </a:p>
          <a:p>
            <a:pPr lvl="1"/>
            <a:r>
              <a:rPr lang="en-US" sz="2500" dirty="0"/>
              <a:t>96% of larvae, day &amp; night </a:t>
            </a:r>
            <a:r>
              <a:rPr lang="en-US" sz="1600" dirty="0"/>
              <a:t>(Auth et al., 2007)</a:t>
            </a:r>
          </a:p>
          <a:p>
            <a:r>
              <a:rPr lang="en-US" dirty="0"/>
              <a:t>Larvae aggregate horizontally and vertically </a:t>
            </a:r>
            <a:r>
              <a:rPr lang="en-US" sz="1600" dirty="0"/>
              <a:t>(Pattrick et al., 2021)</a:t>
            </a:r>
          </a:p>
          <a:p>
            <a:pPr lvl="1"/>
            <a:r>
              <a:rPr lang="en-US" sz="2500" dirty="0"/>
              <a:t>Vertical migration </a:t>
            </a:r>
            <a:r>
              <a:rPr lang="en-US" sz="1600" dirty="0"/>
              <a:t>(Huebert et al., 2010; Auth, 2007)</a:t>
            </a:r>
          </a:p>
          <a:p>
            <a:r>
              <a:rPr lang="en-US" dirty="0"/>
              <a:t>Known influence of broad oceanographic and fine-scale environmental factors </a:t>
            </a:r>
            <a:r>
              <a:rPr lang="en-US" sz="1600" dirty="0"/>
              <a:t>(Pepin, 1991; </a:t>
            </a:r>
            <a:r>
              <a:rPr lang="en-US" sz="1600" dirty="0" err="1"/>
              <a:t>Bœuf</a:t>
            </a:r>
            <a:r>
              <a:rPr lang="en-US" sz="1600" dirty="0"/>
              <a:t> and Payan, 2001; Johnson-Colegrove et al., 2015; Whiney et al., 2021)</a:t>
            </a:r>
            <a:endParaRPr lang="en-US" sz="2400" dirty="0"/>
          </a:p>
          <a:p>
            <a:endParaRPr lang="en-US" sz="2400" dirty="0"/>
          </a:p>
          <a:p>
            <a:endParaRPr lang="en-US" sz="2400" dirty="0"/>
          </a:p>
        </p:txBody>
      </p:sp>
    </p:spTree>
    <p:extLst>
      <p:ext uri="{BB962C8B-B14F-4D97-AF65-F5344CB8AC3E}">
        <p14:creationId xmlns:p14="http://schemas.microsoft.com/office/powerpoint/2010/main" val="3214108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B1884-9909-6996-B1EF-F9DB304B33C9}"/>
              </a:ext>
            </a:extLst>
          </p:cNvPr>
          <p:cNvSpPr>
            <a:spLocks noGrp="1"/>
          </p:cNvSpPr>
          <p:nvPr>
            <p:ph type="title"/>
          </p:nvPr>
        </p:nvSpPr>
        <p:spPr>
          <a:xfrm>
            <a:off x="838200" y="365125"/>
            <a:ext cx="7802526" cy="1325563"/>
          </a:xfrm>
        </p:spPr>
        <p:txBody>
          <a:bodyPr>
            <a:normAutofit/>
          </a:bodyPr>
          <a:lstStyle/>
          <a:p>
            <a:r>
              <a:rPr lang="en-US" sz="4000" dirty="0"/>
              <a:t>The LFA in the NCC</a:t>
            </a:r>
          </a:p>
        </p:txBody>
      </p:sp>
      <p:sp>
        <p:nvSpPr>
          <p:cNvPr id="9" name="Content Placeholder 2">
            <a:extLst>
              <a:ext uri="{FF2B5EF4-FFF2-40B4-BE49-F238E27FC236}">
                <a16:creationId xmlns:a16="http://schemas.microsoft.com/office/drawing/2014/main" id="{BF0B4996-C155-D141-B46D-2B5DDE308CD7}"/>
              </a:ext>
            </a:extLst>
          </p:cNvPr>
          <p:cNvSpPr>
            <a:spLocks noGrp="1"/>
          </p:cNvSpPr>
          <p:nvPr>
            <p:ph idx="1"/>
          </p:nvPr>
        </p:nvSpPr>
        <p:spPr>
          <a:xfrm>
            <a:off x="838200" y="1825625"/>
            <a:ext cx="10515600" cy="4351338"/>
          </a:xfrm>
        </p:spPr>
        <p:txBody>
          <a:bodyPr>
            <a:normAutofit/>
          </a:bodyPr>
          <a:lstStyle/>
          <a:p>
            <a:r>
              <a:rPr lang="en-US" dirty="0"/>
              <a:t>NCC = Eastern boundary current system</a:t>
            </a:r>
          </a:p>
          <a:p>
            <a:r>
              <a:rPr lang="en-US" dirty="0"/>
              <a:t>Supports important fish populations </a:t>
            </a:r>
            <a:r>
              <a:rPr lang="en-US" sz="1600" dirty="0"/>
              <a:t>(Auth, 2011)</a:t>
            </a:r>
          </a:p>
          <a:p>
            <a:r>
              <a:rPr lang="en-US" dirty="0"/>
              <a:t>Peak spawning in winter </a:t>
            </a:r>
            <a:r>
              <a:rPr lang="en-US" sz="1600" dirty="0"/>
              <a:t>(Doyle, 1992; Brodeur et al., 2008)</a:t>
            </a:r>
          </a:p>
          <a:p>
            <a:r>
              <a:rPr lang="en-US" dirty="0"/>
              <a:t>Larval dynamics can be useful indicators </a:t>
            </a:r>
            <a:r>
              <a:rPr lang="en-US" sz="1600" dirty="0"/>
              <a:t>(Brodeur et al., 2008)</a:t>
            </a:r>
          </a:p>
          <a:p>
            <a:endParaRPr lang="en-US" sz="2000" dirty="0"/>
          </a:p>
          <a:p>
            <a:r>
              <a:rPr lang="en-US" dirty="0"/>
              <a:t>Relatively scarce winter LFA research</a:t>
            </a:r>
          </a:p>
          <a:p>
            <a:r>
              <a:rPr lang="en-US" dirty="0"/>
              <a:t>Lack of depth-stratified winter LFA research</a:t>
            </a:r>
          </a:p>
          <a:p>
            <a:endParaRPr lang="en-US" sz="2600" dirty="0"/>
          </a:p>
          <a:p>
            <a:endParaRPr lang="en-US" dirty="0"/>
          </a:p>
          <a:p>
            <a:endParaRPr lang="en-US" sz="2000" dirty="0"/>
          </a:p>
          <a:p>
            <a:endParaRPr lang="en-US" sz="2000" dirty="0"/>
          </a:p>
          <a:p>
            <a:endParaRPr lang="en-US" sz="2600" dirty="0"/>
          </a:p>
          <a:p>
            <a:endParaRPr lang="en-US" sz="2400" dirty="0"/>
          </a:p>
          <a:p>
            <a:endParaRPr lang="en-US" sz="2400" dirty="0"/>
          </a:p>
          <a:p>
            <a:endParaRPr lang="en-US" sz="2400" dirty="0"/>
          </a:p>
        </p:txBody>
      </p:sp>
    </p:spTree>
    <p:extLst>
      <p:ext uri="{BB962C8B-B14F-4D97-AF65-F5344CB8AC3E}">
        <p14:creationId xmlns:p14="http://schemas.microsoft.com/office/powerpoint/2010/main" val="2055671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26C043E-21C5-5F4C-FBC2-3B1B713D6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540869-6938-5F0F-72D8-BB4B812ADDD3}"/>
              </a:ext>
            </a:extLst>
          </p:cNvPr>
          <p:cNvSpPr>
            <a:spLocks noGrp="1"/>
          </p:cNvSpPr>
          <p:nvPr>
            <p:ph type="title"/>
          </p:nvPr>
        </p:nvSpPr>
        <p:spPr/>
        <p:txBody>
          <a:bodyPr>
            <a:normAutofit/>
          </a:bodyPr>
          <a:lstStyle/>
          <a:p>
            <a:r>
              <a:rPr lang="en-US" sz="3600" dirty="0"/>
              <a:t>State of LFC knowledge in the NCC</a:t>
            </a:r>
          </a:p>
        </p:txBody>
      </p:sp>
      <p:sp>
        <p:nvSpPr>
          <p:cNvPr id="3" name="Content Placeholder 2">
            <a:extLst>
              <a:ext uri="{FF2B5EF4-FFF2-40B4-BE49-F238E27FC236}">
                <a16:creationId xmlns:a16="http://schemas.microsoft.com/office/drawing/2014/main" id="{8F7D8B53-4936-9A06-42AB-CD3147FACA60}"/>
              </a:ext>
            </a:extLst>
          </p:cNvPr>
          <p:cNvSpPr>
            <a:spLocks noGrp="1"/>
          </p:cNvSpPr>
          <p:nvPr>
            <p:ph idx="1"/>
          </p:nvPr>
        </p:nvSpPr>
        <p:spPr/>
        <p:txBody>
          <a:bodyPr>
            <a:normAutofit/>
          </a:bodyPr>
          <a:lstStyle/>
          <a:p>
            <a:r>
              <a:rPr lang="en-US" sz="2600" dirty="0"/>
              <a:t>NCC = Eastern boundary current system</a:t>
            </a:r>
          </a:p>
          <a:p>
            <a:r>
              <a:rPr lang="en-US" sz="2600" dirty="0"/>
              <a:t>Supports important fish populations </a:t>
            </a:r>
            <a:r>
              <a:rPr lang="en-US" sz="2000" dirty="0"/>
              <a:t>(Auth, 2011)</a:t>
            </a:r>
            <a:endParaRPr lang="en-US" sz="2600" dirty="0"/>
          </a:p>
          <a:p>
            <a:r>
              <a:rPr lang="en-US" sz="2600" dirty="0"/>
              <a:t>LFC is influenced by broad oceanographic conditions and finer-scale environmental factors</a:t>
            </a:r>
          </a:p>
          <a:p>
            <a:r>
              <a:rPr lang="en-US" sz="2600" dirty="0"/>
              <a:t>Peak spawning in winter </a:t>
            </a:r>
            <a:r>
              <a:rPr lang="en-US" sz="2000" dirty="0"/>
              <a:t>(Doyle, 1992; Brodeur et al., 2008)</a:t>
            </a:r>
          </a:p>
          <a:p>
            <a:r>
              <a:rPr lang="en-US" sz="2600" dirty="0"/>
              <a:t>LFC dynamics can be useful indicators </a:t>
            </a:r>
            <a:r>
              <a:rPr lang="en-US" sz="2000" dirty="0"/>
              <a:t>(Brodeur et al., 2008)</a:t>
            </a:r>
          </a:p>
          <a:p>
            <a:endParaRPr lang="en-US" sz="2000" dirty="0"/>
          </a:p>
          <a:p>
            <a:r>
              <a:rPr lang="en-US" sz="2600" dirty="0"/>
              <a:t>Relatively scarce winter LFC research</a:t>
            </a:r>
          </a:p>
          <a:p>
            <a:r>
              <a:rPr lang="en-US" sz="2600" dirty="0"/>
              <a:t>Lack of depth-stratified winter LFC research</a:t>
            </a:r>
          </a:p>
          <a:p>
            <a:endParaRPr lang="en-US" sz="2600" dirty="0"/>
          </a:p>
          <a:p>
            <a:endParaRPr lang="en-US" dirty="0"/>
          </a:p>
          <a:p>
            <a:endParaRPr lang="en-US" sz="2000" dirty="0"/>
          </a:p>
          <a:p>
            <a:endParaRPr lang="en-US" sz="2000" dirty="0"/>
          </a:p>
          <a:p>
            <a:endParaRPr lang="en-US" sz="2600" dirty="0"/>
          </a:p>
          <a:p>
            <a:endParaRPr lang="en-US" sz="2400" dirty="0"/>
          </a:p>
          <a:p>
            <a:endParaRPr lang="en-US" sz="2400" dirty="0"/>
          </a:p>
          <a:p>
            <a:endParaRPr lang="en-US" sz="2400" dirty="0"/>
          </a:p>
        </p:txBody>
      </p:sp>
    </p:spTree>
    <p:extLst>
      <p:ext uri="{BB962C8B-B14F-4D97-AF65-F5344CB8AC3E}">
        <p14:creationId xmlns:p14="http://schemas.microsoft.com/office/powerpoint/2010/main" val="642340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F4F21-E44A-8428-88A9-5472B256D169}"/>
              </a:ext>
            </a:extLst>
          </p:cNvPr>
          <p:cNvSpPr>
            <a:spLocks noGrp="1"/>
          </p:cNvSpPr>
          <p:nvPr>
            <p:ph type="title"/>
          </p:nvPr>
        </p:nvSpPr>
        <p:spPr/>
        <p:txBody>
          <a:bodyPr>
            <a:normAutofit/>
          </a:bodyPr>
          <a:lstStyle/>
          <a:p>
            <a:r>
              <a:rPr lang="en-US" sz="4000" dirty="0"/>
              <a:t>Objectives</a:t>
            </a:r>
          </a:p>
        </p:txBody>
      </p:sp>
      <p:sp>
        <p:nvSpPr>
          <p:cNvPr id="3" name="Text Placeholder 2">
            <a:extLst>
              <a:ext uri="{FF2B5EF4-FFF2-40B4-BE49-F238E27FC236}">
                <a16:creationId xmlns:a16="http://schemas.microsoft.com/office/drawing/2014/main" id="{811B784F-B0FE-B134-DE85-B82BC9CF9725}"/>
              </a:ext>
            </a:extLst>
          </p:cNvPr>
          <p:cNvSpPr>
            <a:spLocks noGrp="1"/>
          </p:cNvSpPr>
          <p:nvPr>
            <p:ph type="body" idx="1"/>
          </p:nvPr>
        </p:nvSpPr>
        <p:spPr>
          <a:xfrm>
            <a:off x="1971647" y="1655241"/>
            <a:ext cx="916172" cy="823912"/>
          </a:xfrm>
        </p:spPr>
        <p:txBody>
          <a:bodyPr>
            <a:noAutofit/>
          </a:bodyPr>
          <a:lstStyle/>
          <a:p>
            <a:pPr algn="ctr"/>
            <a:r>
              <a:rPr lang="en-US" sz="3600" b="0" dirty="0"/>
              <a:t>1</a:t>
            </a:r>
          </a:p>
        </p:txBody>
      </p:sp>
      <p:sp>
        <p:nvSpPr>
          <p:cNvPr id="4" name="Content Placeholder 3">
            <a:extLst>
              <a:ext uri="{FF2B5EF4-FFF2-40B4-BE49-F238E27FC236}">
                <a16:creationId xmlns:a16="http://schemas.microsoft.com/office/drawing/2014/main" id="{9E5096C5-3BD2-27F3-58AD-14865937D002}"/>
              </a:ext>
            </a:extLst>
          </p:cNvPr>
          <p:cNvSpPr>
            <a:spLocks noGrp="1"/>
          </p:cNvSpPr>
          <p:nvPr>
            <p:ph sz="half" idx="2"/>
          </p:nvPr>
        </p:nvSpPr>
        <p:spPr>
          <a:xfrm>
            <a:off x="839787" y="2707870"/>
            <a:ext cx="3179890" cy="2468965"/>
          </a:xfrm>
        </p:spPr>
        <p:txBody>
          <a:bodyPr>
            <a:normAutofit/>
          </a:bodyPr>
          <a:lstStyle/>
          <a:p>
            <a:pPr marL="0" indent="0">
              <a:buNone/>
            </a:pPr>
            <a:r>
              <a:rPr lang="en-US" dirty="0"/>
              <a:t>Characterize winter ichthyoplankton assemblages in the NCC</a:t>
            </a:r>
          </a:p>
        </p:txBody>
      </p:sp>
      <p:sp>
        <p:nvSpPr>
          <p:cNvPr id="6" name="Content Placeholder 5">
            <a:extLst>
              <a:ext uri="{FF2B5EF4-FFF2-40B4-BE49-F238E27FC236}">
                <a16:creationId xmlns:a16="http://schemas.microsoft.com/office/drawing/2014/main" id="{E709375E-380E-E0E4-AABB-C3C82F7FD360}"/>
              </a:ext>
            </a:extLst>
          </p:cNvPr>
          <p:cNvSpPr>
            <a:spLocks noGrp="1"/>
          </p:cNvSpPr>
          <p:nvPr>
            <p:ph sz="quarter" idx="4"/>
          </p:nvPr>
        </p:nvSpPr>
        <p:spPr>
          <a:xfrm>
            <a:off x="4506055" y="2707871"/>
            <a:ext cx="3179890" cy="3358700"/>
          </a:xfrm>
        </p:spPr>
        <p:txBody>
          <a:bodyPr>
            <a:noAutofit/>
          </a:bodyPr>
          <a:lstStyle/>
          <a:p>
            <a:pPr marL="0" indent="0">
              <a:buNone/>
            </a:pPr>
            <a:r>
              <a:rPr lang="en-US" dirty="0"/>
              <a:t>Explain variation in winter ichthyoplankton assemblage composition using fine-scale spatiotemporal and environmental factors</a:t>
            </a:r>
          </a:p>
        </p:txBody>
      </p:sp>
      <p:sp>
        <p:nvSpPr>
          <p:cNvPr id="14" name="Content Placeholder 5">
            <a:extLst>
              <a:ext uri="{FF2B5EF4-FFF2-40B4-BE49-F238E27FC236}">
                <a16:creationId xmlns:a16="http://schemas.microsoft.com/office/drawing/2014/main" id="{B6290506-0F17-7A96-BD89-BF7282E95E12}"/>
              </a:ext>
            </a:extLst>
          </p:cNvPr>
          <p:cNvSpPr txBox="1">
            <a:spLocks/>
          </p:cNvSpPr>
          <p:nvPr/>
        </p:nvSpPr>
        <p:spPr>
          <a:xfrm>
            <a:off x="8172322" y="2707871"/>
            <a:ext cx="3179891" cy="18767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Examine taxon-specific diel variation in vertical abundance distribution</a:t>
            </a:r>
          </a:p>
        </p:txBody>
      </p:sp>
      <p:cxnSp>
        <p:nvCxnSpPr>
          <p:cNvPr id="16" name="Straight Connector 15">
            <a:extLst>
              <a:ext uri="{FF2B5EF4-FFF2-40B4-BE49-F238E27FC236}">
                <a16:creationId xmlns:a16="http://schemas.microsoft.com/office/drawing/2014/main" id="{50253486-C68C-51C9-A40E-06E059ABBD6E}"/>
              </a:ext>
            </a:extLst>
          </p:cNvPr>
          <p:cNvCxnSpPr/>
          <p:nvPr/>
        </p:nvCxnSpPr>
        <p:spPr>
          <a:xfrm>
            <a:off x="839788" y="2505075"/>
            <a:ext cx="3179890" cy="0"/>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4338D88A-853D-90FD-85D3-713F2340645C}"/>
              </a:ext>
            </a:extLst>
          </p:cNvPr>
          <p:cNvCxnSpPr/>
          <p:nvPr/>
        </p:nvCxnSpPr>
        <p:spPr>
          <a:xfrm>
            <a:off x="4506055" y="2505075"/>
            <a:ext cx="3179890" cy="0"/>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50713E81-6361-0A83-AB67-A91F8B3DCF06}"/>
              </a:ext>
            </a:extLst>
          </p:cNvPr>
          <p:cNvCxnSpPr/>
          <p:nvPr/>
        </p:nvCxnSpPr>
        <p:spPr>
          <a:xfrm>
            <a:off x="8175498" y="2505075"/>
            <a:ext cx="3179890" cy="0"/>
          </a:xfrm>
          <a:prstGeom prst="line">
            <a:avLst/>
          </a:prstGeom>
        </p:spPr>
        <p:style>
          <a:lnRef idx="2">
            <a:schemeClr val="dk1"/>
          </a:lnRef>
          <a:fillRef idx="0">
            <a:schemeClr val="dk1"/>
          </a:fillRef>
          <a:effectRef idx="1">
            <a:schemeClr val="dk1"/>
          </a:effectRef>
          <a:fontRef idx="minor">
            <a:schemeClr val="tx1"/>
          </a:fontRef>
        </p:style>
      </p:cxnSp>
      <p:sp>
        <p:nvSpPr>
          <p:cNvPr id="7" name="Text Placeholder 2">
            <a:extLst>
              <a:ext uri="{FF2B5EF4-FFF2-40B4-BE49-F238E27FC236}">
                <a16:creationId xmlns:a16="http://schemas.microsoft.com/office/drawing/2014/main" id="{CC1F0D3C-44FE-E296-FE8B-C28ADC50635A}"/>
              </a:ext>
            </a:extLst>
          </p:cNvPr>
          <p:cNvSpPr txBox="1">
            <a:spLocks/>
          </p:cNvSpPr>
          <p:nvPr/>
        </p:nvSpPr>
        <p:spPr>
          <a:xfrm>
            <a:off x="5637913" y="1655241"/>
            <a:ext cx="916172" cy="823912"/>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Calibri" panose="020F050202020403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Calibri" panose="020F050202020403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Calibri" panose="020F050202020403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Calibri" panose="020F050202020403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Calibri" panose="020F050202020403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3600" b="0" dirty="0"/>
              <a:t>2</a:t>
            </a:r>
          </a:p>
        </p:txBody>
      </p:sp>
      <p:sp>
        <p:nvSpPr>
          <p:cNvPr id="8" name="Text Placeholder 2">
            <a:extLst>
              <a:ext uri="{FF2B5EF4-FFF2-40B4-BE49-F238E27FC236}">
                <a16:creationId xmlns:a16="http://schemas.microsoft.com/office/drawing/2014/main" id="{A788B117-9C96-D39B-0B97-783EB00E9663}"/>
              </a:ext>
            </a:extLst>
          </p:cNvPr>
          <p:cNvSpPr txBox="1">
            <a:spLocks/>
          </p:cNvSpPr>
          <p:nvPr/>
        </p:nvSpPr>
        <p:spPr>
          <a:xfrm>
            <a:off x="9304181" y="1655241"/>
            <a:ext cx="916172" cy="823912"/>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Calibri" panose="020F050202020403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Calibri" panose="020F050202020403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Calibri" panose="020F050202020403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Calibri" panose="020F050202020403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Calibri" panose="020F050202020403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3600" b="0" dirty="0"/>
              <a:t>3</a:t>
            </a:r>
          </a:p>
        </p:txBody>
      </p:sp>
    </p:spTree>
    <p:extLst>
      <p:ext uri="{BB962C8B-B14F-4D97-AF65-F5344CB8AC3E}">
        <p14:creationId xmlns:p14="http://schemas.microsoft.com/office/powerpoint/2010/main" val="1882015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0C8C9-DCCB-9092-1633-D30892F6B909}"/>
              </a:ext>
            </a:extLst>
          </p:cNvPr>
          <p:cNvSpPr>
            <a:spLocks noGrp="1"/>
          </p:cNvSpPr>
          <p:nvPr>
            <p:ph type="title"/>
          </p:nvPr>
        </p:nvSpPr>
        <p:spPr>
          <a:xfrm>
            <a:off x="838200" y="2449512"/>
            <a:ext cx="10515600" cy="1958975"/>
          </a:xfrm>
        </p:spPr>
        <p:txBody>
          <a:bodyPr>
            <a:normAutofit/>
          </a:bodyPr>
          <a:lstStyle/>
          <a:p>
            <a:pPr algn="ctr"/>
            <a:r>
              <a:rPr lang="en-US" sz="6600" b="1" dirty="0"/>
              <a:t>Sampling and Analysis Methods</a:t>
            </a:r>
          </a:p>
        </p:txBody>
      </p:sp>
    </p:spTree>
    <p:extLst>
      <p:ext uri="{BB962C8B-B14F-4D97-AF65-F5344CB8AC3E}">
        <p14:creationId xmlns:p14="http://schemas.microsoft.com/office/powerpoint/2010/main" val="4095987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E0452-3150-BF79-0AAB-F9B399609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C125D-F94C-5E4C-42AD-F0B859B8CF2E}"/>
              </a:ext>
            </a:extLst>
          </p:cNvPr>
          <p:cNvSpPr>
            <a:spLocks noGrp="1"/>
          </p:cNvSpPr>
          <p:nvPr>
            <p:ph type="title"/>
          </p:nvPr>
        </p:nvSpPr>
        <p:spPr/>
        <p:txBody>
          <a:bodyPr>
            <a:normAutofit/>
          </a:bodyPr>
          <a:lstStyle/>
          <a:p>
            <a:r>
              <a:rPr lang="en-US" sz="4000" dirty="0"/>
              <a:t>Sampling and data collection</a:t>
            </a:r>
          </a:p>
        </p:txBody>
      </p:sp>
      <p:sp>
        <p:nvSpPr>
          <p:cNvPr id="3" name="Content Placeholder 2">
            <a:extLst>
              <a:ext uri="{FF2B5EF4-FFF2-40B4-BE49-F238E27FC236}">
                <a16:creationId xmlns:a16="http://schemas.microsoft.com/office/drawing/2014/main" id="{413D4BA6-DC9C-10D3-6121-00777C05BED4}"/>
              </a:ext>
            </a:extLst>
          </p:cNvPr>
          <p:cNvSpPr>
            <a:spLocks noGrp="1"/>
          </p:cNvSpPr>
          <p:nvPr>
            <p:ph idx="1"/>
          </p:nvPr>
        </p:nvSpPr>
        <p:spPr/>
        <p:txBody>
          <a:bodyPr>
            <a:normAutofit/>
          </a:bodyPr>
          <a:lstStyle/>
          <a:p>
            <a:r>
              <a:rPr lang="en-US" dirty="0"/>
              <a:t>Sampled in the NCC (41–47°N) on 4 research cruises</a:t>
            </a:r>
          </a:p>
          <a:p>
            <a:r>
              <a:rPr lang="en-US" dirty="0"/>
              <a:t>Plankton collected using a coupled MOCNESS</a:t>
            </a:r>
          </a:p>
          <a:p>
            <a:r>
              <a:rPr lang="en-US" dirty="0"/>
              <a:t>Sensor package towed vertically</a:t>
            </a:r>
          </a:p>
          <a:p>
            <a:r>
              <a:rPr lang="en-US" dirty="0"/>
              <a:t>Ichthyoplankton visually identified and counted</a:t>
            </a:r>
            <a:endParaRPr lang="en-US" sz="2600" dirty="0"/>
          </a:p>
          <a:p>
            <a:endParaRPr lang="en-US" sz="2200" dirty="0"/>
          </a:p>
          <a:p>
            <a:endParaRPr lang="en-US" sz="2600" dirty="0"/>
          </a:p>
          <a:p>
            <a:endParaRPr lang="en-US" sz="2600" dirty="0"/>
          </a:p>
          <a:p>
            <a:endParaRPr lang="en-US" sz="2600" dirty="0"/>
          </a:p>
          <a:p>
            <a:endParaRPr lang="en-US" dirty="0"/>
          </a:p>
          <a:p>
            <a:endParaRPr lang="en-US" sz="2000" dirty="0"/>
          </a:p>
          <a:p>
            <a:endParaRPr lang="en-US" sz="2000" dirty="0"/>
          </a:p>
          <a:p>
            <a:endParaRPr lang="en-US" sz="2600" dirty="0"/>
          </a:p>
          <a:p>
            <a:endParaRPr lang="en-US" sz="2400" dirty="0"/>
          </a:p>
          <a:p>
            <a:endParaRPr lang="en-US" sz="2400" dirty="0"/>
          </a:p>
          <a:p>
            <a:endParaRPr lang="en-US" sz="2400" dirty="0"/>
          </a:p>
        </p:txBody>
      </p:sp>
    </p:spTree>
    <p:extLst>
      <p:ext uri="{BB962C8B-B14F-4D97-AF65-F5344CB8AC3E}">
        <p14:creationId xmlns:p14="http://schemas.microsoft.com/office/powerpoint/2010/main" val="3563553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F4F21-E44A-8428-88A9-5472B256D169}"/>
              </a:ext>
            </a:extLst>
          </p:cNvPr>
          <p:cNvSpPr>
            <a:spLocks noGrp="1"/>
          </p:cNvSpPr>
          <p:nvPr>
            <p:ph type="title"/>
          </p:nvPr>
        </p:nvSpPr>
        <p:spPr/>
        <p:txBody>
          <a:bodyPr>
            <a:normAutofit/>
          </a:bodyPr>
          <a:lstStyle/>
          <a:p>
            <a:r>
              <a:rPr lang="en-US" sz="3600" dirty="0"/>
              <a:t>Data Analyses</a:t>
            </a:r>
          </a:p>
        </p:txBody>
      </p:sp>
      <p:sp>
        <p:nvSpPr>
          <p:cNvPr id="3" name="Text Placeholder 2">
            <a:extLst>
              <a:ext uri="{FF2B5EF4-FFF2-40B4-BE49-F238E27FC236}">
                <a16:creationId xmlns:a16="http://schemas.microsoft.com/office/drawing/2014/main" id="{811B784F-B0FE-B134-DE85-B82BC9CF9725}"/>
              </a:ext>
            </a:extLst>
          </p:cNvPr>
          <p:cNvSpPr>
            <a:spLocks noGrp="1"/>
          </p:cNvSpPr>
          <p:nvPr>
            <p:ph type="body" idx="1"/>
          </p:nvPr>
        </p:nvSpPr>
        <p:spPr>
          <a:xfrm>
            <a:off x="609930" y="1681163"/>
            <a:ext cx="3642951" cy="823912"/>
          </a:xfrm>
        </p:spPr>
        <p:txBody>
          <a:bodyPr>
            <a:noAutofit/>
          </a:bodyPr>
          <a:lstStyle/>
          <a:p>
            <a:pPr algn="ctr"/>
            <a:r>
              <a:rPr lang="en-US" sz="2800" dirty="0"/>
              <a:t>1: Characterizing assemblages</a:t>
            </a:r>
          </a:p>
        </p:txBody>
      </p:sp>
      <p:sp>
        <p:nvSpPr>
          <p:cNvPr id="4" name="Content Placeholder 3">
            <a:extLst>
              <a:ext uri="{FF2B5EF4-FFF2-40B4-BE49-F238E27FC236}">
                <a16:creationId xmlns:a16="http://schemas.microsoft.com/office/drawing/2014/main" id="{9E5096C5-3BD2-27F3-58AD-14865937D002}"/>
              </a:ext>
            </a:extLst>
          </p:cNvPr>
          <p:cNvSpPr>
            <a:spLocks noGrp="1"/>
          </p:cNvSpPr>
          <p:nvPr>
            <p:ph sz="half" idx="2"/>
          </p:nvPr>
        </p:nvSpPr>
        <p:spPr>
          <a:xfrm>
            <a:off x="609930" y="2707870"/>
            <a:ext cx="3642951" cy="2468965"/>
          </a:xfrm>
        </p:spPr>
        <p:txBody>
          <a:bodyPr>
            <a:normAutofit/>
          </a:bodyPr>
          <a:lstStyle/>
          <a:p>
            <a:r>
              <a:rPr lang="en-US" dirty="0"/>
              <a:t>Cluster analysis</a:t>
            </a:r>
          </a:p>
          <a:p>
            <a:r>
              <a:rPr lang="en-US" dirty="0"/>
              <a:t>Indicator Species Analysis</a:t>
            </a:r>
          </a:p>
        </p:txBody>
      </p:sp>
      <p:sp>
        <p:nvSpPr>
          <p:cNvPr id="5" name="Text Placeholder 4">
            <a:extLst>
              <a:ext uri="{FF2B5EF4-FFF2-40B4-BE49-F238E27FC236}">
                <a16:creationId xmlns:a16="http://schemas.microsoft.com/office/drawing/2014/main" id="{941A9FE0-0831-3314-E63A-403E0F0F6E75}"/>
              </a:ext>
            </a:extLst>
          </p:cNvPr>
          <p:cNvSpPr>
            <a:spLocks noGrp="1"/>
          </p:cNvSpPr>
          <p:nvPr>
            <p:ph type="body" sz="quarter" idx="3"/>
          </p:nvPr>
        </p:nvSpPr>
        <p:spPr>
          <a:xfrm>
            <a:off x="4252881" y="1619794"/>
            <a:ext cx="3642951" cy="823912"/>
          </a:xfrm>
        </p:spPr>
        <p:txBody>
          <a:bodyPr>
            <a:noAutofit/>
          </a:bodyPr>
          <a:lstStyle/>
          <a:p>
            <a:pPr algn="ctr"/>
            <a:r>
              <a:rPr lang="en-US" sz="2800" dirty="0"/>
              <a:t>2: Influences on assemblages</a:t>
            </a:r>
          </a:p>
        </p:txBody>
      </p:sp>
      <p:sp>
        <p:nvSpPr>
          <p:cNvPr id="6" name="Content Placeholder 5">
            <a:extLst>
              <a:ext uri="{FF2B5EF4-FFF2-40B4-BE49-F238E27FC236}">
                <a16:creationId xmlns:a16="http://schemas.microsoft.com/office/drawing/2014/main" id="{E709375E-380E-E0E4-AABB-C3C82F7FD360}"/>
              </a:ext>
            </a:extLst>
          </p:cNvPr>
          <p:cNvSpPr>
            <a:spLocks noGrp="1"/>
          </p:cNvSpPr>
          <p:nvPr>
            <p:ph sz="quarter" idx="4"/>
          </p:nvPr>
        </p:nvSpPr>
        <p:spPr>
          <a:xfrm>
            <a:off x="4274524" y="2707871"/>
            <a:ext cx="3642951" cy="2373767"/>
          </a:xfrm>
        </p:spPr>
        <p:txBody>
          <a:bodyPr>
            <a:normAutofit/>
          </a:bodyPr>
          <a:lstStyle/>
          <a:p>
            <a:r>
              <a:rPr lang="en-US" dirty="0"/>
              <a:t>Distance-based RDA</a:t>
            </a:r>
          </a:p>
          <a:p>
            <a:pPr lvl="1"/>
            <a:r>
              <a:rPr lang="en-US" sz="2500" dirty="0"/>
              <a:t>Permutation-based ANOVA</a:t>
            </a:r>
          </a:p>
          <a:p>
            <a:pPr lvl="1"/>
            <a:r>
              <a:rPr lang="en-US" sz="2500" dirty="0"/>
              <a:t>Variance Partitioning Analysis</a:t>
            </a:r>
          </a:p>
        </p:txBody>
      </p:sp>
      <p:sp>
        <p:nvSpPr>
          <p:cNvPr id="10" name="Text Placeholder 4">
            <a:extLst>
              <a:ext uri="{FF2B5EF4-FFF2-40B4-BE49-F238E27FC236}">
                <a16:creationId xmlns:a16="http://schemas.microsoft.com/office/drawing/2014/main" id="{4897BA95-02F0-B7E1-1044-1BA7DA428238}"/>
              </a:ext>
            </a:extLst>
          </p:cNvPr>
          <p:cNvSpPr txBox="1">
            <a:spLocks/>
          </p:cNvSpPr>
          <p:nvPr/>
        </p:nvSpPr>
        <p:spPr>
          <a:xfrm>
            <a:off x="7939119" y="1655241"/>
            <a:ext cx="3642951" cy="823912"/>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2800" dirty="0"/>
              <a:t>3: Diel variation in vertical distribution</a:t>
            </a:r>
          </a:p>
        </p:txBody>
      </p:sp>
      <p:sp>
        <p:nvSpPr>
          <p:cNvPr id="14" name="Content Placeholder 5">
            <a:extLst>
              <a:ext uri="{FF2B5EF4-FFF2-40B4-BE49-F238E27FC236}">
                <a16:creationId xmlns:a16="http://schemas.microsoft.com/office/drawing/2014/main" id="{B6290506-0F17-7A96-BD89-BF7282E95E12}"/>
              </a:ext>
            </a:extLst>
          </p:cNvPr>
          <p:cNvSpPr txBox="1">
            <a:spLocks/>
          </p:cNvSpPr>
          <p:nvPr/>
        </p:nvSpPr>
        <p:spPr>
          <a:xfrm>
            <a:off x="7939118" y="2707870"/>
            <a:ext cx="3642951" cy="34389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Negative binomial GLMM</a:t>
            </a:r>
          </a:p>
        </p:txBody>
      </p:sp>
      <p:cxnSp>
        <p:nvCxnSpPr>
          <p:cNvPr id="16" name="Straight Connector 15">
            <a:extLst>
              <a:ext uri="{FF2B5EF4-FFF2-40B4-BE49-F238E27FC236}">
                <a16:creationId xmlns:a16="http://schemas.microsoft.com/office/drawing/2014/main" id="{50253486-C68C-51C9-A40E-06E059ABBD6E}"/>
              </a:ext>
            </a:extLst>
          </p:cNvPr>
          <p:cNvCxnSpPr/>
          <p:nvPr/>
        </p:nvCxnSpPr>
        <p:spPr>
          <a:xfrm>
            <a:off x="839788" y="2505075"/>
            <a:ext cx="3179890" cy="0"/>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4338D88A-853D-90FD-85D3-713F2340645C}"/>
              </a:ext>
            </a:extLst>
          </p:cNvPr>
          <p:cNvCxnSpPr/>
          <p:nvPr/>
        </p:nvCxnSpPr>
        <p:spPr>
          <a:xfrm>
            <a:off x="4506055" y="2505075"/>
            <a:ext cx="3179890" cy="0"/>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50713E81-6361-0A83-AB67-A91F8B3DCF06}"/>
              </a:ext>
            </a:extLst>
          </p:cNvPr>
          <p:cNvCxnSpPr/>
          <p:nvPr/>
        </p:nvCxnSpPr>
        <p:spPr>
          <a:xfrm>
            <a:off x="8175498" y="2505075"/>
            <a:ext cx="317989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58860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1BF2-BE1A-1528-5C92-EB5549F9C0A6}"/>
              </a:ext>
            </a:extLst>
          </p:cNvPr>
          <p:cNvSpPr>
            <a:spLocks noGrp="1"/>
          </p:cNvSpPr>
          <p:nvPr>
            <p:ph type="title"/>
          </p:nvPr>
        </p:nvSpPr>
        <p:spPr>
          <a:xfrm>
            <a:off x="838200" y="2862262"/>
            <a:ext cx="10515600" cy="1133475"/>
          </a:xfrm>
        </p:spPr>
        <p:txBody>
          <a:bodyPr>
            <a:normAutofit/>
          </a:bodyPr>
          <a:lstStyle/>
          <a:p>
            <a:pPr algn="ctr"/>
            <a:r>
              <a:rPr lang="en-US" sz="6600" b="1" dirty="0"/>
              <a:t>Results and Discussion</a:t>
            </a:r>
          </a:p>
        </p:txBody>
      </p:sp>
    </p:spTree>
    <p:extLst>
      <p:ext uri="{BB962C8B-B14F-4D97-AF65-F5344CB8AC3E}">
        <p14:creationId xmlns:p14="http://schemas.microsoft.com/office/powerpoint/2010/main" val="552340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F9AC7-7264-B55A-FFCD-8C1396582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06ED3F-3EE2-A148-CDAC-00C69C4BE356}"/>
              </a:ext>
            </a:extLst>
          </p:cNvPr>
          <p:cNvSpPr>
            <a:spLocks noGrp="1"/>
          </p:cNvSpPr>
          <p:nvPr>
            <p:ph type="title"/>
          </p:nvPr>
        </p:nvSpPr>
        <p:spPr>
          <a:xfrm>
            <a:off x="838200" y="2516187"/>
            <a:ext cx="10515600" cy="1825625"/>
          </a:xfrm>
        </p:spPr>
        <p:txBody>
          <a:bodyPr/>
          <a:lstStyle/>
          <a:p>
            <a:pPr algn="ctr"/>
            <a:r>
              <a:rPr lang="en-US" dirty="0"/>
              <a:t>Objective 1: Characterizing assemblages</a:t>
            </a:r>
          </a:p>
        </p:txBody>
      </p:sp>
    </p:spTree>
    <p:extLst>
      <p:ext uri="{BB962C8B-B14F-4D97-AF65-F5344CB8AC3E}">
        <p14:creationId xmlns:p14="http://schemas.microsoft.com/office/powerpoint/2010/main" val="1751481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3EE9A-C87F-F2A1-172D-E6D2FFC8F671}"/>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4A39E1E5-F1D3-DF24-638C-9F969DD90D08}"/>
              </a:ext>
            </a:extLst>
          </p:cNvPr>
          <p:cNvSpPr txBox="1"/>
          <p:nvPr/>
        </p:nvSpPr>
        <p:spPr>
          <a:xfrm>
            <a:off x="3670300" y="1690688"/>
            <a:ext cx="5880100" cy="349518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500" dirty="0"/>
              <a:t>Cluster 1 – </a:t>
            </a:r>
            <a:r>
              <a:rPr lang="en-US" sz="2500" i="1" dirty="0"/>
              <a:t>Sebastes</a:t>
            </a:r>
            <a:r>
              <a:rPr lang="en-US" sz="2500" dirty="0"/>
              <a:t> spp.</a:t>
            </a:r>
          </a:p>
          <a:p>
            <a:pPr marL="342900" indent="-342900">
              <a:lnSpc>
                <a:spcPct val="150000"/>
              </a:lnSpc>
              <a:buFont typeface="Arial" panose="020B0604020202020204" pitchFamily="34" charset="0"/>
              <a:buChar char="•"/>
            </a:pPr>
            <a:r>
              <a:rPr lang="en-US" sz="2500" dirty="0"/>
              <a:t>Cluster 2 – </a:t>
            </a:r>
            <a:r>
              <a:rPr lang="en-US" sz="2500" i="1" dirty="0"/>
              <a:t>Parophrys vetulus</a:t>
            </a:r>
            <a:endParaRPr lang="en-US" sz="2500" dirty="0"/>
          </a:p>
          <a:p>
            <a:pPr marL="342900" indent="-342900">
              <a:lnSpc>
                <a:spcPct val="150000"/>
              </a:lnSpc>
              <a:buFont typeface="Arial" panose="020B0604020202020204" pitchFamily="34" charset="0"/>
              <a:buChar char="•"/>
            </a:pPr>
            <a:r>
              <a:rPr lang="en-US" sz="2500" dirty="0"/>
              <a:t>Cluster 3 – Mesopelagic taxa</a:t>
            </a:r>
          </a:p>
          <a:p>
            <a:pPr marL="342900" indent="-342900">
              <a:lnSpc>
                <a:spcPct val="150000"/>
              </a:lnSpc>
              <a:buFont typeface="Arial" panose="020B0604020202020204" pitchFamily="34" charset="0"/>
              <a:buChar char="•"/>
            </a:pPr>
            <a:r>
              <a:rPr lang="en-US" sz="2500" dirty="0"/>
              <a:t>Cluster 5 – Coastal taxa</a:t>
            </a:r>
          </a:p>
          <a:p>
            <a:pPr marL="342900" indent="-342900">
              <a:lnSpc>
                <a:spcPct val="150000"/>
              </a:lnSpc>
              <a:buFont typeface="Arial" panose="020B0604020202020204" pitchFamily="34" charset="0"/>
              <a:buChar char="•"/>
            </a:pPr>
            <a:r>
              <a:rPr lang="en-US" sz="2500" dirty="0"/>
              <a:t>Cluster 6 – Osmerids</a:t>
            </a:r>
          </a:p>
          <a:p>
            <a:pPr marL="342900" indent="-342900">
              <a:lnSpc>
                <a:spcPct val="150000"/>
              </a:lnSpc>
              <a:buFont typeface="Arial" panose="020B0604020202020204" pitchFamily="34" charset="0"/>
              <a:buChar char="•"/>
            </a:pPr>
            <a:r>
              <a:rPr lang="en-US" sz="2500" dirty="0"/>
              <a:t>Clusters 4 and 7 – single samples</a:t>
            </a:r>
          </a:p>
        </p:txBody>
      </p:sp>
      <p:sp>
        <p:nvSpPr>
          <p:cNvPr id="2" name="Title 1">
            <a:extLst>
              <a:ext uri="{FF2B5EF4-FFF2-40B4-BE49-F238E27FC236}">
                <a16:creationId xmlns:a16="http://schemas.microsoft.com/office/drawing/2014/main" id="{DBEDB7D2-D742-C937-15BF-C83CA0D243DC}"/>
              </a:ext>
            </a:extLst>
          </p:cNvPr>
          <p:cNvSpPr>
            <a:spLocks noGrp="1"/>
          </p:cNvSpPr>
          <p:nvPr>
            <p:ph type="title"/>
          </p:nvPr>
        </p:nvSpPr>
        <p:spPr/>
        <p:txBody>
          <a:bodyPr>
            <a:normAutofit/>
          </a:bodyPr>
          <a:lstStyle/>
          <a:p>
            <a:r>
              <a:rPr lang="en-US" sz="3600" dirty="0"/>
              <a:t>Cluster composition</a:t>
            </a:r>
          </a:p>
        </p:txBody>
      </p:sp>
      <p:sp>
        <p:nvSpPr>
          <p:cNvPr id="3" name="Content Placeholder 2">
            <a:extLst>
              <a:ext uri="{FF2B5EF4-FFF2-40B4-BE49-F238E27FC236}">
                <a16:creationId xmlns:a16="http://schemas.microsoft.com/office/drawing/2014/main" id="{D835EE31-F76A-4588-64F1-4DB574648197}"/>
              </a:ext>
            </a:extLst>
          </p:cNvPr>
          <p:cNvSpPr>
            <a:spLocks noGrp="1"/>
          </p:cNvSpPr>
          <p:nvPr>
            <p:ph idx="1"/>
          </p:nvPr>
        </p:nvSpPr>
        <p:spPr/>
        <p:txBody>
          <a:bodyPr>
            <a:normAutofit/>
          </a:bodyPr>
          <a:lstStyle/>
          <a:p>
            <a:r>
              <a:rPr lang="en-US" dirty="0"/>
              <a:t>7 total clusters:</a:t>
            </a:r>
            <a:endParaRPr lang="en-US" sz="2200" dirty="0"/>
          </a:p>
          <a:p>
            <a:endParaRPr lang="en-US" sz="2600" dirty="0"/>
          </a:p>
          <a:p>
            <a:endParaRPr lang="en-US" sz="2600" dirty="0"/>
          </a:p>
          <a:p>
            <a:endParaRPr lang="en-US" sz="2600" dirty="0"/>
          </a:p>
          <a:p>
            <a:endParaRPr lang="en-US" dirty="0"/>
          </a:p>
          <a:p>
            <a:endParaRPr lang="en-US" sz="2000" dirty="0"/>
          </a:p>
          <a:p>
            <a:endParaRPr lang="en-US" sz="2000" dirty="0"/>
          </a:p>
          <a:p>
            <a:endParaRPr lang="en-US" sz="2600" dirty="0"/>
          </a:p>
          <a:p>
            <a:endParaRPr lang="en-US" sz="2400" dirty="0"/>
          </a:p>
          <a:p>
            <a:endParaRPr lang="en-US" sz="2400" dirty="0"/>
          </a:p>
          <a:p>
            <a:endParaRPr lang="en-US" sz="2400" dirty="0"/>
          </a:p>
        </p:txBody>
      </p:sp>
      <p:sp>
        <p:nvSpPr>
          <p:cNvPr id="10" name="TextBox 9">
            <a:extLst>
              <a:ext uri="{FF2B5EF4-FFF2-40B4-BE49-F238E27FC236}">
                <a16:creationId xmlns:a16="http://schemas.microsoft.com/office/drawing/2014/main" id="{21C46BA1-20A6-7887-A14F-93E0E75F1890}"/>
              </a:ext>
            </a:extLst>
          </p:cNvPr>
          <p:cNvSpPr txBox="1"/>
          <p:nvPr/>
        </p:nvSpPr>
        <p:spPr>
          <a:xfrm>
            <a:off x="3613150" y="1809424"/>
            <a:ext cx="1625600" cy="477054"/>
          </a:xfrm>
          <a:prstGeom prst="rect">
            <a:avLst/>
          </a:prstGeom>
          <a:solidFill>
            <a:srgbClr val="F9EAC0"/>
          </a:solidFill>
          <a:ln w="28575">
            <a:solidFill>
              <a:srgbClr val="E7B115"/>
            </a:solidFill>
          </a:ln>
        </p:spPr>
        <p:txBody>
          <a:bodyPr wrap="square" rtlCol="0">
            <a:spAutoFit/>
          </a:bodyPr>
          <a:lstStyle/>
          <a:p>
            <a:pPr algn="ctr"/>
            <a:r>
              <a:rPr lang="en-US" sz="2500" dirty="0"/>
              <a:t>Cluster 1</a:t>
            </a:r>
          </a:p>
        </p:txBody>
      </p:sp>
      <p:sp>
        <p:nvSpPr>
          <p:cNvPr id="20" name="TextBox 19">
            <a:extLst>
              <a:ext uri="{FF2B5EF4-FFF2-40B4-BE49-F238E27FC236}">
                <a16:creationId xmlns:a16="http://schemas.microsoft.com/office/drawing/2014/main" id="{9C9D3E62-34DE-9FFC-6F63-08DCE5515CBA}"/>
              </a:ext>
            </a:extLst>
          </p:cNvPr>
          <p:cNvSpPr txBox="1"/>
          <p:nvPr/>
        </p:nvSpPr>
        <p:spPr>
          <a:xfrm>
            <a:off x="3613150" y="2374908"/>
            <a:ext cx="1625600" cy="477054"/>
          </a:xfrm>
          <a:prstGeom prst="rect">
            <a:avLst/>
          </a:prstGeom>
          <a:solidFill>
            <a:srgbClr val="C6E7DD"/>
          </a:solidFill>
          <a:ln w="28575">
            <a:solidFill>
              <a:srgbClr val="2BA681"/>
            </a:solidFill>
          </a:ln>
        </p:spPr>
        <p:txBody>
          <a:bodyPr wrap="square" rtlCol="0">
            <a:spAutoFit/>
          </a:bodyPr>
          <a:lstStyle/>
          <a:p>
            <a:pPr algn="ctr"/>
            <a:r>
              <a:rPr lang="en-US" sz="2500" dirty="0"/>
              <a:t>Cluster 2</a:t>
            </a:r>
          </a:p>
        </p:txBody>
      </p:sp>
      <p:sp>
        <p:nvSpPr>
          <p:cNvPr id="22" name="TextBox 21">
            <a:extLst>
              <a:ext uri="{FF2B5EF4-FFF2-40B4-BE49-F238E27FC236}">
                <a16:creationId xmlns:a16="http://schemas.microsoft.com/office/drawing/2014/main" id="{04DC1D44-3B93-4AE1-E3E8-0C0B5F7F5A01}"/>
              </a:ext>
            </a:extLst>
          </p:cNvPr>
          <p:cNvSpPr txBox="1"/>
          <p:nvPr/>
        </p:nvSpPr>
        <p:spPr>
          <a:xfrm>
            <a:off x="3613150" y="2955508"/>
            <a:ext cx="1625600" cy="477054"/>
          </a:xfrm>
          <a:prstGeom prst="rect">
            <a:avLst/>
          </a:prstGeom>
          <a:solidFill>
            <a:srgbClr val="F9C9E2"/>
          </a:solidFill>
          <a:ln w="28575">
            <a:solidFill>
              <a:srgbClr val="E83992"/>
            </a:solidFill>
          </a:ln>
        </p:spPr>
        <p:txBody>
          <a:bodyPr wrap="square" rtlCol="0">
            <a:spAutoFit/>
          </a:bodyPr>
          <a:lstStyle/>
          <a:p>
            <a:pPr algn="ctr"/>
            <a:r>
              <a:rPr lang="en-US" sz="2500" dirty="0"/>
              <a:t>Cluster 3</a:t>
            </a:r>
          </a:p>
        </p:txBody>
      </p:sp>
      <p:sp>
        <p:nvSpPr>
          <p:cNvPr id="24" name="TextBox 23">
            <a:extLst>
              <a:ext uri="{FF2B5EF4-FFF2-40B4-BE49-F238E27FC236}">
                <a16:creationId xmlns:a16="http://schemas.microsoft.com/office/drawing/2014/main" id="{27E33FD1-1CCE-829D-02F4-2B387E44EAC9}"/>
              </a:ext>
            </a:extLst>
          </p:cNvPr>
          <p:cNvSpPr txBox="1"/>
          <p:nvPr/>
        </p:nvSpPr>
        <p:spPr>
          <a:xfrm>
            <a:off x="3613150" y="3519320"/>
            <a:ext cx="1625600" cy="477054"/>
          </a:xfrm>
          <a:prstGeom prst="rect">
            <a:avLst/>
          </a:prstGeom>
          <a:solidFill>
            <a:srgbClr val="D9E9C7"/>
          </a:solidFill>
          <a:ln w="28575">
            <a:solidFill>
              <a:srgbClr val="71AD2F"/>
            </a:solidFill>
          </a:ln>
        </p:spPr>
        <p:txBody>
          <a:bodyPr wrap="square" rtlCol="0">
            <a:spAutoFit/>
          </a:bodyPr>
          <a:lstStyle/>
          <a:p>
            <a:pPr algn="ctr"/>
            <a:r>
              <a:rPr lang="en-US" sz="2500" dirty="0"/>
              <a:t>Cluster 5</a:t>
            </a:r>
          </a:p>
        </p:txBody>
      </p:sp>
      <p:sp>
        <p:nvSpPr>
          <p:cNvPr id="26" name="TextBox 25">
            <a:extLst>
              <a:ext uri="{FF2B5EF4-FFF2-40B4-BE49-F238E27FC236}">
                <a16:creationId xmlns:a16="http://schemas.microsoft.com/office/drawing/2014/main" id="{EE502543-898F-BD4A-CED0-A1138E23A84C}"/>
              </a:ext>
            </a:extLst>
          </p:cNvPr>
          <p:cNvSpPr txBox="1"/>
          <p:nvPr/>
        </p:nvSpPr>
        <p:spPr>
          <a:xfrm>
            <a:off x="3613150" y="4099920"/>
            <a:ext cx="1625600" cy="477054"/>
          </a:xfrm>
          <a:prstGeom prst="rect">
            <a:avLst/>
          </a:prstGeom>
          <a:solidFill>
            <a:srgbClr val="E9DDC6"/>
          </a:solidFill>
          <a:ln w="28575">
            <a:solidFill>
              <a:srgbClr val="AB7D29"/>
            </a:solidFill>
          </a:ln>
        </p:spPr>
        <p:txBody>
          <a:bodyPr wrap="square" rtlCol="0">
            <a:spAutoFit/>
          </a:bodyPr>
          <a:lstStyle/>
          <a:p>
            <a:pPr algn="ctr"/>
            <a:r>
              <a:rPr lang="en-US" sz="2500" dirty="0"/>
              <a:t>Cluster 6</a:t>
            </a:r>
          </a:p>
        </p:txBody>
      </p:sp>
      <p:sp>
        <p:nvSpPr>
          <p:cNvPr id="30" name="TextBox 29">
            <a:extLst>
              <a:ext uri="{FF2B5EF4-FFF2-40B4-BE49-F238E27FC236}">
                <a16:creationId xmlns:a16="http://schemas.microsoft.com/office/drawing/2014/main" id="{A5F90D40-9418-37EE-5931-D6556B4EBEC9}"/>
              </a:ext>
            </a:extLst>
          </p:cNvPr>
          <p:cNvSpPr txBox="1"/>
          <p:nvPr/>
        </p:nvSpPr>
        <p:spPr>
          <a:xfrm>
            <a:off x="3613150" y="4680520"/>
            <a:ext cx="2546350" cy="477054"/>
          </a:xfrm>
          <a:prstGeom prst="rect">
            <a:avLst/>
          </a:prstGeom>
          <a:solidFill>
            <a:schemeClr val="bg1"/>
          </a:solidFill>
          <a:ln w="28575">
            <a:noFill/>
          </a:ln>
        </p:spPr>
        <p:txBody>
          <a:bodyPr wrap="square" rtlCol="0">
            <a:spAutoFit/>
          </a:bodyPr>
          <a:lstStyle/>
          <a:p>
            <a:pPr algn="ctr"/>
            <a:r>
              <a:rPr lang="en-US" sz="2500" dirty="0"/>
              <a:t>Clusters 4 and 7</a:t>
            </a:r>
          </a:p>
        </p:txBody>
      </p:sp>
    </p:spTree>
    <p:extLst>
      <p:ext uri="{BB962C8B-B14F-4D97-AF65-F5344CB8AC3E}">
        <p14:creationId xmlns:p14="http://schemas.microsoft.com/office/powerpoint/2010/main" val="3316263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C52EC-1B0B-CAE3-D686-BE73422DB350}"/>
              </a:ext>
            </a:extLst>
          </p:cNvPr>
          <p:cNvSpPr>
            <a:spLocks noGrp="1"/>
          </p:cNvSpPr>
          <p:nvPr>
            <p:ph type="title"/>
          </p:nvPr>
        </p:nvSpPr>
        <p:spPr>
          <a:xfrm>
            <a:off x="654159" y="457200"/>
            <a:ext cx="2721559" cy="1006193"/>
          </a:xfrm>
        </p:spPr>
        <p:txBody>
          <a:bodyPr>
            <a:normAutofit fontScale="90000"/>
          </a:bodyPr>
          <a:lstStyle/>
          <a:p>
            <a:r>
              <a:rPr lang="en-US" sz="3600" dirty="0"/>
              <a:t>Cluster Distribution</a:t>
            </a:r>
          </a:p>
        </p:txBody>
      </p:sp>
      <p:pic>
        <p:nvPicPr>
          <p:cNvPr id="15" name="Content Placeholder 14">
            <a:extLst>
              <a:ext uri="{FF2B5EF4-FFF2-40B4-BE49-F238E27FC236}">
                <a16:creationId xmlns:a16="http://schemas.microsoft.com/office/drawing/2014/main" id="{48D38E96-EB96-B298-D1D7-F15B7624B8CC}"/>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1320"/>
          <a:stretch>
            <a:fillRect/>
          </a:stretch>
        </p:blipFill>
        <p:spPr>
          <a:xfrm>
            <a:off x="2555085" y="305945"/>
            <a:ext cx="9474394" cy="6400800"/>
          </a:xfrm>
          <a:prstGeom prst="rect">
            <a:avLst/>
          </a:prstGeom>
        </p:spPr>
      </p:pic>
    </p:spTree>
    <p:extLst>
      <p:ext uri="{BB962C8B-B14F-4D97-AF65-F5344CB8AC3E}">
        <p14:creationId xmlns:p14="http://schemas.microsoft.com/office/powerpoint/2010/main" val="125036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57580-6CB6-D4F7-AE9D-CD62F835FED0}"/>
            </a:ext>
          </a:extLst>
        </p:cNvPr>
        <p:cNvGrpSpPr/>
        <p:nvPr/>
      </p:nvGrpSpPr>
      <p:grpSpPr>
        <a:xfrm>
          <a:off x="0" y="0"/>
          <a:ext cx="0" cy="0"/>
          <a:chOff x="0" y="0"/>
          <a:chExt cx="0" cy="0"/>
        </a:xfrm>
      </p:grpSpPr>
      <p:pic>
        <p:nvPicPr>
          <p:cNvPr id="9" name="Content Placeholder 14">
            <a:extLst>
              <a:ext uri="{FF2B5EF4-FFF2-40B4-BE49-F238E27FC236}">
                <a16:creationId xmlns:a16="http://schemas.microsoft.com/office/drawing/2014/main" id="{0A7B1207-7167-4B12-0E19-E151A6D792E7}"/>
              </a:ext>
            </a:extLst>
          </p:cNvPr>
          <p:cNvPicPr>
            <a:picLocks noChangeAspect="1"/>
          </p:cNvPicPr>
          <p:nvPr/>
        </p:nvPicPr>
        <p:blipFill>
          <a:blip r:embed="rId3">
            <a:extLst>
              <a:ext uri="{28A0092B-C50C-407E-A947-70E740481C1C}">
                <a14:useLocalDpi xmlns:a14="http://schemas.microsoft.com/office/drawing/2010/main" val="0"/>
              </a:ext>
            </a:extLst>
          </a:blip>
          <a:srcRect l="44637" r="32448" b="55720"/>
          <a:stretch>
            <a:fillRect/>
          </a:stretch>
        </p:blipFill>
        <p:spPr>
          <a:xfrm>
            <a:off x="3244594" y="0"/>
            <a:ext cx="4488196" cy="5782033"/>
          </a:xfrm>
          <a:prstGeom prst="rect">
            <a:avLst/>
          </a:prstGeom>
        </p:spPr>
      </p:pic>
      <p:pic>
        <p:nvPicPr>
          <p:cNvPr id="7" name="Content Placeholder 14">
            <a:extLst>
              <a:ext uri="{FF2B5EF4-FFF2-40B4-BE49-F238E27FC236}">
                <a16:creationId xmlns:a16="http://schemas.microsoft.com/office/drawing/2014/main" id="{B01ED874-EC75-A096-933A-43D2E0180320}"/>
              </a:ext>
            </a:extLst>
          </p:cNvPr>
          <p:cNvPicPr>
            <a:picLocks noChangeAspect="1"/>
          </p:cNvPicPr>
          <p:nvPr/>
        </p:nvPicPr>
        <p:blipFill>
          <a:blip r:embed="rId3">
            <a:extLst>
              <a:ext uri="{28A0092B-C50C-407E-A947-70E740481C1C}">
                <a14:useLocalDpi xmlns:a14="http://schemas.microsoft.com/office/drawing/2010/main" val="0"/>
              </a:ext>
            </a:extLst>
          </a:blip>
          <a:srcRect l="44637" t="44372" r="32448" b="5532"/>
          <a:stretch>
            <a:fillRect/>
          </a:stretch>
        </p:blipFill>
        <p:spPr>
          <a:xfrm>
            <a:off x="7562698" y="197576"/>
            <a:ext cx="4269493" cy="6222796"/>
          </a:xfrm>
          <a:prstGeom prst="rect">
            <a:avLst/>
          </a:prstGeom>
        </p:spPr>
      </p:pic>
      <p:sp>
        <p:nvSpPr>
          <p:cNvPr id="2" name="Title 1">
            <a:extLst>
              <a:ext uri="{FF2B5EF4-FFF2-40B4-BE49-F238E27FC236}">
                <a16:creationId xmlns:a16="http://schemas.microsoft.com/office/drawing/2014/main" id="{C85E6474-CB48-2B92-C287-3E76A00F47E9}"/>
              </a:ext>
            </a:extLst>
          </p:cNvPr>
          <p:cNvSpPr>
            <a:spLocks noGrp="1"/>
          </p:cNvSpPr>
          <p:nvPr>
            <p:ph type="title"/>
          </p:nvPr>
        </p:nvSpPr>
        <p:spPr>
          <a:xfrm>
            <a:off x="654159" y="457200"/>
            <a:ext cx="2721559" cy="1006193"/>
          </a:xfrm>
        </p:spPr>
        <p:txBody>
          <a:bodyPr>
            <a:normAutofit fontScale="90000"/>
          </a:bodyPr>
          <a:lstStyle/>
          <a:p>
            <a:r>
              <a:rPr lang="en-US" sz="3600" dirty="0"/>
              <a:t>Cluster Distribution</a:t>
            </a:r>
          </a:p>
        </p:txBody>
      </p:sp>
      <p:pic>
        <p:nvPicPr>
          <p:cNvPr id="15" name="Content Placeholder 14">
            <a:extLst>
              <a:ext uri="{FF2B5EF4-FFF2-40B4-BE49-F238E27FC236}">
                <a16:creationId xmlns:a16="http://schemas.microsoft.com/office/drawing/2014/main" id="{DB036D4A-75AD-4C5E-0ABF-0B06C5002E1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89750" t="23889" r="2229" b="8063"/>
          <a:stretch>
            <a:fillRect/>
          </a:stretch>
        </p:blipFill>
        <p:spPr>
          <a:xfrm>
            <a:off x="1484035" y="1358501"/>
            <a:ext cx="964031" cy="5453016"/>
          </a:xfrm>
          <a:prstGeom prst="rect">
            <a:avLst/>
          </a:prstGeom>
        </p:spPr>
      </p:pic>
      <p:pic>
        <p:nvPicPr>
          <p:cNvPr id="4" name="Content Placeholder 14">
            <a:extLst>
              <a:ext uri="{FF2B5EF4-FFF2-40B4-BE49-F238E27FC236}">
                <a16:creationId xmlns:a16="http://schemas.microsoft.com/office/drawing/2014/main" id="{D23449BF-E5FD-0F94-57A0-E01E1168455C}"/>
              </a:ext>
            </a:extLst>
          </p:cNvPr>
          <p:cNvPicPr>
            <a:picLocks noChangeAspect="1"/>
          </p:cNvPicPr>
          <p:nvPr/>
        </p:nvPicPr>
        <p:blipFill>
          <a:blip r:embed="rId4">
            <a:extLst>
              <a:ext uri="{28A0092B-C50C-407E-A947-70E740481C1C}">
                <a14:useLocalDpi xmlns:a14="http://schemas.microsoft.com/office/drawing/2010/main" val="0"/>
              </a:ext>
            </a:extLst>
          </a:blip>
          <a:srcRect l="43850" t="94817" r="44120" b="1881"/>
          <a:stretch>
            <a:fillRect/>
          </a:stretch>
        </p:blipFill>
        <p:spPr>
          <a:xfrm>
            <a:off x="6188160" y="6235796"/>
            <a:ext cx="3230348" cy="591266"/>
          </a:xfrm>
          <a:prstGeom prst="rect">
            <a:avLst/>
          </a:prstGeom>
        </p:spPr>
      </p:pic>
      <p:pic>
        <p:nvPicPr>
          <p:cNvPr id="5" name="Content Placeholder 14">
            <a:extLst>
              <a:ext uri="{FF2B5EF4-FFF2-40B4-BE49-F238E27FC236}">
                <a16:creationId xmlns:a16="http://schemas.microsoft.com/office/drawing/2014/main" id="{3E8079A0-8654-1340-CB94-066F0174F93D}"/>
              </a:ext>
            </a:extLst>
          </p:cNvPr>
          <p:cNvPicPr>
            <a:picLocks noChangeAspect="1"/>
          </p:cNvPicPr>
          <p:nvPr/>
        </p:nvPicPr>
        <p:blipFill>
          <a:blip r:embed="rId4">
            <a:extLst>
              <a:ext uri="{28A0092B-C50C-407E-A947-70E740481C1C}">
                <a14:useLocalDpi xmlns:a14="http://schemas.microsoft.com/office/drawing/2010/main" val="0"/>
              </a:ext>
            </a:extLst>
          </a:blip>
          <a:srcRect l="1029" t="42911" r="96179" b="43018"/>
          <a:stretch>
            <a:fillRect/>
          </a:stretch>
        </p:blipFill>
        <p:spPr>
          <a:xfrm>
            <a:off x="2481945" y="2205038"/>
            <a:ext cx="728770" cy="2447924"/>
          </a:xfrm>
          <a:prstGeom prst="rect">
            <a:avLst/>
          </a:prstGeom>
        </p:spPr>
      </p:pic>
      <p:pic>
        <p:nvPicPr>
          <p:cNvPr id="11" name="Content Placeholder 14">
            <a:extLst>
              <a:ext uri="{FF2B5EF4-FFF2-40B4-BE49-F238E27FC236}">
                <a16:creationId xmlns:a16="http://schemas.microsoft.com/office/drawing/2014/main" id="{AE79DB28-DC75-C3A1-06F8-C14F223FAE70}"/>
              </a:ext>
            </a:extLst>
          </p:cNvPr>
          <p:cNvPicPr>
            <a:picLocks noChangeAspect="1"/>
          </p:cNvPicPr>
          <p:nvPr/>
        </p:nvPicPr>
        <p:blipFill>
          <a:blip r:embed="rId3">
            <a:extLst>
              <a:ext uri="{28A0092B-C50C-407E-A947-70E740481C1C}">
                <a14:useLocalDpi xmlns:a14="http://schemas.microsoft.com/office/drawing/2010/main" val="0"/>
              </a:ext>
            </a:extLst>
          </a:blip>
          <a:srcRect l="89750" t="4260" r="4583" b="75140"/>
          <a:stretch>
            <a:fillRect/>
          </a:stretch>
        </p:blipFill>
        <p:spPr>
          <a:xfrm>
            <a:off x="287567" y="1674760"/>
            <a:ext cx="1162589" cy="2817551"/>
          </a:xfrm>
          <a:prstGeom prst="rect">
            <a:avLst/>
          </a:prstGeom>
        </p:spPr>
      </p:pic>
    </p:spTree>
    <p:extLst>
      <p:ext uri="{BB962C8B-B14F-4D97-AF65-F5344CB8AC3E}">
        <p14:creationId xmlns:p14="http://schemas.microsoft.com/office/powerpoint/2010/main" val="2979780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8E407-AA6E-E2C7-3B25-6E82F5A67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A81EC-7EB1-427C-5C76-AD96F09FB01F}"/>
              </a:ext>
            </a:extLst>
          </p:cNvPr>
          <p:cNvSpPr>
            <a:spLocks noGrp="1"/>
          </p:cNvSpPr>
          <p:nvPr>
            <p:ph type="title"/>
          </p:nvPr>
        </p:nvSpPr>
        <p:spPr>
          <a:xfrm>
            <a:off x="838200" y="2535237"/>
            <a:ext cx="10515600" cy="1787525"/>
          </a:xfrm>
        </p:spPr>
        <p:txBody>
          <a:bodyPr/>
          <a:lstStyle/>
          <a:p>
            <a:pPr algn="ctr"/>
            <a:r>
              <a:rPr lang="en-US" dirty="0"/>
              <a:t>Objective 2: Influences on assemblages</a:t>
            </a:r>
          </a:p>
        </p:txBody>
      </p:sp>
    </p:spTree>
    <p:extLst>
      <p:ext uri="{BB962C8B-B14F-4D97-AF65-F5344CB8AC3E}">
        <p14:creationId xmlns:p14="http://schemas.microsoft.com/office/powerpoint/2010/main" val="4265969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A7BD2-3123-DBC7-0364-6D50EC9EC777}"/>
              </a:ext>
            </a:extLst>
          </p:cNvPr>
          <p:cNvSpPr>
            <a:spLocks noGrp="1"/>
          </p:cNvSpPr>
          <p:nvPr>
            <p:ph type="title"/>
          </p:nvPr>
        </p:nvSpPr>
        <p:spPr/>
        <p:txBody>
          <a:bodyPr>
            <a:normAutofit/>
          </a:bodyPr>
          <a:lstStyle/>
          <a:p>
            <a:r>
              <a:rPr lang="en-US" sz="4000" dirty="0"/>
              <a:t>Db-RDA and VPA</a:t>
            </a:r>
          </a:p>
        </p:txBody>
      </p:sp>
      <p:sp>
        <p:nvSpPr>
          <p:cNvPr id="3" name="Content Placeholder 2">
            <a:extLst>
              <a:ext uri="{FF2B5EF4-FFF2-40B4-BE49-F238E27FC236}">
                <a16:creationId xmlns:a16="http://schemas.microsoft.com/office/drawing/2014/main" id="{49C733D4-541E-6B5C-3F35-44B27BE9E251}"/>
              </a:ext>
            </a:extLst>
          </p:cNvPr>
          <p:cNvSpPr>
            <a:spLocks noGrp="1"/>
          </p:cNvSpPr>
          <p:nvPr>
            <p:ph idx="1"/>
          </p:nvPr>
        </p:nvSpPr>
        <p:spPr>
          <a:xfrm>
            <a:off x="838200" y="1825625"/>
            <a:ext cx="5349949" cy="4351338"/>
          </a:xfrm>
        </p:spPr>
        <p:txBody>
          <a:bodyPr>
            <a:normAutofit/>
          </a:bodyPr>
          <a:lstStyle/>
          <a:p>
            <a:r>
              <a:rPr lang="en-US" dirty="0"/>
              <a:t>Fit a spatiotemporal base model and a full model</a:t>
            </a:r>
          </a:p>
          <a:p>
            <a:pPr lvl="1"/>
            <a:r>
              <a:rPr lang="en-US" sz="2500" dirty="0"/>
              <a:t>Base: year, time of day, latitude, net tow depth and seafloor depth</a:t>
            </a:r>
          </a:p>
          <a:p>
            <a:pPr lvl="1"/>
            <a:r>
              <a:rPr lang="en-US" sz="2500" dirty="0"/>
              <a:t>Full: base + temperature, salinity, DO, and chl-</a:t>
            </a:r>
            <a:r>
              <a:rPr lang="en-US" sz="2500" i="1" dirty="0"/>
              <a:t>a</a:t>
            </a:r>
            <a:endParaRPr lang="en-US" sz="2500" dirty="0"/>
          </a:p>
          <a:p>
            <a:r>
              <a:rPr lang="en-US" dirty="0"/>
              <a:t>Both models explain significant amounts of variation (p &lt; 0.001)</a:t>
            </a:r>
          </a:p>
          <a:p>
            <a:pPr lvl="1"/>
            <a:r>
              <a:rPr lang="en-US" sz="2500" dirty="0"/>
              <a:t>Significant additional variation explained by full model (p &lt; 0.001)</a:t>
            </a:r>
          </a:p>
        </p:txBody>
      </p:sp>
      <p:graphicFrame>
        <p:nvGraphicFramePr>
          <p:cNvPr id="4" name="Table 3">
            <a:extLst>
              <a:ext uri="{FF2B5EF4-FFF2-40B4-BE49-F238E27FC236}">
                <a16:creationId xmlns:a16="http://schemas.microsoft.com/office/drawing/2014/main" id="{51A74387-ABA4-2CD1-3B32-AA097E8E5995}"/>
              </a:ext>
            </a:extLst>
          </p:cNvPr>
          <p:cNvGraphicFramePr>
            <a:graphicFrameLocks noGrp="1"/>
          </p:cNvGraphicFramePr>
          <p:nvPr>
            <p:extLst>
              <p:ext uri="{D42A27DB-BD31-4B8C-83A1-F6EECF244321}">
                <p14:modId xmlns:p14="http://schemas.microsoft.com/office/powerpoint/2010/main" val="4056588277"/>
              </p:ext>
            </p:extLst>
          </p:nvPr>
        </p:nvGraphicFramePr>
        <p:xfrm>
          <a:off x="6344093" y="1527741"/>
          <a:ext cx="5408428" cy="3550920"/>
        </p:xfrm>
        <a:graphic>
          <a:graphicData uri="http://schemas.openxmlformats.org/drawingml/2006/table">
            <a:tbl>
              <a:tblPr firstRow="1" bandRow="1">
                <a:tableStyleId>{5940675A-B579-460E-94D1-54222C63F5DA}</a:tableStyleId>
              </a:tblPr>
              <a:tblGrid>
                <a:gridCol w="3055088">
                  <a:extLst>
                    <a:ext uri="{9D8B030D-6E8A-4147-A177-3AD203B41FA5}">
                      <a16:colId xmlns:a16="http://schemas.microsoft.com/office/drawing/2014/main" val="92007979"/>
                    </a:ext>
                  </a:extLst>
                </a:gridCol>
                <a:gridCol w="2353340">
                  <a:extLst>
                    <a:ext uri="{9D8B030D-6E8A-4147-A177-3AD203B41FA5}">
                      <a16:colId xmlns:a16="http://schemas.microsoft.com/office/drawing/2014/main" val="403376570"/>
                    </a:ext>
                  </a:extLst>
                </a:gridCol>
              </a:tblGrid>
              <a:tr h="370840">
                <a:tc gridSpan="2">
                  <a:txBody>
                    <a:bodyPr/>
                    <a:lstStyle/>
                    <a:p>
                      <a:pPr algn="ctr"/>
                      <a:r>
                        <a:rPr lang="en-US" sz="2800" b="1" dirty="0"/>
                        <a:t>VPA results</a:t>
                      </a:r>
                    </a:p>
                  </a:txBody>
                  <a:tcPr/>
                </a:tc>
                <a:tc hMerge="1">
                  <a:txBody>
                    <a:bodyPr/>
                    <a:lstStyle/>
                    <a:p>
                      <a:endParaRPr lang="en-US" dirty="0"/>
                    </a:p>
                  </a:txBody>
                  <a:tcPr/>
                </a:tc>
                <a:extLst>
                  <a:ext uri="{0D108BD9-81ED-4DB2-BD59-A6C34878D82A}">
                    <a16:rowId xmlns:a16="http://schemas.microsoft.com/office/drawing/2014/main" val="2429855489"/>
                  </a:ext>
                </a:extLst>
              </a:tr>
              <a:tr h="370840">
                <a:tc>
                  <a:txBody>
                    <a:bodyPr/>
                    <a:lstStyle/>
                    <a:p>
                      <a:pPr algn="ctr"/>
                      <a:r>
                        <a:rPr lang="en-US" sz="2500" b="1" dirty="0"/>
                        <a:t>Covariates</a:t>
                      </a:r>
                    </a:p>
                  </a:txBody>
                  <a:tcPr anchor="ctr"/>
                </a:tc>
                <a:tc>
                  <a:txBody>
                    <a:bodyPr/>
                    <a:lstStyle/>
                    <a:p>
                      <a:pPr algn="ctr"/>
                      <a:r>
                        <a:rPr lang="en-US" sz="2500" b="1" dirty="0"/>
                        <a:t>Percent of variation explained</a:t>
                      </a:r>
                    </a:p>
                  </a:txBody>
                  <a:tcPr anchor="ctr"/>
                </a:tc>
                <a:extLst>
                  <a:ext uri="{0D108BD9-81ED-4DB2-BD59-A6C34878D82A}">
                    <a16:rowId xmlns:a16="http://schemas.microsoft.com/office/drawing/2014/main" val="2767262234"/>
                  </a:ext>
                </a:extLst>
              </a:tr>
              <a:tr h="370840">
                <a:tc>
                  <a:txBody>
                    <a:bodyPr/>
                    <a:lstStyle/>
                    <a:p>
                      <a:r>
                        <a:rPr lang="en-US" sz="2500" dirty="0"/>
                        <a:t>Spatiotemporal</a:t>
                      </a:r>
                    </a:p>
                  </a:txBody>
                  <a:tcPr anchor="ctr"/>
                </a:tc>
                <a:tc>
                  <a:txBody>
                    <a:bodyPr/>
                    <a:lstStyle/>
                    <a:p>
                      <a:r>
                        <a:rPr lang="en-US" sz="2500" dirty="0"/>
                        <a:t>3.72%</a:t>
                      </a:r>
                    </a:p>
                  </a:txBody>
                  <a:tcPr anchor="ctr"/>
                </a:tc>
                <a:extLst>
                  <a:ext uri="{0D108BD9-81ED-4DB2-BD59-A6C34878D82A}">
                    <a16:rowId xmlns:a16="http://schemas.microsoft.com/office/drawing/2014/main" val="547244727"/>
                  </a:ext>
                </a:extLst>
              </a:tr>
              <a:tr h="370840">
                <a:tc>
                  <a:txBody>
                    <a:bodyPr/>
                    <a:lstStyle/>
                    <a:p>
                      <a:r>
                        <a:rPr lang="en-US" sz="2500" dirty="0"/>
                        <a:t>Environmental</a:t>
                      </a:r>
                    </a:p>
                  </a:txBody>
                  <a:tcPr anchor="ctr"/>
                </a:tc>
                <a:tc>
                  <a:txBody>
                    <a:bodyPr/>
                    <a:lstStyle/>
                    <a:p>
                      <a:r>
                        <a:rPr lang="en-US" sz="2500" dirty="0"/>
                        <a:t>1.92%</a:t>
                      </a:r>
                    </a:p>
                  </a:txBody>
                  <a:tcPr anchor="ctr"/>
                </a:tc>
                <a:extLst>
                  <a:ext uri="{0D108BD9-81ED-4DB2-BD59-A6C34878D82A}">
                    <a16:rowId xmlns:a16="http://schemas.microsoft.com/office/drawing/2014/main" val="484875835"/>
                  </a:ext>
                </a:extLst>
              </a:tr>
              <a:tr h="370840">
                <a:tc>
                  <a:txBody>
                    <a:bodyPr/>
                    <a:lstStyle/>
                    <a:p>
                      <a:r>
                        <a:rPr lang="en-US" sz="2500" dirty="0"/>
                        <a:t>Spatiotemporal and Environmental</a:t>
                      </a:r>
                    </a:p>
                  </a:txBody>
                  <a:tcPr anchor="ctr"/>
                </a:tc>
                <a:tc>
                  <a:txBody>
                    <a:bodyPr/>
                    <a:lstStyle/>
                    <a:p>
                      <a:r>
                        <a:rPr lang="en-US" sz="2500" dirty="0"/>
                        <a:t>1.57%</a:t>
                      </a:r>
                    </a:p>
                  </a:txBody>
                  <a:tcPr anchor="ctr"/>
                </a:tc>
                <a:extLst>
                  <a:ext uri="{0D108BD9-81ED-4DB2-BD59-A6C34878D82A}">
                    <a16:rowId xmlns:a16="http://schemas.microsoft.com/office/drawing/2014/main" val="1023817428"/>
                  </a:ext>
                </a:extLst>
              </a:tr>
            </a:tbl>
          </a:graphicData>
        </a:graphic>
      </p:graphicFrame>
    </p:spTree>
    <p:extLst>
      <p:ext uri="{BB962C8B-B14F-4D97-AF65-F5344CB8AC3E}">
        <p14:creationId xmlns:p14="http://schemas.microsoft.com/office/powerpoint/2010/main" val="2453236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A3E4C-C222-F48C-AFE5-B28AEC5CC5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50834-5FB1-DCF3-9412-1E83D8CC89C2}"/>
              </a:ext>
            </a:extLst>
          </p:cNvPr>
          <p:cNvSpPr>
            <a:spLocks noGrp="1"/>
          </p:cNvSpPr>
          <p:nvPr>
            <p:ph type="title"/>
          </p:nvPr>
        </p:nvSpPr>
        <p:spPr>
          <a:xfrm>
            <a:off x="654159" y="457200"/>
            <a:ext cx="2721559" cy="1217560"/>
          </a:xfrm>
        </p:spPr>
        <p:txBody>
          <a:bodyPr>
            <a:normAutofit/>
          </a:bodyPr>
          <a:lstStyle/>
          <a:p>
            <a:r>
              <a:rPr lang="en-US" sz="3600" dirty="0"/>
              <a:t>Db-RDA ordination</a:t>
            </a:r>
          </a:p>
        </p:txBody>
      </p:sp>
      <p:pic>
        <p:nvPicPr>
          <p:cNvPr id="8" name="Content Placeholder 5">
            <a:extLst>
              <a:ext uri="{FF2B5EF4-FFF2-40B4-BE49-F238E27FC236}">
                <a16:creationId xmlns:a16="http://schemas.microsoft.com/office/drawing/2014/main" id="{B3DB197F-6F82-7DF2-2642-58D76DF429E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3200" t="1642" r="11819" b="5091"/>
          <a:stretch>
            <a:fillRect/>
          </a:stretch>
        </p:blipFill>
        <p:spPr>
          <a:xfrm>
            <a:off x="4021118" y="194548"/>
            <a:ext cx="7922790" cy="6210872"/>
          </a:xfrm>
          <a:prstGeom prst="rect">
            <a:avLst/>
          </a:prstGeom>
        </p:spPr>
      </p:pic>
      <p:pic>
        <p:nvPicPr>
          <p:cNvPr id="12" name="Content Placeholder 5">
            <a:extLst>
              <a:ext uri="{FF2B5EF4-FFF2-40B4-BE49-F238E27FC236}">
                <a16:creationId xmlns:a16="http://schemas.microsoft.com/office/drawing/2014/main" id="{57A572CA-1E05-D65E-FD1C-57BF815EA4F0}"/>
              </a:ext>
            </a:extLst>
          </p:cNvPr>
          <p:cNvPicPr>
            <a:picLocks noChangeAspect="1"/>
          </p:cNvPicPr>
          <p:nvPr/>
        </p:nvPicPr>
        <p:blipFill>
          <a:blip r:embed="rId4">
            <a:extLst>
              <a:ext uri="{28A0092B-C50C-407E-A947-70E740481C1C}">
                <a14:useLocalDpi xmlns:a14="http://schemas.microsoft.com/office/drawing/2010/main" val="0"/>
              </a:ext>
            </a:extLst>
          </a:blip>
          <a:srcRect l="42231" t="95092" r="48454" b="1416"/>
          <a:stretch>
            <a:fillRect/>
          </a:stretch>
        </p:blipFill>
        <p:spPr>
          <a:xfrm>
            <a:off x="7218206" y="6405420"/>
            <a:ext cx="1689636" cy="452580"/>
          </a:xfrm>
          <a:prstGeom prst="rect">
            <a:avLst/>
          </a:prstGeom>
        </p:spPr>
      </p:pic>
      <p:pic>
        <p:nvPicPr>
          <p:cNvPr id="14" name="Content Placeholder 5">
            <a:extLst>
              <a:ext uri="{FF2B5EF4-FFF2-40B4-BE49-F238E27FC236}">
                <a16:creationId xmlns:a16="http://schemas.microsoft.com/office/drawing/2014/main" id="{EB646FFA-A2BF-E21E-BE4E-81E9EEF2C4A7}"/>
              </a:ext>
            </a:extLst>
          </p:cNvPr>
          <p:cNvPicPr>
            <a:picLocks noChangeAspect="1"/>
          </p:cNvPicPr>
          <p:nvPr/>
        </p:nvPicPr>
        <p:blipFill>
          <a:blip r:embed="rId4">
            <a:extLst>
              <a:ext uri="{28A0092B-C50C-407E-A947-70E740481C1C}">
                <a14:useLocalDpi xmlns:a14="http://schemas.microsoft.com/office/drawing/2010/main" val="0"/>
              </a:ext>
            </a:extLst>
          </a:blip>
          <a:srcRect t="41569" r="96045" b="48247"/>
          <a:stretch>
            <a:fillRect/>
          </a:stretch>
        </p:blipFill>
        <p:spPr>
          <a:xfrm>
            <a:off x="3385409" y="2715340"/>
            <a:ext cx="635709" cy="1169287"/>
          </a:xfrm>
          <a:prstGeom prst="rect">
            <a:avLst/>
          </a:prstGeom>
        </p:spPr>
      </p:pic>
      <p:pic>
        <p:nvPicPr>
          <p:cNvPr id="17" name="Content Placeholder 5">
            <a:extLst>
              <a:ext uri="{FF2B5EF4-FFF2-40B4-BE49-F238E27FC236}">
                <a16:creationId xmlns:a16="http://schemas.microsoft.com/office/drawing/2014/main" id="{12852A16-B58E-F6FC-8396-D94557173695}"/>
              </a:ext>
            </a:extLst>
          </p:cNvPr>
          <p:cNvPicPr>
            <a:picLocks noChangeAspect="1"/>
          </p:cNvPicPr>
          <p:nvPr/>
        </p:nvPicPr>
        <p:blipFill>
          <a:blip r:embed="rId4">
            <a:extLst>
              <a:ext uri="{28A0092B-C50C-407E-A947-70E740481C1C}">
                <a14:useLocalDpi xmlns:a14="http://schemas.microsoft.com/office/drawing/2010/main" val="0"/>
              </a:ext>
            </a:extLst>
          </a:blip>
          <a:srcRect l="89379" t="25797" b="32227"/>
          <a:stretch>
            <a:fillRect/>
          </a:stretch>
        </p:blipFill>
        <p:spPr>
          <a:xfrm>
            <a:off x="1809433" y="1796239"/>
            <a:ext cx="1479571" cy="4176775"/>
          </a:xfrm>
          <a:prstGeom prst="rect">
            <a:avLst/>
          </a:prstGeom>
        </p:spPr>
      </p:pic>
    </p:spTree>
    <p:extLst>
      <p:ext uri="{BB962C8B-B14F-4D97-AF65-F5344CB8AC3E}">
        <p14:creationId xmlns:p14="http://schemas.microsoft.com/office/powerpoint/2010/main" val="4288031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92C21-5CE9-670E-3ACC-8A71893BA1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6E555-C0BC-AF31-9777-EA4C81CCD0C4}"/>
              </a:ext>
            </a:extLst>
          </p:cNvPr>
          <p:cNvSpPr>
            <a:spLocks noGrp="1"/>
          </p:cNvSpPr>
          <p:nvPr>
            <p:ph type="title"/>
          </p:nvPr>
        </p:nvSpPr>
        <p:spPr>
          <a:xfrm>
            <a:off x="838200" y="2509837"/>
            <a:ext cx="10515600" cy="1838325"/>
          </a:xfrm>
        </p:spPr>
        <p:txBody>
          <a:bodyPr/>
          <a:lstStyle/>
          <a:p>
            <a:pPr algn="ctr"/>
            <a:r>
              <a:rPr lang="en-US" dirty="0"/>
              <a:t>Objective 3: Taxon-specific diel variation in vertical distribution</a:t>
            </a:r>
          </a:p>
        </p:txBody>
      </p:sp>
    </p:spTree>
    <p:extLst>
      <p:ext uri="{BB962C8B-B14F-4D97-AF65-F5344CB8AC3E}">
        <p14:creationId xmlns:p14="http://schemas.microsoft.com/office/powerpoint/2010/main" val="2953870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5411F-9143-0BDF-D8F3-DB589158D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E5161E-02A7-5DD1-E29A-7F38A926484D}"/>
              </a:ext>
            </a:extLst>
          </p:cNvPr>
          <p:cNvSpPr>
            <a:spLocks noGrp="1"/>
          </p:cNvSpPr>
          <p:nvPr>
            <p:ph type="title"/>
          </p:nvPr>
        </p:nvSpPr>
        <p:spPr/>
        <p:txBody>
          <a:bodyPr>
            <a:normAutofit/>
          </a:bodyPr>
          <a:lstStyle/>
          <a:p>
            <a:r>
              <a:rPr lang="en-US" sz="4000" dirty="0"/>
              <a:t>Negative binomial GLMM</a:t>
            </a:r>
          </a:p>
        </p:txBody>
      </p:sp>
      <p:sp>
        <p:nvSpPr>
          <p:cNvPr id="3" name="Content Placeholder 2">
            <a:extLst>
              <a:ext uri="{FF2B5EF4-FFF2-40B4-BE49-F238E27FC236}">
                <a16:creationId xmlns:a16="http://schemas.microsoft.com/office/drawing/2014/main" id="{0DF5F42B-5B28-54E8-C738-C505F433CF7A}"/>
              </a:ext>
            </a:extLst>
          </p:cNvPr>
          <p:cNvSpPr>
            <a:spLocks noGrp="1"/>
          </p:cNvSpPr>
          <p:nvPr>
            <p:ph idx="1"/>
          </p:nvPr>
        </p:nvSpPr>
        <p:spPr/>
        <p:txBody>
          <a:bodyPr>
            <a:normAutofit/>
          </a:bodyPr>
          <a:lstStyle/>
          <a:p>
            <a:r>
              <a:rPr lang="en-US" dirty="0"/>
              <a:t>Fit to ichthyoplankton counts</a:t>
            </a:r>
          </a:p>
          <a:p>
            <a:pPr lvl="1"/>
            <a:r>
              <a:rPr lang="en-US" sz="2500" dirty="0"/>
              <a:t>Fixed effects included taxon, year, time of day, depth, latitude, seafloor depth, temperature, salinity, DO, and chl-</a:t>
            </a:r>
            <a:r>
              <a:rPr lang="en-US" sz="2500" i="1" dirty="0"/>
              <a:t>a</a:t>
            </a:r>
            <a:r>
              <a:rPr lang="en-US" sz="2500" dirty="0"/>
              <a:t> </a:t>
            </a:r>
          </a:p>
          <a:p>
            <a:pPr lvl="1"/>
            <a:r>
              <a:rPr lang="en-US" sz="2500" dirty="0"/>
              <a:t>The full interaction among taxon, time of day, and depth</a:t>
            </a:r>
          </a:p>
          <a:p>
            <a:r>
              <a:rPr lang="en-US" dirty="0"/>
              <a:t>Interaction between taxon, time of day, and depth significant for many taxa</a:t>
            </a:r>
          </a:p>
          <a:p>
            <a:r>
              <a:rPr lang="en-US" dirty="0"/>
              <a:t>Model alone does not address DVM</a:t>
            </a:r>
          </a:p>
          <a:p>
            <a:endParaRPr lang="en-US" sz="2400" dirty="0"/>
          </a:p>
          <a:p>
            <a:endParaRPr lang="en-US" sz="2400" dirty="0"/>
          </a:p>
        </p:txBody>
      </p:sp>
    </p:spTree>
    <p:extLst>
      <p:ext uri="{BB962C8B-B14F-4D97-AF65-F5344CB8AC3E}">
        <p14:creationId xmlns:p14="http://schemas.microsoft.com/office/powerpoint/2010/main" val="1224442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F4F21-E44A-8428-88A9-5472B256D169}"/>
              </a:ext>
            </a:extLst>
          </p:cNvPr>
          <p:cNvSpPr>
            <a:spLocks noGrp="1"/>
          </p:cNvSpPr>
          <p:nvPr>
            <p:ph type="title"/>
          </p:nvPr>
        </p:nvSpPr>
        <p:spPr/>
        <p:txBody>
          <a:bodyPr>
            <a:normAutofit/>
          </a:bodyPr>
          <a:lstStyle/>
          <a:p>
            <a:r>
              <a:rPr lang="en-US" sz="4000" dirty="0"/>
              <a:t>Objective 3</a:t>
            </a:r>
          </a:p>
        </p:txBody>
      </p:sp>
      <p:sp>
        <p:nvSpPr>
          <p:cNvPr id="3" name="Text Placeholder 2">
            <a:extLst>
              <a:ext uri="{FF2B5EF4-FFF2-40B4-BE49-F238E27FC236}">
                <a16:creationId xmlns:a16="http://schemas.microsoft.com/office/drawing/2014/main" id="{811B784F-B0FE-B134-DE85-B82BC9CF9725}"/>
              </a:ext>
            </a:extLst>
          </p:cNvPr>
          <p:cNvSpPr>
            <a:spLocks noGrp="1"/>
          </p:cNvSpPr>
          <p:nvPr>
            <p:ph type="body" idx="1"/>
          </p:nvPr>
        </p:nvSpPr>
        <p:spPr>
          <a:xfrm>
            <a:off x="450128" y="1657839"/>
            <a:ext cx="3642951" cy="823912"/>
          </a:xfrm>
        </p:spPr>
        <p:txBody>
          <a:bodyPr>
            <a:noAutofit/>
          </a:bodyPr>
          <a:lstStyle/>
          <a:p>
            <a:pPr algn="ctr"/>
            <a:r>
              <a:rPr lang="en-US" sz="2800" dirty="0"/>
              <a:t>Vertical distribution across the day</a:t>
            </a:r>
          </a:p>
        </p:txBody>
      </p:sp>
      <p:sp>
        <p:nvSpPr>
          <p:cNvPr id="5" name="Text Placeholder 4">
            <a:extLst>
              <a:ext uri="{FF2B5EF4-FFF2-40B4-BE49-F238E27FC236}">
                <a16:creationId xmlns:a16="http://schemas.microsoft.com/office/drawing/2014/main" id="{941A9FE0-0831-3314-E63A-403E0F0F6E75}"/>
              </a:ext>
            </a:extLst>
          </p:cNvPr>
          <p:cNvSpPr>
            <a:spLocks noGrp="1"/>
          </p:cNvSpPr>
          <p:nvPr>
            <p:ph type="body" sz="quarter" idx="3"/>
          </p:nvPr>
        </p:nvSpPr>
        <p:spPr>
          <a:xfrm>
            <a:off x="4345200" y="1624990"/>
            <a:ext cx="3642951" cy="823912"/>
          </a:xfrm>
        </p:spPr>
        <p:txBody>
          <a:bodyPr>
            <a:noAutofit/>
          </a:bodyPr>
          <a:lstStyle/>
          <a:p>
            <a:pPr algn="ctr"/>
            <a:r>
              <a:rPr lang="en-US" sz="2800" dirty="0"/>
              <a:t>Time effect on total abundance</a:t>
            </a:r>
          </a:p>
        </p:txBody>
      </p:sp>
      <p:sp>
        <p:nvSpPr>
          <p:cNvPr id="10" name="Text Placeholder 4">
            <a:extLst>
              <a:ext uri="{FF2B5EF4-FFF2-40B4-BE49-F238E27FC236}">
                <a16:creationId xmlns:a16="http://schemas.microsoft.com/office/drawing/2014/main" id="{4897BA95-02F0-B7E1-1044-1BA7DA428238}"/>
              </a:ext>
            </a:extLst>
          </p:cNvPr>
          <p:cNvSpPr txBox="1">
            <a:spLocks/>
          </p:cNvSpPr>
          <p:nvPr/>
        </p:nvSpPr>
        <p:spPr>
          <a:xfrm>
            <a:off x="8357114" y="1624990"/>
            <a:ext cx="3642951" cy="823912"/>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2800" dirty="0"/>
              <a:t>Time effect on abundance gradient</a:t>
            </a:r>
          </a:p>
        </p:txBody>
      </p:sp>
      <p:sp>
        <p:nvSpPr>
          <p:cNvPr id="14" name="Content Placeholder 5">
            <a:extLst>
              <a:ext uri="{FF2B5EF4-FFF2-40B4-BE49-F238E27FC236}">
                <a16:creationId xmlns:a16="http://schemas.microsoft.com/office/drawing/2014/main" id="{B6290506-0F17-7A96-BD89-BF7282E95E12}"/>
              </a:ext>
            </a:extLst>
          </p:cNvPr>
          <p:cNvSpPr txBox="1">
            <a:spLocks/>
          </p:cNvSpPr>
          <p:nvPr/>
        </p:nvSpPr>
        <p:spPr>
          <a:xfrm>
            <a:off x="7939118" y="2707870"/>
            <a:ext cx="3642951" cy="34389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p>
        </p:txBody>
      </p:sp>
      <p:cxnSp>
        <p:nvCxnSpPr>
          <p:cNvPr id="16" name="Straight Connector 15">
            <a:extLst>
              <a:ext uri="{FF2B5EF4-FFF2-40B4-BE49-F238E27FC236}">
                <a16:creationId xmlns:a16="http://schemas.microsoft.com/office/drawing/2014/main" id="{50253486-C68C-51C9-A40E-06E059ABBD6E}"/>
              </a:ext>
            </a:extLst>
          </p:cNvPr>
          <p:cNvCxnSpPr/>
          <p:nvPr/>
        </p:nvCxnSpPr>
        <p:spPr>
          <a:xfrm>
            <a:off x="681659" y="2505075"/>
            <a:ext cx="3179890" cy="0"/>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4338D88A-853D-90FD-85D3-713F2340645C}"/>
              </a:ext>
            </a:extLst>
          </p:cNvPr>
          <p:cNvCxnSpPr/>
          <p:nvPr/>
        </p:nvCxnSpPr>
        <p:spPr>
          <a:xfrm>
            <a:off x="4715942" y="2505075"/>
            <a:ext cx="3179890" cy="0"/>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50713E81-6361-0A83-AB67-A91F8B3DCF06}"/>
              </a:ext>
            </a:extLst>
          </p:cNvPr>
          <p:cNvCxnSpPr/>
          <p:nvPr/>
        </p:nvCxnSpPr>
        <p:spPr>
          <a:xfrm>
            <a:off x="8643010" y="2505075"/>
            <a:ext cx="3179890" cy="0"/>
          </a:xfrm>
          <a:prstGeom prst="line">
            <a:avLst/>
          </a:prstGeom>
        </p:spPr>
        <p:style>
          <a:lnRef idx="2">
            <a:schemeClr val="dk1"/>
          </a:lnRef>
          <a:fillRef idx="0">
            <a:schemeClr val="dk1"/>
          </a:fillRef>
          <a:effectRef idx="1">
            <a:schemeClr val="dk1"/>
          </a:effectRef>
          <a:fontRef idx="minor">
            <a:schemeClr val="tx1"/>
          </a:fontRef>
        </p:style>
      </p:cxnSp>
      <p:pic>
        <p:nvPicPr>
          <p:cNvPr id="7" name="Content Placeholder 7">
            <a:extLst>
              <a:ext uri="{FF2B5EF4-FFF2-40B4-BE49-F238E27FC236}">
                <a16:creationId xmlns:a16="http://schemas.microsoft.com/office/drawing/2014/main" id="{17C58B8D-37CB-2420-A311-AEFC4D1F781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15962" y="2707870"/>
            <a:ext cx="4136920" cy="2757946"/>
          </a:xfrm>
          <a:prstGeom prst="rect">
            <a:avLst/>
          </a:prstGeom>
        </p:spPr>
      </p:pic>
      <p:pic>
        <p:nvPicPr>
          <p:cNvPr id="9" name="Content Placeholder 11">
            <a:extLst>
              <a:ext uri="{FF2B5EF4-FFF2-40B4-BE49-F238E27FC236}">
                <a16:creationId xmlns:a16="http://schemas.microsoft.com/office/drawing/2014/main" id="{CC26D7D7-5F7C-56E4-8A0B-8F39D2E56A6E}"/>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4269228" y="2845959"/>
            <a:ext cx="3794896" cy="2529931"/>
          </a:xfrm>
          <a:prstGeom prst="rect">
            <a:avLst/>
          </a:prstGeom>
        </p:spPr>
      </p:pic>
      <p:pic>
        <p:nvPicPr>
          <p:cNvPr id="12" name="Content Placeholder 15">
            <a:extLst>
              <a:ext uri="{FF2B5EF4-FFF2-40B4-BE49-F238E27FC236}">
                <a16:creationId xmlns:a16="http://schemas.microsoft.com/office/drawing/2014/main" id="{24972419-0CCC-2065-B7E7-915938386C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81142" y="2744593"/>
            <a:ext cx="3794896" cy="2513456"/>
          </a:xfrm>
          <a:prstGeom prst="rect">
            <a:avLst/>
          </a:prstGeom>
        </p:spPr>
      </p:pic>
    </p:spTree>
    <p:extLst>
      <p:ext uri="{BB962C8B-B14F-4D97-AF65-F5344CB8AC3E}">
        <p14:creationId xmlns:p14="http://schemas.microsoft.com/office/powerpoint/2010/main" val="3912189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13AA1-6F03-3DD1-FFC4-D925E9A13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8AEF3-5B1D-A65E-1850-71F6DB8EBF22}"/>
              </a:ext>
            </a:extLst>
          </p:cNvPr>
          <p:cNvSpPr>
            <a:spLocks noGrp="1"/>
          </p:cNvSpPr>
          <p:nvPr>
            <p:ph type="title"/>
          </p:nvPr>
        </p:nvSpPr>
        <p:spPr>
          <a:xfrm>
            <a:off x="827946" y="521934"/>
            <a:ext cx="10515600" cy="1325563"/>
          </a:xfrm>
        </p:spPr>
        <p:txBody>
          <a:bodyPr>
            <a:normAutofit/>
          </a:bodyPr>
          <a:lstStyle/>
          <a:p>
            <a:pPr algn="ctr"/>
            <a:r>
              <a:rPr lang="en-US" sz="4000" i="1" dirty="0"/>
              <a:t>L. ringens</a:t>
            </a:r>
            <a:r>
              <a:rPr lang="en-US" sz="4000" dirty="0"/>
              <a:t> – most abundant at shallowest depths at night</a:t>
            </a:r>
          </a:p>
        </p:txBody>
      </p:sp>
      <p:sp>
        <p:nvSpPr>
          <p:cNvPr id="14" name="Content Placeholder 5">
            <a:extLst>
              <a:ext uri="{FF2B5EF4-FFF2-40B4-BE49-F238E27FC236}">
                <a16:creationId xmlns:a16="http://schemas.microsoft.com/office/drawing/2014/main" id="{BB8A6172-AE64-83CA-0DC6-104F29AF4B12}"/>
              </a:ext>
            </a:extLst>
          </p:cNvPr>
          <p:cNvSpPr txBox="1">
            <a:spLocks/>
          </p:cNvSpPr>
          <p:nvPr/>
        </p:nvSpPr>
        <p:spPr>
          <a:xfrm>
            <a:off x="7939118" y="2707870"/>
            <a:ext cx="3642951" cy="34389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p>
        </p:txBody>
      </p:sp>
      <p:pic>
        <p:nvPicPr>
          <p:cNvPr id="22" name="Content Placeholder 7">
            <a:extLst>
              <a:ext uri="{FF2B5EF4-FFF2-40B4-BE49-F238E27FC236}">
                <a16:creationId xmlns:a16="http://schemas.microsoft.com/office/drawing/2014/main" id="{17C790C0-7550-FFE6-6B3E-49642A52DBD0}"/>
              </a:ext>
            </a:extLst>
          </p:cNvPr>
          <p:cNvPicPr>
            <a:picLocks noChangeAspect="1"/>
          </p:cNvPicPr>
          <p:nvPr/>
        </p:nvPicPr>
        <p:blipFill>
          <a:blip r:embed="rId3">
            <a:extLst>
              <a:ext uri="{28A0092B-C50C-407E-A947-70E740481C1C}">
                <a14:useLocalDpi xmlns:a14="http://schemas.microsoft.com/office/drawing/2010/main" val="0"/>
              </a:ext>
            </a:extLst>
          </a:blip>
          <a:srcRect l="37785" t="96370" r="54041"/>
          <a:stretch>
            <a:fillRect/>
          </a:stretch>
        </p:blipFill>
        <p:spPr>
          <a:xfrm>
            <a:off x="4873197" y="6130360"/>
            <a:ext cx="2445605" cy="725029"/>
          </a:xfrm>
          <a:prstGeom prst="rect">
            <a:avLst/>
          </a:prstGeom>
        </p:spPr>
      </p:pic>
      <p:grpSp>
        <p:nvGrpSpPr>
          <p:cNvPr id="8" name="Group 7">
            <a:extLst>
              <a:ext uri="{FF2B5EF4-FFF2-40B4-BE49-F238E27FC236}">
                <a16:creationId xmlns:a16="http://schemas.microsoft.com/office/drawing/2014/main" id="{34DDAF54-FB5A-7900-647E-A4B4F8DB9CA7}"/>
              </a:ext>
            </a:extLst>
          </p:cNvPr>
          <p:cNvGrpSpPr/>
          <p:nvPr/>
        </p:nvGrpSpPr>
        <p:grpSpPr>
          <a:xfrm>
            <a:off x="3969679" y="2788392"/>
            <a:ext cx="4076549" cy="2833377"/>
            <a:chOff x="3969679" y="2788392"/>
            <a:chExt cx="4076549" cy="2833377"/>
          </a:xfrm>
        </p:grpSpPr>
        <p:pic>
          <p:nvPicPr>
            <p:cNvPr id="35" name="Content Placeholder 11">
              <a:extLst>
                <a:ext uri="{FF2B5EF4-FFF2-40B4-BE49-F238E27FC236}">
                  <a16:creationId xmlns:a16="http://schemas.microsoft.com/office/drawing/2014/main" id="{83CB3557-326C-C287-63AB-E40D4D5733A1}"/>
                </a:ext>
              </a:extLst>
            </p:cNvPr>
            <p:cNvPicPr>
              <a:picLocks noChangeAspect="1"/>
            </p:cNvPicPr>
            <p:nvPr/>
          </p:nvPicPr>
          <p:blipFill>
            <a:blip r:embed="rId4">
              <a:extLst>
                <a:ext uri="{28A0092B-C50C-407E-A947-70E740481C1C}">
                  <a14:useLocalDpi xmlns:a14="http://schemas.microsoft.com/office/drawing/2010/main" val="0"/>
                </a:ext>
              </a:extLst>
            </a:blip>
            <a:srcRect l="80332" t="46" r="10" b="80370"/>
            <a:stretch>
              <a:fillRect/>
            </a:stretch>
          </p:blipFill>
          <p:spPr>
            <a:xfrm>
              <a:off x="4189173" y="2788392"/>
              <a:ext cx="3793147" cy="2550899"/>
            </a:xfrm>
            <a:prstGeom prst="rect">
              <a:avLst/>
            </a:prstGeom>
          </p:spPr>
        </p:pic>
        <p:pic>
          <p:nvPicPr>
            <p:cNvPr id="37" name="Content Placeholder 11">
              <a:extLst>
                <a:ext uri="{FF2B5EF4-FFF2-40B4-BE49-F238E27FC236}">
                  <a16:creationId xmlns:a16="http://schemas.microsoft.com/office/drawing/2014/main" id="{744FD7EB-6B7D-03A6-28C7-01CD533C0B4E}"/>
                </a:ext>
              </a:extLst>
            </p:cNvPr>
            <p:cNvPicPr>
              <a:picLocks noChangeAspect="1"/>
            </p:cNvPicPr>
            <p:nvPr/>
          </p:nvPicPr>
          <p:blipFill>
            <a:blip r:embed="rId4">
              <a:extLst>
                <a:ext uri="{28A0092B-C50C-407E-A947-70E740481C1C}">
                  <a14:useLocalDpi xmlns:a14="http://schemas.microsoft.com/office/drawing/2010/main" val="0"/>
                </a:ext>
              </a:extLst>
            </a:blip>
            <a:srcRect l="4350" t="94588" r="77762" b="2990"/>
            <a:stretch>
              <a:fillRect/>
            </a:stretch>
          </p:blipFill>
          <p:spPr>
            <a:xfrm>
              <a:off x="4594701" y="5207681"/>
              <a:ext cx="3451527" cy="315484"/>
            </a:xfrm>
            <a:prstGeom prst="rect">
              <a:avLst/>
            </a:prstGeom>
          </p:spPr>
        </p:pic>
        <p:pic>
          <p:nvPicPr>
            <p:cNvPr id="40" name="Content Placeholder 11">
              <a:extLst>
                <a:ext uri="{FF2B5EF4-FFF2-40B4-BE49-F238E27FC236}">
                  <a16:creationId xmlns:a16="http://schemas.microsoft.com/office/drawing/2014/main" id="{97F15C4F-F9D4-78D3-88B1-63B83C598B6E}"/>
                </a:ext>
              </a:extLst>
            </p:cNvPr>
            <p:cNvPicPr>
              <a:picLocks noChangeAspect="1"/>
            </p:cNvPicPr>
            <p:nvPr/>
          </p:nvPicPr>
          <p:blipFill>
            <a:blip r:embed="rId4">
              <a:extLst>
                <a:ext uri="{28A0092B-C50C-407E-A947-70E740481C1C}">
                  <a14:useLocalDpi xmlns:a14="http://schemas.microsoft.com/office/drawing/2010/main" val="0"/>
                </a:ext>
              </a:extLst>
            </a:blip>
            <a:srcRect t="34118" r="97524" b="34770"/>
            <a:stretch>
              <a:fillRect/>
            </a:stretch>
          </p:blipFill>
          <p:spPr>
            <a:xfrm>
              <a:off x="3969679" y="2920518"/>
              <a:ext cx="318542" cy="2701251"/>
            </a:xfrm>
            <a:prstGeom prst="rect">
              <a:avLst/>
            </a:prstGeom>
          </p:spPr>
        </p:pic>
      </p:grpSp>
      <p:grpSp>
        <p:nvGrpSpPr>
          <p:cNvPr id="9" name="Group 8">
            <a:extLst>
              <a:ext uri="{FF2B5EF4-FFF2-40B4-BE49-F238E27FC236}">
                <a16:creationId xmlns:a16="http://schemas.microsoft.com/office/drawing/2014/main" id="{3A7AA99A-30CA-6EB5-CD11-E62A0866A4F2}"/>
              </a:ext>
            </a:extLst>
          </p:cNvPr>
          <p:cNvGrpSpPr/>
          <p:nvPr/>
        </p:nvGrpSpPr>
        <p:grpSpPr>
          <a:xfrm>
            <a:off x="8137083" y="2517646"/>
            <a:ext cx="3747295" cy="3506994"/>
            <a:chOff x="8137083" y="2517646"/>
            <a:chExt cx="3747295" cy="3506994"/>
          </a:xfrm>
        </p:grpSpPr>
        <p:pic>
          <p:nvPicPr>
            <p:cNvPr id="43" name="Content Placeholder 15">
              <a:extLst>
                <a:ext uri="{FF2B5EF4-FFF2-40B4-BE49-F238E27FC236}">
                  <a16:creationId xmlns:a16="http://schemas.microsoft.com/office/drawing/2014/main" id="{FDF5DBC0-A2D6-4E8F-03CB-37A7B31C7F47}"/>
                </a:ext>
              </a:extLst>
            </p:cNvPr>
            <p:cNvPicPr>
              <a:picLocks noChangeAspect="1"/>
            </p:cNvPicPr>
            <p:nvPr/>
          </p:nvPicPr>
          <p:blipFill>
            <a:blip r:embed="rId5">
              <a:extLst>
                <a:ext uri="{28A0092B-C50C-407E-A947-70E740481C1C}">
                  <a14:useLocalDpi xmlns:a14="http://schemas.microsoft.com/office/drawing/2010/main" val="0"/>
                </a:ext>
              </a:extLst>
            </a:blip>
            <a:srcRect l="80502" t="198" r="338" b="80750"/>
            <a:stretch>
              <a:fillRect/>
            </a:stretch>
          </p:blipFill>
          <p:spPr>
            <a:xfrm>
              <a:off x="8442708" y="2735681"/>
              <a:ext cx="3416270" cy="2675383"/>
            </a:xfrm>
            <a:prstGeom prst="rect">
              <a:avLst/>
            </a:prstGeom>
          </p:spPr>
        </p:pic>
        <p:pic>
          <p:nvPicPr>
            <p:cNvPr id="44" name="Content Placeholder 15">
              <a:extLst>
                <a:ext uri="{FF2B5EF4-FFF2-40B4-BE49-F238E27FC236}">
                  <a16:creationId xmlns:a16="http://schemas.microsoft.com/office/drawing/2014/main" id="{4AA5D260-7B63-2C90-E697-09AC4869F06E}"/>
                </a:ext>
              </a:extLst>
            </p:cNvPr>
            <p:cNvPicPr>
              <a:picLocks noChangeAspect="1"/>
            </p:cNvPicPr>
            <p:nvPr/>
          </p:nvPicPr>
          <p:blipFill>
            <a:blip r:embed="rId5">
              <a:extLst>
                <a:ext uri="{28A0092B-C50C-407E-A947-70E740481C1C}">
                  <a14:useLocalDpi xmlns:a14="http://schemas.microsoft.com/office/drawing/2010/main" val="0"/>
                </a:ext>
              </a:extLst>
            </a:blip>
            <a:srcRect l="5041" t="94623" r="78278" b="3073"/>
            <a:stretch>
              <a:fillRect/>
            </a:stretch>
          </p:blipFill>
          <p:spPr>
            <a:xfrm>
              <a:off x="8910161" y="5392014"/>
              <a:ext cx="2974217" cy="323634"/>
            </a:xfrm>
            <a:prstGeom prst="rect">
              <a:avLst/>
            </a:prstGeom>
          </p:spPr>
        </p:pic>
        <p:pic>
          <p:nvPicPr>
            <p:cNvPr id="47" name="Content Placeholder 15">
              <a:extLst>
                <a:ext uri="{FF2B5EF4-FFF2-40B4-BE49-F238E27FC236}">
                  <a16:creationId xmlns:a16="http://schemas.microsoft.com/office/drawing/2014/main" id="{7A79FF59-43C9-BB41-4E27-5D7613065F4F}"/>
                </a:ext>
              </a:extLst>
            </p:cNvPr>
            <p:cNvPicPr>
              <a:picLocks noChangeAspect="1"/>
            </p:cNvPicPr>
            <p:nvPr/>
          </p:nvPicPr>
          <p:blipFill>
            <a:blip r:embed="rId5">
              <a:extLst>
                <a:ext uri="{28A0092B-C50C-407E-A947-70E740481C1C}">
                  <a14:useLocalDpi xmlns:a14="http://schemas.microsoft.com/office/drawing/2010/main" val="0"/>
                </a:ext>
              </a:extLst>
            </a:blip>
            <a:srcRect l="-85" t="27939" r="97448" b="29416"/>
            <a:stretch>
              <a:fillRect/>
            </a:stretch>
          </p:blipFill>
          <p:spPr>
            <a:xfrm>
              <a:off x="8137083" y="2517646"/>
              <a:ext cx="327460" cy="3506994"/>
            </a:xfrm>
            <a:prstGeom prst="rect">
              <a:avLst/>
            </a:prstGeom>
          </p:spPr>
        </p:pic>
      </p:grpSp>
      <p:pic>
        <p:nvPicPr>
          <p:cNvPr id="13" name="Content Placeholder 7">
            <a:extLst>
              <a:ext uri="{FF2B5EF4-FFF2-40B4-BE49-F238E27FC236}">
                <a16:creationId xmlns:a16="http://schemas.microsoft.com/office/drawing/2014/main" id="{C992CD4A-3AE4-00A4-D1EB-97F4CEA4A238}"/>
              </a:ext>
            </a:extLst>
          </p:cNvPr>
          <p:cNvPicPr>
            <a:picLocks noChangeAspect="1"/>
          </p:cNvPicPr>
          <p:nvPr/>
        </p:nvPicPr>
        <p:blipFill>
          <a:blip r:embed="rId3">
            <a:extLst>
              <a:ext uri="{28A0092B-C50C-407E-A947-70E740481C1C}">
                <a14:useLocalDpi xmlns:a14="http://schemas.microsoft.com/office/drawing/2010/main" val="0"/>
              </a:ext>
            </a:extLst>
          </a:blip>
          <a:srcRect l="1527" t="157" r="96052" b="80479"/>
          <a:stretch>
            <a:fillRect/>
          </a:stretch>
        </p:blipFill>
        <p:spPr>
          <a:xfrm>
            <a:off x="363132" y="2803931"/>
            <a:ext cx="489022" cy="2581857"/>
          </a:xfrm>
          <a:prstGeom prst="rect">
            <a:avLst/>
          </a:prstGeom>
        </p:spPr>
      </p:pic>
      <p:pic>
        <p:nvPicPr>
          <p:cNvPr id="15" name="Content Placeholder 7">
            <a:extLst>
              <a:ext uri="{FF2B5EF4-FFF2-40B4-BE49-F238E27FC236}">
                <a16:creationId xmlns:a16="http://schemas.microsoft.com/office/drawing/2014/main" id="{65877C02-7A2D-A999-0CBE-E04D1F99CFC4}"/>
              </a:ext>
            </a:extLst>
          </p:cNvPr>
          <p:cNvPicPr>
            <a:picLocks noChangeAspect="1"/>
          </p:cNvPicPr>
          <p:nvPr/>
        </p:nvPicPr>
        <p:blipFill>
          <a:blip r:embed="rId3">
            <a:extLst>
              <a:ext uri="{28A0092B-C50C-407E-A947-70E740481C1C}">
                <a14:useLocalDpi xmlns:a14="http://schemas.microsoft.com/office/drawing/2010/main" val="0"/>
              </a:ext>
            </a:extLst>
          </a:blip>
          <a:srcRect l="81482" t="40110" r="1068" b="40966"/>
          <a:stretch>
            <a:fillRect/>
          </a:stretch>
        </p:blipFill>
        <p:spPr>
          <a:xfrm>
            <a:off x="77272" y="1627300"/>
            <a:ext cx="2135750" cy="1545963"/>
          </a:xfrm>
          <a:prstGeom prst="rect">
            <a:avLst/>
          </a:prstGeom>
        </p:spPr>
      </p:pic>
      <p:pic>
        <p:nvPicPr>
          <p:cNvPr id="16" name="Content Placeholder 7">
            <a:extLst>
              <a:ext uri="{FF2B5EF4-FFF2-40B4-BE49-F238E27FC236}">
                <a16:creationId xmlns:a16="http://schemas.microsoft.com/office/drawing/2014/main" id="{13CC2665-E4C0-9F71-62C1-DB346CF4E7D9}"/>
              </a:ext>
            </a:extLst>
          </p:cNvPr>
          <p:cNvPicPr>
            <a:picLocks noChangeAspect="1"/>
          </p:cNvPicPr>
          <p:nvPr/>
        </p:nvPicPr>
        <p:blipFill>
          <a:blip r:embed="rId3">
            <a:extLst>
              <a:ext uri="{28A0092B-C50C-407E-A947-70E740481C1C}">
                <a14:useLocalDpi xmlns:a14="http://schemas.microsoft.com/office/drawing/2010/main" val="0"/>
              </a:ext>
            </a:extLst>
          </a:blip>
          <a:srcRect l="65242" t="170" r="19531" b="80466"/>
          <a:stretch>
            <a:fillRect/>
          </a:stretch>
        </p:blipFill>
        <p:spPr>
          <a:xfrm>
            <a:off x="759998" y="2826644"/>
            <a:ext cx="3075670" cy="2581857"/>
          </a:xfrm>
          <a:prstGeom prst="rect">
            <a:avLst/>
          </a:prstGeom>
        </p:spPr>
      </p:pic>
      <p:pic>
        <p:nvPicPr>
          <p:cNvPr id="17" name="Content Placeholder 7">
            <a:extLst>
              <a:ext uri="{FF2B5EF4-FFF2-40B4-BE49-F238E27FC236}">
                <a16:creationId xmlns:a16="http://schemas.microsoft.com/office/drawing/2014/main" id="{24C5F617-8FDB-90A3-6D97-CEFE55120829}"/>
              </a:ext>
            </a:extLst>
          </p:cNvPr>
          <p:cNvPicPr>
            <a:picLocks noChangeAspect="1"/>
          </p:cNvPicPr>
          <p:nvPr/>
        </p:nvPicPr>
        <p:blipFill>
          <a:blip r:embed="rId3">
            <a:extLst>
              <a:ext uri="{28A0092B-C50C-407E-A947-70E740481C1C}">
                <a14:useLocalDpi xmlns:a14="http://schemas.microsoft.com/office/drawing/2010/main" val="0"/>
              </a:ext>
            </a:extLst>
          </a:blip>
          <a:srcRect t="40174" r="97857" b="40660"/>
          <a:stretch>
            <a:fillRect/>
          </a:stretch>
        </p:blipFill>
        <p:spPr>
          <a:xfrm>
            <a:off x="77272" y="3533275"/>
            <a:ext cx="294062" cy="1735926"/>
          </a:xfrm>
          <a:prstGeom prst="rect">
            <a:avLst/>
          </a:prstGeom>
        </p:spPr>
      </p:pic>
      <p:pic>
        <p:nvPicPr>
          <p:cNvPr id="18" name="Content Placeholder 7">
            <a:extLst>
              <a:ext uri="{FF2B5EF4-FFF2-40B4-BE49-F238E27FC236}">
                <a16:creationId xmlns:a16="http://schemas.microsoft.com/office/drawing/2014/main" id="{1AA145AC-1968-D740-A4D2-A0ACDBF29738}"/>
              </a:ext>
            </a:extLst>
          </p:cNvPr>
          <p:cNvPicPr>
            <a:picLocks noChangeAspect="1"/>
          </p:cNvPicPr>
          <p:nvPr/>
        </p:nvPicPr>
        <p:blipFill>
          <a:blip r:embed="rId3">
            <a:extLst>
              <a:ext uri="{28A0092B-C50C-407E-A947-70E740481C1C}">
                <a14:useLocalDpi xmlns:a14="http://schemas.microsoft.com/office/drawing/2010/main" val="0"/>
              </a:ext>
            </a:extLst>
          </a:blip>
          <a:srcRect l="1804" t="94417" r="80883" b="3117"/>
          <a:stretch>
            <a:fillRect/>
          </a:stretch>
        </p:blipFill>
        <p:spPr>
          <a:xfrm>
            <a:off x="409628" y="5248568"/>
            <a:ext cx="3496801" cy="328751"/>
          </a:xfrm>
          <a:prstGeom prst="rect">
            <a:avLst/>
          </a:prstGeom>
        </p:spPr>
      </p:pic>
    </p:spTree>
    <p:extLst>
      <p:ext uri="{BB962C8B-B14F-4D97-AF65-F5344CB8AC3E}">
        <p14:creationId xmlns:p14="http://schemas.microsoft.com/office/powerpoint/2010/main" val="1825651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A1FF7-206D-5910-E2EA-B0BF6772FC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6F797-3CB6-9A8A-6EF7-869E522AACE4}"/>
              </a:ext>
            </a:extLst>
          </p:cNvPr>
          <p:cNvSpPr>
            <a:spLocks noGrp="1"/>
          </p:cNvSpPr>
          <p:nvPr>
            <p:ph type="title"/>
          </p:nvPr>
        </p:nvSpPr>
        <p:spPr>
          <a:xfrm>
            <a:off x="827946" y="519426"/>
            <a:ext cx="10515600" cy="1325563"/>
          </a:xfrm>
        </p:spPr>
        <p:txBody>
          <a:bodyPr>
            <a:normAutofit/>
          </a:bodyPr>
          <a:lstStyle/>
          <a:p>
            <a:pPr algn="ctr"/>
            <a:r>
              <a:rPr lang="en-US" sz="4000" i="1" dirty="0"/>
              <a:t>S. leucopsarus </a:t>
            </a:r>
            <a:r>
              <a:rPr lang="en-US" sz="4000" dirty="0"/>
              <a:t>– most abundant at deepest depths at night AND shallowest depths during the day</a:t>
            </a:r>
          </a:p>
        </p:txBody>
      </p:sp>
      <p:sp>
        <p:nvSpPr>
          <p:cNvPr id="14" name="Content Placeholder 5">
            <a:extLst>
              <a:ext uri="{FF2B5EF4-FFF2-40B4-BE49-F238E27FC236}">
                <a16:creationId xmlns:a16="http://schemas.microsoft.com/office/drawing/2014/main" id="{ABAB50FB-43DF-DB40-CDEC-508B86F680AE}"/>
              </a:ext>
            </a:extLst>
          </p:cNvPr>
          <p:cNvSpPr txBox="1">
            <a:spLocks/>
          </p:cNvSpPr>
          <p:nvPr/>
        </p:nvSpPr>
        <p:spPr>
          <a:xfrm>
            <a:off x="7939118" y="2707870"/>
            <a:ext cx="3642951" cy="34389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p>
        </p:txBody>
      </p:sp>
      <p:pic>
        <p:nvPicPr>
          <p:cNvPr id="22" name="Content Placeholder 7">
            <a:extLst>
              <a:ext uri="{FF2B5EF4-FFF2-40B4-BE49-F238E27FC236}">
                <a16:creationId xmlns:a16="http://schemas.microsoft.com/office/drawing/2014/main" id="{0EA7A00B-7363-D9FD-B4B6-6BD4E5B265E3}"/>
              </a:ext>
            </a:extLst>
          </p:cNvPr>
          <p:cNvPicPr>
            <a:picLocks noChangeAspect="1"/>
          </p:cNvPicPr>
          <p:nvPr/>
        </p:nvPicPr>
        <p:blipFill>
          <a:blip r:embed="rId3">
            <a:extLst>
              <a:ext uri="{28A0092B-C50C-407E-A947-70E740481C1C}">
                <a14:useLocalDpi xmlns:a14="http://schemas.microsoft.com/office/drawing/2010/main" val="0"/>
              </a:ext>
            </a:extLst>
          </a:blip>
          <a:srcRect l="37785" t="96370" r="54041"/>
          <a:stretch>
            <a:fillRect/>
          </a:stretch>
        </p:blipFill>
        <p:spPr>
          <a:xfrm>
            <a:off x="4873197" y="6130360"/>
            <a:ext cx="2445605" cy="725029"/>
          </a:xfrm>
          <a:prstGeom prst="rect">
            <a:avLst/>
          </a:prstGeom>
        </p:spPr>
      </p:pic>
      <p:grpSp>
        <p:nvGrpSpPr>
          <p:cNvPr id="7" name="Group 6">
            <a:extLst>
              <a:ext uri="{FF2B5EF4-FFF2-40B4-BE49-F238E27FC236}">
                <a16:creationId xmlns:a16="http://schemas.microsoft.com/office/drawing/2014/main" id="{C696534B-CEA1-D35C-33FC-63CF1489FF88}"/>
              </a:ext>
            </a:extLst>
          </p:cNvPr>
          <p:cNvGrpSpPr/>
          <p:nvPr/>
        </p:nvGrpSpPr>
        <p:grpSpPr>
          <a:xfrm>
            <a:off x="3969679" y="2788392"/>
            <a:ext cx="4012641" cy="2833377"/>
            <a:chOff x="3969679" y="2788392"/>
            <a:chExt cx="4012641" cy="2833377"/>
          </a:xfrm>
        </p:grpSpPr>
        <p:pic>
          <p:nvPicPr>
            <p:cNvPr id="35" name="Content Placeholder 11">
              <a:extLst>
                <a:ext uri="{FF2B5EF4-FFF2-40B4-BE49-F238E27FC236}">
                  <a16:creationId xmlns:a16="http://schemas.microsoft.com/office/drawing/2014/main" id="{85E3EB52-1EC1-CE55-3E6E-BAE7E0A6A31B}"/>
                </a:ext>
              </a:extLst>
            </p:cNvPr>
            <p:cNvPicPr>
              <a:picLocks noChangeAspect="1"/>
            </p:cNvPicPr>
            <p:nvPr/>
          </p:nvPicPr>
          <p:blipFill>
            <a:blip r:embed="rId4">
              <a:extLst>
                <a:ext uri="{28A0092B-C50C-407E-A947-70E740481C1C}">
                  <a14:useLocalDpi xmlns:a14="http://schemas.microsoft.com/office/drawing/2010/main" val="0"/>
                </a:ext>
              </a:extLst>
            </a:blip>
            <a:srcRect l="22447" t="76477" r="57895" b="2785"/>
            <a:stretch>
              <a:fillRect/>
            </a:stretch>
          </p:blipFill>
          <p:spPr>
            <a:xfrm>
              <a:off x="4189173" y="2788392"/>
              <a:ext cx="3793147" cy="2701251"/>
            </a:xfrm>
            <a:prstGeom prst="rect">
              <a:avLst/>
            </a:prstGeom>
          </p:spPr>
        </p:pic>
        <p:pic>
          <p:nvPicPr>
            <p:cNvPr id="40" name="Content Placeholder 11">
              <a:extLst>
                <a:ext uri="{FF2B5EF4-FFF2-40B4-BE49-F238E27FC236}">
                  <a16:creationId xmlns:a16="http://schemas.microsoft.com/office/drawing/2014/main" id="{2AC621C9-1458-AE89-F5B9-7A343C95152D}"/>
                </a:ext>
              </a:extLst>
            </p:cNvPr>
            <p:cNvPicPr>
              <a:picLocks noChangeAspect="1"/>
            </p:cNvPicPr>
            <p:nvPr/>
          </p:nvPicPr>
          <p:blipFill>
            <a:blip r:embed="rId4">
              <a:extLst>
                <a:ext uri="{28A0092B-C50C-407E-A947-70E740481C1C}">
                  <a14:useLocalDpi xmlns:a14="http://schemas.microsoft.com/office/drawing/2010/main" val="0"/>
                </a:ext>
              </a:extLst>
            </a:blip>
            <a:srcRect t="34118" r="97524" b="34770"/>
            <a:stretch>
              <a:fillRect/>
            </a:stretch>
          </p:blipFill>
          <p:spPr>
            <a:xfrm>
              <a:off x="3969679" y="2920518"/>
              <a:ext cx="318542" cy="2701251"/>
            </a:xfrm>
            <a:prstGeom prst="rect">
              <a:avLst/>
            </a:prstGeom>
          </p:spPr>
        </p:pic>
      </p:grpSp>
      <p:grpSp>
        <p:nvGrpSpPr>
          <p:cNvPr id="10" name="Group 9">
            <a:extLst>
              <a:ext uri="{FF2B5EF4-FFF2-40B4-BE49-F238E27FC236}">
                <a16:creationId xmlns:a16="http://schemas.microsoft.com/office/drawing/2014/main" id="{276BAB15-F78B-1DDB-8B38-4B401D3961DC}"/>
              </a:ext>
            </a:extLst>
          </p:cNvPr>
          <p:cNvGrpSpPr/>
          <p:nvPr/>
        </p:nvGrpSpPr>
        <p:grpSpPr>
          <a:xfrm>
            <a:off x="8137083" y="2517646"/>
            <a:ext cx="3721895" cy="3506994"/>
            <a:chOff x="8137083" y="2517646"/>
            <a:chExt cx="3721895" cy="3506994"/>
          </a:xfrm>
        </p:grpSpPr>
        <p:pic>
          <p:nvPicPr>
            <p:cNvPr id="43" name="Content Placeholder 15">
              <a:extLst>
                <a:ext uri="{FF2B5EF4-FFF2-40B4-BE49-F238E27FC236}">
                  <a16:creationId xmlns:a16="http://schemas.microsoft.com/office/drawing/2014/main" id="{1DF59FAF-5FEE-B57D-3325-F5D05A20D9EF}"/>
                </a:ext>
              </a:extLst>
            </p:cNvPr>
            <p:cNvPicPr>
              <a:picLocks noChangeAspect="1"/>
            </p:cNvPicPr>
            <p:nvPr/>
          </p:nvPicPr>
          <p:blipFill>
            <a:blip r:embed="rId5">
              <a:extLst>
                <a:ext uri="{28A0092B-C50C-407E-A947-70E740481C1C}">
                  <a14:useLocalDpi xmlns:a14="http://schemas.microsoft.com/office/drawing/2010/main" val="0"/>
                </a:ext>
              </a:extLst>
            </a:blip>
            <a:srcRect l="21679" t="76503" r="59161" b="2945"/>
            <a:stretch>
              <a:fillRect/>
            </a:stretch>
          </p:blipFill>
          <p:spPr>
            <a:xfrm>
              <a:off x="8442708" y="2735681"/>
              <a:ext cx="3416270" cy="2886088"/>
            </a:xfrm>
            <a:prstGeom prst="rect">
              <a:avLst/>
            </a:prstGeom>
          </p:spPr>
        </p:pic>
        <p:pic>
          <p:nvPicPr>
            <p:cNvPr id="47" name="Content Placeholder 15">
              <a:extLst>
                <a:ext uri="{FF2B5EF4-FFF2-40B4-BE49-F238E27FC236}">
                  <a16:creationId xmlns:a16="http://schemas.microsoft.com/office/drawing/2014/main" id="{106AFA60-DA8F-EB1D-8014-CA09B75D1814}"/>
                </a:ext>
              </a:extLst>
            </p:cNvPr>
            <p:cNvPicPr>
              <a:picLocks noChangeAspect="1"/>
            </p:cNvPicPr>
            <p:nvPr/>
          </p:nvPicPr>
          <p:blipFill>
            <a:blip r:embed="rId5">
              <a:extLst>
                <a:ext uri="{28A0092B-C50C-407E-A947-70E740481C1C}">
                  <a14:useLocalDpi xmlns:a14="http://schemas.microsoft.com/office/drawing/2010/main" val="0"/>
                </a:ext>
              </a:extLst>
            </a:blip>
            <a:srcRect l="-85" t="27939" r="97448" b="29416"/>
            <a:stretch>
              <a:fillRect/>
            </a:stretch>
          </p:blipFill>
          <p:spPr>
            <a:xfrm>
              <a:off x="8137083" y="2517646"/>
              <a:ext cx="327460" cy="3506994"/>
            </a:xfrm>
            <a:prstGeom prst="rect">
              <a:avLst/>
            </a:prstGeom>
          </p:spPr>
        </p:pic>
      </p:grpSp>
      <p:pic>
        <p:nvPicPr>
          <p:cNvPr id="4" name="Content Placeholder 7">
            <a:extLst>
              <a:ext uri="{FF2B5EF4-FFF2-40B4-BE49-F238E27FC236}">
                <a16:creationId xmlns:a16="http://schemas.microsoft.com/office/drawing/2014/main" id="{2A7868B5-C7CC-2198-2070-6C8F5EB5A2F5}"/>
              </a:ext>
            </a:extLst>
          </p:cNvPr>
          <p:cNvPicPr>
            <a:picLocks noChangeAspect="1"/>
          </p:cNvPicPr>
          <p:nvPr/>
        </p:nvPicPr>
        <p:blipFill>
          <a:blip r:embed="rId3">
            <a:extLst>
              <a:ext uri="{28A0092B-C50C-407E-A947-70E740481C1C}">
                <a14:useLocalDpi xmlns:a14="http://schemas.microsoft.com/office/drawing/2010/main" val="0"/>
              </a:ext>
            </a:extLst>
          </a:blip>
          <a:srcRect l="1527" t="157" r="96052" b="80479"/>
          <a:stretch>
            <a:fillRect/>
          </a:stretch>
        </p:blipFill>
        <p:spPr>
          <a:xfrm>
            <a:off x="363132" y="2803931"/>
            <a:ext cx="489022" cy="2581857"/>
          </a:xfrm>
          <a:prstGeom prst="rect">
            <a:avLst/>
          </a:prstGeom>
        </p:spPr>
      </p:pic>
      <p:pic>
        <p:nvPicPr>
          <p:cNvPr id="32" name="Content Placeholder 7">
            <a:extLst>
              <a:ext uri="{FF2B5EF4-FFF2-40B4-BE49-F238E27FC236}">
                <a16:creationId xmlns:a16="http://schemas.microsoft.com/office/drawing/2014/main" id="{4569996E-C105-7642-3257-142361B86890}"/>
              </a:ext>
            </a:extLst>
          </p:cNvPr>
          <p:cNvPicPr>
            <a:picLocks noChangeAspect="1"/>
          </p:cNvPicPr>
          <p:nvPr/>
        </p:nvPicPr>
        <p:blipFill>
          <a:blip r:embed="rId3">
            <a:extLst>
              <a:ext uri="{28A0092B-C50C-407E-A947-70E740481C1C}">
                <a14:useLocalDpi xmlns:a14="http://schemas.microsoft.com/office/drawing/2010/main" val="0"/>
              </a:ext>
            </a:extLst>
          </a:blip>
          <a:srcRect l="81482" t="40110" r="1068" b="40966"/>
          <a:stretch>
            <a:fillRect/>
          </a:stretch>
        </p:blipFill>
        <p:spPr>
          <a:xfrm>
            <a:off x="77272" y="1627300"/>
            <a:ext cx="2135750" cy="1545963"/>
          </a:xfrm>
          <a:prstGeom prst="rect">
            <a:avLst/>
          </a:prstGeom>
        </p:spPr>
      </p:pic>
      <p:pic>
        <p:nvPicPr>
          <p:cNvPr id="20" name="Content Placeholder 7">
            <a:extLst>
              <a:ext uri="{FF2B5EF4-FFF2-40B4-BE49-F238E27FC236}">
                <a16:creationId xmlns:a16="http://schemas.microsoft.com/office/drawing/2014/main" id="{5C5EF605-9DB9-5F1C-AD4E-9EA50A24545C}"/>
              </a:ext>
            </a:extLst>
          </p:cNvPr>
          <p:cNvPicPr>
            <a:picLocks noChangeAspect="1"/>
          </p:cNvPicPr>
          <p:nvPr/>
        </p:nvPicPr>
        <p:blipFill>
          <a:blip r:embed="rId3">
            <a:extLst>
              <a:ext uri="{28A0092B-C50C-407E-A947-70E740481C1C}">
                <a14:useLocalDpi xmlns:a14="http://schemas.microsoft.com/office/drawing/2010/main" val="0"/>
              </a:ext>
            </a:extLst>
          </a:blip>
          <a:srcRect l="18734" t="76377" r="66039" b="2641"/>
          <a:stretch>
            <a:fillRect/>
          </a:stretch>
        </p:blipFill>
        <p:spPr>
          <a:xfrm>
            <a:off x="740656" y="2824095"/>
            <a:ext cx="3075670" cy="2797674"/>
          </a:xfrm>
          <a:prstGeom prst="rect">
            <a:avLst/>
          </a:prstGeom>
        </p:spPr>
      </p:pic>
      <p:pic>
        <p:nvPicPr>
          <p:cNvPr id="24" name="Content Placeholder 7">
            <a:extLst>
              <a:ext uri="{FF2B5EF4-FFF2-40B4-BE49-F238E27FC236}">
                <a16:creationId xmlns:a16="http://schemas.microsoft.com/office/drawing/2014/main" id="{D6E184C8-A957-89F2-A809-833D053A5ADF}"/>
              </a:ext>
            </a:extLst>
          </p:cNvPr>
          <p:cNvPicPr>
            <a:picLocks noChangeAspect="1"/>
          </p:cNvPicPr>
          <p:nvPr/>
        </p:nvPicPr>
        <p:blipFill>
          <a:blip r:embed="rId3">
            <a:extLst>
              <a:ext uri="{28A0092B-C50C-407E-A947-70E740481C1C}">
                <a14:useLocalDpi xmlns:a14="http://schemas.microsoft.com/office/drawing/2010/main" val="0"/>
              </a:ext>
            </a:extLst>
          </a:blip>
          <a:srcRect t="40174" r="97857" b="40660"/>
          <a:stretch>
            <a:fillRect/>
          </a:stretch>
        </p:blipFill>
        <p:spPr>
          <a:xfrm>
            <a:off x="77272" y="3533275"/>
            <a:ext cx="294062" cy="1735926"/>
          </a:xfrm>
          <a:prstGeom prst="rect">
            <a:avLst/>
          </a:prstGeom>
        </p:spPr>
      </p:pic>
    </p:spTree>
    <p:extLst>
      <p:ext uri="{BB962C8B-B14F-4D97-AF65-F5344CB8AC3E}">
        <p14:creationId xmlns:p14="http://schemas.microsoft.com/office/powerpoint/2010/main" val="2783949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B3A85-FF15-2E24-EA6C-ADE5E4905FFA}"/>
              </a:ext>
            </a:extLst>
          </p:cNvPr>
          <p:cNvSpPr>
            <a:spLocks noGrp="1"/>
          </p:cNvSpPr>
          <p:nvPr>
            <p:ph type="title"/>
          </p:nvPr>
        </p:nvSpPr>
        <p:spPr/>
        <p:txBody>
          <a:bodyPr>
            <a:normAutofit/>
          </a:bodyPr>
          <a:lstStyle/>
          <a:p>
            <a:r>
              <a:rPr lang="en-US" sz="4000" dirty="0"/>
              <a:t>Conclusions</a:t>
            </a:r>
          </a:p>
        </p:txBody>
      </p:sp>
      <p:sp>
        <p:nvSpPr>
          <p:cNvPr id="3" name="Content Placeholder 2">
            <a:extLst>
              <a:ext uri="{FF2B5EF4-FFF2-40B4-BE49-F238E27FC236}">
                <a16:creationId xmlns:a16="http://schemas.microsoft.com/office/drawing/2014/main" id="{83096D75-D04D-1D5E-BAB4-CA4D9F65201A}"/>
              </a:ext>
            </a:extLst>
          </p:cNvPr>
          <p:cNvSpPr>
            <a:spLocks noGrp="1"/>
          </p:cNvSpPr>
          <p:nvPr>
            <p:ph idx="1"/>
          </p:nvPr>
        </p:nvSpPr>
        <p:spPr/>
        <p:txBody>
          <a:bodyPr>
            <a:normAutofit/>
          </a:bodyPr>
          <a:lstStyle/>
          <a:p>
            <a:r>
              <a:rPr lang="en-US" dirty="0"/>
              <a:t>The NCC LFA clusters into ecologically distinct assemblages during winter</a:t>
            </a:r>
          </a:p>
          <a:p>
            <a:pPr lvl="1"/>
            <a:r>
              <a:rPr lang="en-US" sz="2500" dirty="0"/>
              <a:t>Distributed according to adult habitat affinities </a:t>
            </a:r>
            <a:r>
              <a:rPr lang="en-US" sz="1600" dirty="0"/>
              <a:t>(Doyle et al., 2002)</a:t>
            </a:r>
            <a:endParaRPr lang="en-US" sz="2000" dirty="0"/>
          </a:p>
          <a:p>
            <a:r>
              <a:rPr lang="en-US" dirty="0"/>
              <a:t>Winter ichthyoplankton assemblages are significantly influenced by spatiotemporal (3.72%) and environmental (1.92%) factors.</a:t>
            </a:r>
          </a:p>
          <a:p>
            <a:pPr lvl="1"/>
            <a:r>
              <a:rPr lang="en-US" sz="2500" dirty="0"/>
              <a:t>Depth</a:t>
            </a:r>
            <a:r>
              <a:rPr lang="en-US" dirty="0"/>
              <a:t> </a:t>
            </a:r>
            <a:r>
              <a:rPr lang="en-US" sz="1600" dirty="0"/>
              <a:t>(Thompson et al., 2014; Rodriguez et al., 2015)</a:t>
            </a:r>
          </a:p>
          <a:p>
            <a:pPr lvl="1"/>
            <a:r>
              <a:rPr lang="en-US" sz="2500" dirty="0"/>
              <a:t>Shelf-slope break </a:t>
            </a:r>
            <a:r>
              <a:rPr lang="en-US" sz="1600" dirty="0"/>
              <a:t>(Doyle et al., 2002; Auth, 2011)</a:t>
            </a:r>
          </a:p>
          <a:p>
            <a:pPr lvl="1"/>
            <a:r>
              <a:rPr lang="en-US" sz="2500" dirty="0"/>
              <a:t>Temperature and DO </a:t>
            </a:r>
            <a:r>
              <a:rPr lang="en-US" sz="1600" dirty="0"/>
              <a:t>(Auth, 2011; Thompson et al., 2014; Chen et al., 2025)</a:t>
            </a:r>
          </a:p>
          <a:p>
            <a:pPr lvl="1"/>
            <a:r>
              <a:rPr lang="en-US" sz="2500" dirty="0"/>
              <a:t>Time of day</a:t>
            </a:r>
            <a:endParaRPr lang="en-US" dirty="0"/>
          </a:p>
          <a:p>
            <a:pPr lvl="1"/>
            <a:endParaRPr lang="en-US" dirty="0"/>
          </a:p>
        </p:txBody>
      </p:sp>
    </p:spTree>
    <p:extLst>
      <p:ext uri="{BB962C8B-B14F-4D97-AF65-F5344CB8AC3E}">
        <p14:creationId xmlns:p14="http://schemas.microsoft.com/office/powerpoint/2010/main" val="3961457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72FA1-2133-5658-44E5-1B2676195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9B80D-97BA-366D-6087-ADA04EA737B7}"/>
              </a:ext>
            </a:extLst>
          </p:cNvPr>
          <p:cNvSpPr>
            <a:spLocks noGrp="1"/>
          </p:cNvSpPr>
          <p:nvPr>
            <p:ph type="title"/>
          </p:nvPr>
        </p:nvSpPr>
        <p:spPr/>
        <p:txBody>
          <a:bodyPr>
            <a:normAutofit/>
          </a:bodyPr>
          <a:lstStyle/>
          <a:p>
            <a:r>
              <a:rPr lang="en-US" sz="4000" dirty="0"/>
              <a:t>Conclusions (continued)</a:t>
            </a:r>
          </a:p>
        </p:txBody>
      </p:sp>
      <p:sp>
        <p:nvSpPr>
          <p:cNvPr id="3" name="Content Placeholder 2">
            <a:extLst>
              <a:ext uri="{FF2B5EF4-FFF2-40B4-BE49-F238E27FC236}">
                <a16:creationId xmlns:a16="http://schemas.microsoft.com/office/drawing/2014/main" id="{B99AE6ED-9701-79F4-3025-927EC8F0DEEB}"/>
              </a:ext>
            </a:extLst>
          </p:cNvPr>
          <p:cNvSpPr>
            <a:spLocks noGrp="1"/>
          </p:cNvSpPr>
          <p:nvPr>
            <p:ph idx="1"/>
          </p:nvPr>
        </p:nvSpPr>
        <p:spPr/>
        <p:txBody>
          <a:bodyPr>
            <a:normAutofit/>
          </a:bodyPr>
          <a:lstStyle/>
          <a:p>
            <a:r>
              <a:rPr lang="en-US" dirty="0"/>
              <a:t>Some taxa exhibited a distribution opposite of expected DVM—shallow during day and deep at night</a:t>
            </a:r>
          </a:p>
          <a:p>
            <a:pPr lvl="1"/>
            <a:r>
              <a:rPr lang="en-US" sz="2500" dirty="0"/>
              <a:t>Previously observed, coined type-II DVM </a:t>
            </a:r>
            <a:r>
              <a:rPr lang="en-US" sz="1600" dirty="0"/>
              <a:t>(Auth et al., 2007)</a:t>
            </a:r>
          </a:p>
          <a:p>
            <a:r>
              <a:rPr lang="en-US" dirty="0"/>
              <a:t>Several taxa exhibited only part of the DVM cycle—abundant near surface at night but absent during the day</a:t>
            </a:r>
          </a:p>
          <a:p>
            <a:pPr lvl="1"/>
            <a:r>
              <a:rPr lang="en-US" sz="2500" dirty="0"/>
              <a:t>Daytime absence due migration below 100 m? Unlikely. </a:t>
            </a:r>
            <a:r>
              <a:rPr lang="en-US" sz="1600" dirty="0"/>
              <a:t>(Auth et al., 2007; Auth and Brodeur, 2006; Thompson et al., 2014)</a:t>
            </a:r>
          </a:p>
          <a:p>
            <a:pPr>
              <a:tabLst>
                <a:tab pos="5372100" algn="l"/>
              </a:tabLst>
            </a:pPr>
            <a:r>
              <a:rPr lang="en-US" dirty="0"/>
              <a:t>Potential seasonal difference in adaptive advantages of DVM</a:t>
            </a:r>
          </a:p>
        </p:txBody>
      </p:sp>
    </p:spTree>
    <p:extLst>
      <p:ext uri="{BB962C8B-B14F-4D97-AF65-F5344CB8AC3E}">
        <p14:creationId xmlns:p14="http://schemas.microsoft.com/office/powerpoint/2010/main" val="3239764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63843-B822-B606-C332-76F99C18F1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C75D4E-FDDB-5963-434D-B2D2D7A7B75B}"/>
              </a:ext>
            </a:extLst>
          </p:cNvPr>
          <p:cNvSpPr>
            <a:spLocks noGrp="1"/>
          </p:cNvSpPr>
          <p:nvPr>
            <p:ph type="title"/>
          </p:nvPr>
        </p:nvSpPr>
        <p:spPr>
          <a:xfrm>
            <a:off x="838200" y="604837"/>
            <a:ext cx="3740944" cy="938213"/>
          </a:xfrm>
        </p:spPr>
        <p:txBody>
          <a:bodyPr>
            <a:normAutofit/>
          </a:bodyPr>
          <a:lstStyle/>
          <a:p>
            <a:r>
              <a:rPr lang="en-US" sz="3600" dirty="0"/>
              <a:t>Acknowledgments </a:t>
            </a:r>
            <a:endParaRPr lang="en-US" sz="3200" dirty="0"/>
          </a:p>
        </p:txBody>
      </p:sp>
      <p:sp>
        <p:nvSpPr>
          <p:cNvPr id="3" name="Content Placeholder 2">
            <a:extLst>
              <a:ext uri="{FF2B5EF4-FFF2-40B4-BE49-F238E27FC236}">
                <a16:creationId xmlns:a16="http://schemas.microsoft.com/office/drawing/2014/main" id="{7DE28272-3A87-2ABE-16C9-D5AC44A20755}"/>
              </a:ext>
            </a:extLst>
          </p:cNvPr>
          <p:cNvSpPr>
            <a:spLocks noGrp="1"/>
          </p:cNvSpPr>
          <p:nvPr>
            <p:ph idx="1"/>
          </p:nvPr>
        </p:nvSpPr>
        <p:spPr>
          <a:xfrm>
            <a:off x="4457701" y="875506"/>
            <a:ext cx="4405313" cy="1510506"/>
          </a:xfrm>
        </p:spPr>
        <p:txBody>
          <a:bodyPr>
            <a:normAutofit/>
          </a:bodyPr>
          <a:lstStyle/>
          <a:p>
            <a:r>
              <a:rPr lang="en-US" sz="2600" dirty="0"/>
              <a:t>Funding sources?</a:t>
            </a:r>
          </a:p>
          <a:p>
            <a:r>
              <a:rPr lang="en-US" sz="2600" dirty="0"/>
              <a:t>Sampling crews and partners</a:t>
            </a:r>
          </a:p>
          <a:p>
            <a:r>
              <a:rPr lang="en-US" sz="2600" dirty="0"/>
              <a:t>Ship crews</a:t>
            </a:r>
          </a:p>
        </p:txBody>
      </p:sp>
      <p:sp>
        <p:nvSpPr>
          <p:cNvPr id="4" name="Title 1">
            <a:extLst>
              <a:ext uri="{FF2B5EF4-FFF2-40B4-BE49-F238E27FC236}">
                <a16:creationId xmlns:a16="http://schemas.microsoft.com/office/drawing/2014/main" id="{95AEC774-F1DB-7101-A876-0AD6AC6F916B}"/>
              </a:ext>
            </a:extLst>
          </p:cNvPr>
          <p:cNvSpPr txBox="1">
            <a:spLocks/>
          </p:cNvSpPr>
          <p:nvPr/>
        </p:nvSpPr>
        <p:spPr>
          <a:xfrm>
            <a:off x="838200" y="3122610"/>
            <a:ext cx="10515600" cy="9548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dirty="0"/>
              <a:t>Thank you for your attention!</a:t>
            </a:r>
          </a:p>
        </p:txBody>
      </p:sp>
      <p:sp>
        <p:nvSpPr>
          <p:cNvPr id="9" name="TextBox 8">
            <a:extLst>
              <a:ext uri="{FF2B5EF4-FFF2-40B4-BE49-F238E27FC236}">
                <a16:creationId xmlns:a16="http://schemas.microsoft.com/office/drawing/2014/main" id="{7AFCA215-E713-3703-203D-DDA1AADC5184}"/>
              </a:ext>
            </a:extLst>
          </p:cNvPr>
          <p:cNvSpPr txBox="1"/>
          <p:nvPr/>
        </p:nvSpPr>
        <p:spPr>
          <a:xfrm>
            <a:off x="3047405" y="4077491"/>
            <a:ext cx="6097190" cy="769441"/>
          </a:xfrm>
          <a:prstGeom prst="rect">
            <a:avLst/>
          </a:prstGeom>
          <a:noFill/>
        </p:spPr>
        <p:txBody>
          <a:bodyPr wrap="square">
            <a:spAutoFit/>
          </a:bodyPr>
          <a:lstStyle/>
          <a:p>
            <a:pPr algn="ctr"/>
            <a:r>
              <a:rPr lang="en-US" sz="4400" dirty="0">
                <a:solidFill>
                  <a:schemeClr val="accent3"/>
                </a:solidFill>
              </a:rPr>
              <a:t>Questions?</a:t>
            </a:r>
          </a:p>
        </p:txBody>
      </p:sp>
    </p:spTree>
    <p:extLst>
      <p:ext uri="{BB962C8B-B14F-4D97-AF65-F5344CB8AC3E}">
        <p14:creationId xmlns:p14="http://schemas.microsoft.com/office/powerpoint/2010/main" val="40640693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E2660-CCAF-C324-AEDC-DAB568204B99}"/>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85418ED-A63B-953F-40F8-8E5E3218F568}"/>
              </a:ext>
            </a:extLst>
          </p:cNvPr>
          <p:cNvSpPr>
            <a:spLocks noGrp="1"/>
          </p:cNvSpPr>
          <p:nvPr>
            <p:ph idx="1"/>
          </p:nvPr>
        </p:nvSpPr>
        <p:spPr/>
        <p:txBody>
          <a:bodyPr>
            <a:normAutofit/>
          </a:bodyPr>
          <a:lstStyle/>
          <a:p>
            <a:r>
              <a:rPr lang="en-US" sz="2400" dirty="0"/>
              <a:t>Add citations for any papers referenced in the previous slides (or do we include all that were in the paper?)</a:t>
            </a:r>
          </a:p>
        </p:txBody>
      </p:sp>
    </p:spTree>
    <p:extLst>
      <p:ext uri="{BB962C8B-B14F-4D97-AF65-F5344CB8AC3E}">
        <p14:creationId xmlns:p14="http://schemas.microsoft.com/office/powerpoint/2010/main" val="3828347332"/>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Editorial</Template>
  <TotalTime>17900</TotalTime>
  <Words>4032</Words>
  <Application>Microsoft Office PowerPoint</Application>
  <PresentationFormat>Widescreen</PresentationFormat>
  <Paragraphs>335</Paragraphs>
  <Slides>26</Slides>
  <Notes>25</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Arial</vt:lpstr>
      <vt:lpstr>Calibri</vt:lpstr>
      <vt:lpstr>Calibri Light</vt:lpstr>
      <vt:lpstr>Office 2013 - 2022 Theme</vt:lpstr>
      <vt:lpstr>Environmental and spatiotemporal influences on winter ichthyoplankton assemblages of the northern California Current ecosystem</vt:lpstr>
      <vt:lpstr>Introduction and Background</vt:lpstr>
      <vt:lpstr>Larval fish assemblages</vt:lpstr>
      <vt:lpstr>The LFA in the NCC</vt:lpstr>
      <vt:lpstr>State of LFC knowledge in the NCC</vt:lpstr>
      <vt:lpstr>Objectives</vt:lpstr>
      <vt:lpstr>Sampling and Analysis Methods</vt:lpstr>
      <vt:lpstr>Sampling and data collection</vt:lpstr>
      <vt:lpstr>Data Analyses</vt:lpstr>
      <vt:lpstr>Results and Discussion</vt:lpstr>
      <vt:lpstr>Objective 1: Characterizing assemblages</vt:lpstr>
      <vt:lpstr>Cluster composition</vt:lpstr>
      <vt:lpstr>Cluster Distribution</vt:lpstr>
      <vt:lpstr>Cluster Distribution</vt:lpstr>
      <vt:lpstr>Objective 2: Influences on assemblages</vt:lpstr>
      <vt:lpstr>Db-RDA and VPA</vt:lpstr>
      <vt:lpstr>Db-RDA ordination</vt:lpstr>
      <vt:lpstr>Objective 3: Taxon-specific diel variation in vertical distribution</vt:lpstr>
      <vt:lpstr>Negative binomial GLMM</vt:lpstr>
      <vt:lpstr>Objective 3</vt:lpstr>
      <vt:lpstr>L. ringens – most abundant at shallowest depths at night</vt:lpstr>
      <vt:lpstr>S. leucopsarus – most abundant at deepest depths at night AND shallowest depths during the day</vt:lpstr>
      <vt:lpstr>Conclusions</vt:lpstr>
      <vt:lpstr>Conclusions (continued)</vt:lpstr>
      <vt:lpstr>Acknowledgments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McCloskey, Ross</dc:creator>
  <cp:lastModifiedBy>McCloskey, Ross</cp:lastModifiedBy>
  <cp:revision>1</cp:revision>
  <dcterms:created xsi:type="dcterms:W3CDTF">2026-09-28T21:43:59Z</dcterms:created>
  <dcterms:modified xsi:type="dcterms:W3CDTF">2026-10-12T21:46:37Z</dcterms:modified>
</cp:coreProperties>
</file>