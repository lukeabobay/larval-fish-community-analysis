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6" r:id="rId4"/>
    <p:sldId id="259" r:id="rId5"/>
    <p:sldId id="258" r:id="rId6"/>
    <p:sldId id="263" r:id="rId7"/>
    <p:sldId id="261" r:id="rId8"/>
    <p:sldId id="285" r:id="rId9"/>
    <p:sldId id="262" r:id="rId10"/>
    <p:sldId id="264" r:id="rId11"/>
    <p:sldId id="260" r:id="rId12"/>
    <p:sldId id="265" r:id="rId13"/>
    <p:sldId id="286"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62" d="100"/>
          <a:sy n="62" d="100"/>
        </p:scale>
        <p:origin x="760"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AB75F8-FDAB-EFAA-6A61-C3CF577055A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6B9C6D-A4D8-A6F8-3C43-99B3D008A79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F501DB4-6D35-29B0-272A-47F214449F4E}"/>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5" name="Footer Placeholder 4">
            <a:extLst>
              <a:ext uri="{FF2B5EF4-FFF2-40B4-BE49-F238E27FC236}">
                <a16:creationId xmlns:a16="http://schemas.microsoft.com/office/drawing/2014/main" id="{B1F5AB66-3323-58A4-FCA7-7981402044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B41442-8AAE-5E9E-88DA-53E92E265D5D}"/>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8518992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12F7A-A111-0CD7-0DBA-D0C4943868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795D3F2-3225-30D3-941B-A5C28E668BA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BBDE04-10A4-1729-E231-4B72AEBF4FB7}"/>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5" name="Footer Placeholder 4">
            <a:extLst>
              <a:ext uri="{FF2B5EF4-FFF2-40B4-BE49-F238E27FC236}">
                <a16:creationId xmlns:a16="http://schemas.microsoft.com/office/drawing/2014/main" id="{AF850AF6-CEFB-BA1F-EFF8-31726B6A0A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F1239A-78C7-6243-794F-D388D4D5E5B7}"/>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7053012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E1235-816B-BBE2-462B-31E1DFDAC76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B01106F-66C1-B3C9-3814-D5965FBC940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4453E89-1897-8A45-1C2B-22C6C0585FA2}"/>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5" name="Footer Placeholder 4">
            <a:extLst>
              <a:ext uri="{FF2B5EF4-FFF2-40B4-BE49-F238E27FC236}">
                <a16:creationId xmlns:a16="http://schemas.microsoft.com/office/drawing/2014/main" id="{A83489FC-BBF5-7436-65FF-F3AF0397B1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E34887-4FE1-F8BD-B7C0-7EDAB7268260}"/>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4561156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E8869-3C58-83FA-A233-1FA34562B32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8D94907-0428-4E44-C0F6-6E10C44375C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1EEF328-5491-5F3C-64B3-D799067C9DB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E0C6CAF-BE7D-790B-ED1B-D248DE6F8362}"/>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6" name="Footer Placeholder 5">
            <a:extLst>
              <a:ext uri="{FF2B5EF4-FFF2-40B4-BE49-F238E27FC236}">
                <a16:creationId xmlns:a16="http://schemas.microsoft.com/office/drawing/2014/main" id="{4532F5C5-BE00-30A9-A7B3-33E6071D79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5C640A-6BCB-4543-A4D9-4F691A69FA69}"/>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090479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5AAD25-CBEA-206B-3D71-C8BB58D93B5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6E709CA-0E31-CA23-A474-C371EBC972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DDD722-803B-D7E7-E255-5993A97952C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BF0197E-1529-D26D-7CCC-5C760C565BA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426CE32-0BB3-EF48-407A-4495E5E0D66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D383070-AEA8-AA84-6EDE-795F08F5F46A}"/>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8" name="Footer Placeholder 7">
            <a:extLst>
              <a:ext uri="{FF2B5EF4-FFF2-40B4-BE49-F238E27FC236}">
                <a16:creationId xmlns:a16="http://schemas.microsoft.com/office/drawing/2014/main" id="{C628F8AB-5A3B-DF2E-B43E-AA808FE6FF9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34A4CB4-5A3B-E18D-C262-E9A97C8461B7}"/>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3402383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82566-FA2A-7C78-BD8F-BEB964A6FEC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8FB7324-7B7F-3256-4455-F2F5DFE797A1}"/>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4" name="Footer Placeholder 3">
            <a:extLst>
              <a:ext uri="{FF2B5EF4-FFF2-40B4-BE49-F238E27FC236}">
                <a16:creationId xmlns:a16="http://schemas.microsoft.com/office/drawing/2014/main" id="{E36EE4B8-F1F5-7E10-3523-0A84975995F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47986A5-692C-A5EE-0A8A-2EB7210FDC3F}"/>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4617774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D535186-1838-3D58-BAA5-FB8B0E28DA22}"/>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3" name="Footer Placeholder 2">
            <a:extLst>
              <a:ext uri="{FF2B5EF4-FFF2-40B4-BE49-F238E27FC236}">
                <a16:creationId xmlns:a16="http://schemas.microsoft.com/office/drawing/2014/main" id="{6A771071-CB2F-E788-0B4D-EFD6E59BA1F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E98D040-BE17-3276-2887-F8B7EE52AB3A}"/>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37219064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C45B4-A469-89A8-85AC-39484B37C26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1A5C319-C2CA-BEB1-FB21-125D32F2E58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27DAF60-EAEE-B838-572D-718D01BE98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9460C7B-D050-60C7-9EC0-E032860F9867}"/>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6" name="Footer Placeholder 5">
            <a:extLst>
              <a:ext uri="{FF2B5EF4-FFF2-40B4-BE49-F238E27FC236}">
                <a16:creationId xmlns:a16="http://schemas.microsoft.com/office/drawing/2014/main" id="{EAE2CA4B-4189-13C1-7DC6-6AC2EEF334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5BC38C-5121-EE7A-1838-F3B15F71E692}"/>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2348522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6154A-E588-1C99-C4EC-8C785F4B686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8FB7AAA-BCED-092F-2DE3-5563F56D97E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718A554-A855-E4B9-6563-7E073D722C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F4AE67-4B15-AB07-621E-D3DC91EB3F60}"/>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6" name="Footer Placeholder 5">
            <a:extLst>
              <a:ext uri="{FF2B5EF4-FFF2-40B4-BE49-F238E27FC236}">
                <a16:creationId xmlns:a16="http://schemas.microsoft.com/office/drawing/2014/main" id="{68ED63D6-9EBF-C0CE-37CD-631A1C604D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0C3FA61-46CE-A369-84C5-8199D7A1E5B9}"/>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36876273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6A0161-53BE-316D-984F-2288C96F6E2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F9D74AE-B495-AB81-C563-69FA2CEA87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2C51821-7C49-C993-C23F-BC8E4D43491F}"/>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5" name="Footer Placeholder 4">
            <a:extLst>
              <a:ext uri="{FF2B5EF4-FFF2-40B4-BE49-F238E27FC236}">
                <a16:creationId xmlns:a16="http://schemas.microsoft.com/office/drawing/2014/main" id="{041DABD7-D8F1-55C5-88F8-CB806E0EFE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0AC87B-BCC1-000B-E2EA-2150FDC558CF}"/>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7218122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8D63B1D-9C77-7414-CD72-FFACE67988B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6841D0F-0FAF-C7A7-ED79-588F3C343B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34485E-8611-FDCE-86B5-5795C3612FAB}"/>
              </a:ext>
            </a:extLst>
          </p:cNvPr>
          <p:cNvSpPr>
            <a:spLocks noGrp="1"/>
          </p:cNvSpPr>
          <p:nvPr>
            <p:ph type="dt" sz="half" idx="10"/>
          </p:nvPr>
        </p:nvSpPr>
        <p:spPr/>
        <p:txBody>
          <a:bodyPr/>
          <a:lstStyle/>
          <a:p>
            <a:fld id="{BE76205E-E917-4F89-9EAE-D9F9DED07A8F}" type="datetimeFigureOut">
              <a:rPr lang="en-US" smtClean="0"/>
              <a:t>8/14/2026</a:t>
            </a:fld>
            <a:endParaRPr lang="en-US"/>
          </a:p>
        </p:txBody>
      </p:sp>
      <p:sp>
        <p:nvSpPr>
          <p:cNvPr id="5" name="Footer Placeholder 4">
            <a:extLst>
              <a:ext uri="{FF2B5EF4-FFF2-40B4-BE49-F238E27FC236}">
                <a16:creationId xmlns:a16="http://schemas.microsoft.com/office/drawing/2014/main" id="{ED5D6F28-4FED-A960-B55F-3D1A3A7030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D6C49C-95DA-9D3B-4AB0-3877C051841D}"/>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4276994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BA39E9F-AC83-5D19-CCAE-CAA3458C3B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67CAB80-120A-E5D8-F75B-C8E5E5D57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53A2AF-6D13-E61C-5C1E-CCB8EEE9B2E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E76205E-E917-4F89-9EAE-D9F9DED07A8F}" type="datetimeFigureOut">
              <a:rPr lang="en-US" smtClean="0"/>
              <a:t>8/14/2026</a:t>
            </a:fld>
            <a:endParaRPr lang="en-US"/>
          </a:p>
        </p:txBody>
      </p:sp>
      <p:sp>
        <p:nvSpPr>
          <p:cNvPr id="5" name="Footer Placeholder 4">
            <a:extLst>
              <a:ext uri="{FF2B5EF4-FFF2-40B4-BE49-F238E27FC236}">
                <a16:creationId xmlns:a16="http://schemas.microsoft.com/office/drawing/2014/main" id="{2438033A-ECDB-D59C-9888-A7177B926A8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35FC040-3752-3025-C4B4-845E215606B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6AB136-D116-4918-914A-0B96CB4A5AC6}" type="slidenum">
              <a:rPr lang="en-US" smtClean="0"/>
              <a:t>‹#›</a:t>
            </a:fld>
            <a:endParaRPr lang="en-US"/>
          </a:p>
        </p:txBody>
      </p:sp>
    </p:spTree>
    <p:extLst>
      <p:ext uri="{BB962C8B-B14F-4D97-AF65-F5344CB8AC3E}">
        <p14:creationId xmlns:p14="http://schemas.microsoft.com/office/powerpoint/2010/main" val="21719674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FC2265-3B48-CBBD-86B0-D3B1F94C1224}"/>
              </a:ext>
            </a:extLst>
          </p:cNvPr>
          <p:cNvSpPr>
            <a:spLocks noGrp="1"/>
          </p:cNvSpPr>
          <p:nvPr>
            <p:ph type="ctrTitle"/>
          </p:nvPr>
        </p:nvSpPr>
        <p:spPr/>
        <p:txBody>
          <a:bodyPr/>
          <a:lstStyle/>
          <a:p>
            <a:r>
              <a:rPr lang="en-US" dirty="0"/>
              <a:t>Figures made using final data set</a:t>
            </a:r>
          </a:p>
        </p:txBody>
      </p:sp>
      <p:sp>
        <p:nvSpPr>
          <p:cNvPr id="3" name="Subtitle 2">
            <a:extLst>
              <a:ext uri="{FF2B5EF4-FFF2-40B4-BE49-F238E27FC236}">
                <a16:creationId xmlns:a16="http://schemas.microsoft.com/office/drawing/2014/main" id="{8BECDDD2-3F15-DE97-F0B2-51B5FC9A519C}"/>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4164709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289411-DCB3-973A-69D4-ED97015BD29C}"/>
              </a:ext>
            </a:extLst>
          </p:cNvPr>
          <p:cNvSpPr>
            <a:spLocks noGrp="1"/>
          </p:cNvSpPr>
          <p:nvPr>
            <p:ph type="title"/>
          </p:nvPr>
        </p:nvSpPr>
        <p:spPr>
          <a:xfrm>
            <a:off x="6096000" y="365125"/>
            <a:ext cx="5257799" cy="1325563"/>
          </a:xfrm>
        </p:spPr>
        <p:txBody>
          <a:bodyPr>
            <a:normAutofit/>
          </a:bodyPr>
          <a:lstStyle/>
          <a:p>
            <a:r>
              <a:rPr lang="en-US" sz="1800" b="1" dirty="0"/>
              <a:t>Fig. 1. </a:t>
            </a:r>
            <a:r>
              <a:rPr lang="en-US" sz="1800" dirty="0"/>
              <a:t>Locations sampled during each year and sampling replicate. Symbols indicate year.</a:t>
            </a:r>
          </a:p>
        </p:txBody>
      </p:sp>
      <p:pic>
        <p:nvPicPr>
          <p:cNvPr id="5" name="Picture 4">
            <a:extLst>
              <a:ext uri="{FF2B5EF4-FFF2-40B4-BE49-F238E27FC236}">
                <a16:creationId xmlns:a16="http://schemas.microsoft.com/office/drawing/2014/main" id="{74071427-C575-59FF-8210-285CFAE9E5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0" cy="6858000"/>
          </a:xfrm>
          <a:prstGeom prst="rect">
            <a:avLst/>
          </a:prstGeom>
        </p:spPr>
      </p:pic>
    </p:spTree>
    <p:extLst>
      <p:ext uri="{BB962C8B-B14F-4D97-AF65-F5344CB8AC3E}">
        <p14:creationId xmlns:p14="http://schemas.microsoft.com/office/powerpoint/2010/main" val="32220444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B6758B-8A96-DF41-2D41-26638157FEC8}"/>
              </a:ext>
            </a:extLst>
          </p:cNvPr>
          <p:cNvSpPr>
            <a:spLocks noGrp="1"/>
          </p:cNvSpPr>
          <p:nvPr>
            <p:ph type="title"/>
          </p:nvPr>
        </p:nvSpPr>
        <p:spPr/>
        <p:txBody>
          <a:bodyPr>
            <a:normAutofit/>
          </a:bodyPr>
          <a:lstStyle/>
          <a:p>
            <a:r>
              <a:rPr lang="en-US" sz="1800" b="1" dirty="0"/>
              <a:t>Table 1. </a:t>
            </a:r>
            <a:r>
              <a:rPr lang="en-US" sz="1800" dirty="0"/>
              <a:t>Taxa associated with each cluster as determined using indicator taxa analysis. Taxa are listed in order of summed abundance within each cluster.</a:t>
            </a:r>
          </a:p>
        </p:txBody>
      </p:sp>
      <p:graphicFrame>
        <p:nvGraphicFramePr>
          <p:cNvPr id="5" name="Table 4">
            <a:extLst>
              <a:ext uri="{FF2B5EF4-FFF2-40B4-BE49-F238E27FC236}">
                <a16:creationId xmlns:a16="http://schemas.microsoft.com/office/drawing/2014/main" id="{00A303FB-CAB9-ED2D-7237-A5B4B4E7674B}"/>
              </a:ext>
            </a:extLst>
          </p:cNvPr>
          <p:cNvGraphicFramePr>
            <a:graphicFrameLocks noGrp="1"/>
          </p:cNvGraphicFramePr>
          <p:nvPr>
            <p:extLst>
              <p:ext uri="{D42A27DB-BD31-4B8C-83A1-F6EECF244321}">
                <p14:modId xmlns:p14="http://schemas.microsoft.com/office/powerpoint/2010/main" val="1456711037"/>
              </p:ext>
            </p:extLst>
          </p:nvPr>
        </p:nvGraphicFramePr>
        <p:xfrm>
          <a:off x="2032000" y="1690688"/>
          <a:ext cx="8127999" cy="3591560"/>
        </p:xfrm>
        <a:graphic>
          <a:graphicData uri="http://schemas.openxmlformats.org/drawingml/2006/table">
            <a:tbl>
              <a:tblPr firstRow="1" bandRow="1">
                <a:tableStyleId>{5940675A-B579-460E-94D1-54222C63F5DA}</a:tableStyleId>
              </a:tblPr>
              <a:tblGrid>
                <a:gridCol w="1390822">
                  <a:extLst>
                    <a:ext uri="{9D8B030D-6E8A-4147-A177-3AD203B41FA5}">
                      <a16:colId xmlns:a16="http://schemas.microsoft.com/office/drawing/2014/main" val="3288010381"/>
                    </a:ext>
                  </a:extLst>
                </a:gridCol>
                <a:gridCol w="4027844">
                  <a:extLst>
                    <a:ext uri="{9D8B030D-6E8A-4147-A177-3AD203B41FA5}">
                      <a16:colId xmlns:a16="http://schemas.microsoft.com/office/drawing/2014/main" val="238683654"/>
                    </a:ext>
                  </a:extLst>
                </a:gridCol>
                <a:gridCol w="2709333">
                  <a:extLst>
                    <a:ext uri="{9D8B030D-6E8A-4147-A177-3AD203B41FA5}">
                      <a16:colId xmlns:a16="http://schemas.microsoft.com/office/drawing/2014/main" val="2418419917"/>
                    </a:ext>
                  </a:extLst>
                </a:gridCol>
              </a:tblGrid>
              <a:tr h="370840">
                <a:tc>
                  <a:txBody>
                    <a:bodyPr/>
                    <a:lstStyle/>
                    <a:p>
                      <a:r>
                        <a:rPr lang="en-US" sz="1600" b="1" dirty="0"/>
                        <a:t>Cluster</a:t>
                      </a:r>
                    </a:p>
                  </a:txBody>
                  <a:tcPr/>
                </a:tc>
                <a:tc>
                  <a:txBody>
                    <a:bodyPr/>
                    <a:lstStyle/>
                    <a:p>
                      <a:r>
                        <a:rPr lang="en-US" sz="1600" b="1" dirty="0"/>
                        <a:t>Taxa</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1</a:t>
                      </a:r>
                    </a:p>
                  </a:txBody>
                  <a:tcPr/>
                </a:tc>
                <a:tc>
                  <a:txBody>
                    <a:bodyPr/>
                    <a:lstStyle/>
                    <a:p>
                      <a:r>
                        <a:rPr lang="en-US" sz="1600" i="1" dirty="0"/>
                        <a:t>Sebastes</a:t>
                      </a:r>
                      <a:r>
                        <a:rPr lang="en-US" sz="1600" dirty="0"/>
                        <a:t> spp.</a:t>
                      </a:r>
                    </a:p>
                  </a:txBody>
                  <a:tcPr/>
                </a:tc>
                <a:tc>
                  <a:txBody>
                    <a:bodyPr/>
                    <a:lstStyle/>
                    <a:p>
                      <a:r>
                        <a:rPr lang="en-US" sz="1600" dirty="0"/>
                        <a:t>0.005</a:t>
                      </a:r>
                    </a:p>
                  </a:txBody>
                  <a:tcPr/>
                </a:tc>
                <a:extLst>
                  <a:ext uri="{0D108BD9-81ED-4DB2-BD59-A6C34878D82A}">
                    <a16:rowId xmlns:a16="http://schemas.microsoft.com/office/drawing/2014/main" val="3145787672"/>
                  </a:ext>
                </a:extLst>
              </a:tr>
              <a:tr h="370840">
                <a:tc>
                  <a:txBody>
                    <a:bodyPr/>
                    <a:lstStyle/>
                    <a:p>
                      <a:r>
                        <a:rPr lang="en-US" sz="1600" dirty="0"/>
                        <a:t>2</a:t>
                      </a:r>
                    </a:p>
                  </a:txBody>
                  <a:tcPr/>
                </a:tc>
                <a:tc>
                  <a:txBody>
                    <a:bodyPr/>
                    <a:lstStyle/>
                    <a:p>
                      <a:r>
                        <a:rPr lang="en-US" sz="1600" i="1" dirty="0" err="1"/>
                        <a:t>Parophrys</a:t>
                      </a:r>
                      <a:r>
                        <a:rPr lang="en-US" sz="1600" i="1" dirty="0"/>
                        <a:t> </a:t>
                      </a:r>
                      <a:r>
                        <a:rPr lang="en-US" sz="1600" i="1" dirty="0" err="1"/>
                        <a:t>vetulus</a:t>
                      </a:r>
                      <a:endParaRPr lang="en-US" sz="1600" i="0" dirty="0"/>
                    </a:p>
                    <a:p>
                      <a:r>
                        <a:rPr lang="en-US" sz="1600" i="1" dirty="0"/>
                        <a:t>Sebastes </a:t>
                      </a:r>
                      <a:r>
                        <a:rPr lang="en-US" sz="1600" i="0" dirty="0"/>
                        <a:t>spp.</a:t>
                      </a:r>
                      <a:endParaRPr lang="en-US" sz="1600" i="1" dirty="0"/>
                    </a:p>
                  </a:txBody>
                  <a:tcPr/>
                </a:tc>
                <a:tc>
                  <a:txBody>
                    <a:bodyPr/>
                    <a:lstStyle/>
                    <a:p>
                      <a:r>
                        <a:rPr lang="en-US" sz="1600" dirty="0"/>
                        <a:t>0.005</a:t>
                      </a:r>
                    </a:p>
                    <a:p>
                      <a:r>
                        <a:rPr lang="en-US" sz="1600" dirty="0"/>
                        <a:t>0.005</a:t>
                      </a:r>
                    </a:p>
                  </a:txBody>
                  <a:tcPr/>
                </a:tc>
                <a:extLst>
                  <a:ext uri="{0D108BD9-81ED-4DB2-BD59-A6C34878D82A}">
                    <a16:rowId xmlns:a16="http://schemas.microsoft.com/office/drawing/2014/main" val="1892644640"/>
                  </a:ext>
                </a:extLst>
              </a:tr>
              <a:tr h="370840">
                <a:tc>
                  <a:txBody>
                    <a:bodyPr/>
                    <a:lstStyle/>
                    <a:p>
                      <a:r>
                        <a:rPr lang="en-US" sz="1600" dirty="0"/>
                        <a:t>3</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0.02</a:t>
                      </a:r>
                    </a:p>
                  </a:txBody>
                  <a:tcPr/>
                </a:tc>
                <a:extLst>
                  <a:ext uri="{0D108BD9-81ED-4DB2-BD59-A6C34878D82A}">
                    <a16:rowId xmlns:a16="http://schemas.microsoft.com/office/drawing/2014/main" val="2227666454"/>
                  </a:ext>
                </a:extLst>
              </a:tr>
              <a:tr h="370840">
                <a:tc>
                  <a:txBody>
                    <a:bodyPr/>
                    <a:lstStyle/>
                    <a:p>
                      <a:r>
                        <a:rPr lang="en-US" sz="1600" dirty="0"/>
                        <a:t>4</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0.02</a:t>
                      </a:r>
                    </a:p>
                  </a:txBody>
                  <a:tcPr/>
                </a:tc>
                <a:extLst>
                  <a:ext uri="{0D108BD9-81ED-4DB2-BD59-A6C34878D82A}">
                    <a16:rowId xmlns:a16="http://schemas.microsoft.com/office/drawing/2014/main" val="3253798277"/>
                  </a:ext>
                </a:extLst>
              </a:tr>
              <a:tr h="370840">
                <a:tc>
                  <a:txBody>
                    <a:bodyPr/>
                    <a:lstStyle/>
                    <a:p>
                      <a:r>
                        <a:rPr lang="en-US" sz="1600" dirty="0"/>
                        <a:t>5</a:t>
                      </a:r>
                    </a:p>
                  </a:txBody>
                  <a:tcPr/>
                </a:tc>
                <a:tc>
                  <a:txBody>
                    <a:bodyPr/>
                    <a:lstStyle/>
                    <a:p>
                      <a:r>
                        <a:rPr lang="en-US" sz="1600" i="1" dirty="0" err="1"/>
                        <a:t>Parophrys</a:t>
                      </a:r>
                      <a:r>
                        <a:rPr lang="en-US" sz="1600" i="1" dirty="0"/>
                        <a:t> </a:t>
                      </a:r>
                      <a:r>
                        <a:rPr lang="en-US" sz="1600" i="1" dirty="0" err="1"/>
                        <a:t>vetulus</a:t>
                      </a:r>
                      <a:endParaRPr lang="en-US" sz="1600" i="1" dirty="0"/>
                    </a:p>
                    <a:p>
                      <a:r>
                        <a:rPr lang="en-US" sz="1600" i="1" dirty="0"/>
                        <a:t>Liparis </a:t>
                      </a:r>
                      <a:r>
                        <a:rPr lang="en-US" sz="1600" i="0" dirty="0"/>
                        <a:t>spp.</a:t>
                      </a:r>
                    </a:p>
                  </a:txBody>
                  <a:tcPr/>
                </a:tc>
                <a:tc>
                  <a:txBody>
                    <a:bodyPr/>
                    <a:lstStyle/>
                    <a:p>
                      <a:r>
                        <a:rPr lang="en-US" sz="1600" dirty="0"/>
                        <a:t>0.005</a:t>
                      </a:r>
                    </a:p>
                    <a:p>
                      <a:r>
                        <a:rPr lang="en-US" sz="1600" dirty="0"/>
                        <a:t>0.03</a:t>
                      </a:r>
                    </a:p>
                  </a:txBody>
                  <a:tcPr/>
                </a:tc>
                <a:extLst>
                  <a:ext uri="{0D108BD9-81ED-4DB2-BD59-A6C34878D82A}">
                    <a16:rowId xmlns:a16="http://schemas.microsoft.com/office/drawing/2014/main" val="2364807414"/>
                  </a:ext>
                </a:extLst>
              </a:tr>
              <a:tr h="370840">
                <a:tc>
                  <a:txBody>
                    <a:bodyPr/>
                    <a:lstStyle/>
                    <a:p>
                      <a:r>
                        <a:rPr lang="en-US" sz="1600" dirty="0"/>
                        <a:t>6</a:t>
                      </a:r>
                    </a:p>
                  </a:txBody>
                  <a:tcPr/>
                </a:tc>
                <a:tc>
                  <a:txBody>
                    <a:bodyPr/>
                    <a:lstStyle/>
                    <a:p>
                      <a:r>
                        <a:rPr lang="en-US" sz="1600" i="0" dirty="0"/>
                        <a:t>Osmeridae</a:t>
                      </a:r>
                    </a:p>
                  </a:txBody>
                  <a:tcPr/>
                </a:tc>
                <a:tc>
                  <a:txBody>
                    <a:bodyPr/>
                    <a:lstStyle/>
                    <a:p>
                      <a:r>
                        <a:rPr lang="en-US" sz="1600" dirty="0"/>
                        <a:t>0.005</a:t>
                      </a:r>
                    </a:p>
                  </a:txBody>
                  <a:tcPr/>
                </a:tc>
                <a:extLst>
                  <a:ext uri="{0D108BD9-81ED-4DB2-BD59-A6C34878D82A}">
                    <a16:rowId xmlns:a16="http://schemas.microsoft.com/office/drawing/2014/main" val="4229098351"/>
                  </a:ext>
                </a:extLst>
              </a:tr>
              <a:tr h="370840">
                <a:tc>
                  <a:txBody>
                    <a:bodyPr/>
                    <a:lstStyle/>
                    <a:p>
                      <a:r>
                        <a:rPr lang="en-US" sz="1600" dirty="0"/>
                        <a:t>7</a:t>
                      </a:r>
                    </a:p>
                  </a:txBody>
                  <a:tcPr/>
                </a:tc>
                <a:tc>
                  <a:txBody>
                    <a:bodyPr/>
                    <a:lstStyle/>
                    <a:p>
                      <a:r>
                        <a:rPr lang="en-US" sz="1600" i="0" dirty="0" err="1"/>
                        <a:t>Hexagrammidae</a:t>
                      </a:r>
                      <a:endParaRPr lang="en-US" sz="1600" i="0" dirty="0"/>
                    </a:p>
                    <a:p>
                      <a:r>
                        <a:rPr lang="en-US" sz="1600" i="1" dirty="0"/>
                        <a:t>Liparis </a:t>
                      </a:r>
                      <a:r>
                        <a:rPr lang="en-US" sz="1600" i="0" dirty="0"/>
                        <a:t>spp.</a:t>
                      </a:r>
                      <a:endParaRPr lang="en-US" sz="1600" i="1" dirty="0"/>
                    </a:p>
                  </a:txBody>
                  <a:tcPr/>
                </a:tc>
                <a:tc>
                  <a:txBody>
                    <a:bodyPr/>
                    <a:lstStyle/>
                    <a:p>
                      <a:r>
                        <a:rPr lang="en-US" sz="1600" dirty="0"/>
                        <a:t>0.005</a:t>
                      </a:r>
                    </a:p>
                    <a:p>
                      <a:r>
                        <a:rPr lang="en-US" sz="1600" dirty="0"/>
                        <a:t>0.03</a:t>
                      </a:r>
                    </a:p>
                  </a:txBody>
                  <a:tcPr/>
                </a:tc>
                <a:extLst>
                  <a:ext uri="{0D108BD9-81ED-4DB2-BD59-A6C34878D82A}">
                    <a16:rowId xmlns:a16="http://schemas.microsoft.com/office/drawing/2014/main" val="1711312673"/>
                  </a:ext>
                </a:extLst>
              </a:tr>
            </a:tbl>
          </a:graphicData>
        </a:graphic>
      </p:graphicFrame>
    </p:spTree>
    <p:extLst>
      <p:ext uri="{BB962C8B-B14F-4D97-AF65-F5344CB8AC3E}">
        <p14:creationId xmlns:p14="http://schemas.microsoft.com/office/powerpoint/2010/main" val="18244560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8DFC3-299E-CD84-D40C-7145E6A1356D}"/>
              </a:ext>
            </a:extLst>
          </p:cNvPr>
          <p:cNvSpPr>
            <a:spLocks noGrp="1"/>
          </p:cNvSpPr>
          <p:nvPr>
            <p:ph type="title"/>
          </p:nvPr>
        </p:nvSpPr>
        <p:spPr/>
        <p:txBody>
          <a:bodyPr>
            <a:noAutofit/>
          </a:bodyPr>
          <a:lstStyle/>
          <a:p>
            <a:r>
              <a:rPr lang="en-US" sz="1800" b="1" dirty="0"/>
              <a:t>Fig. 2a. </a:t>
            </a:r>
            <a:r>
              <a:rPr lang="en-US" sz="1800" dirty="0"/>
              <a:t>Proportion of taxa in samples assigned to each cluster. Colors correspond to coarse habitat affinity and taxonomic groups: </a:t>
            </a:r>
            <a:r>
              <a:rPr lang="en-US" sz="1800" dirty="0" err="1"/>
              <a:t>mesopelagics</a:t>
            </a:r>
            <a:r>
              <a:rPr lang="en-US" sz="1800" dirty="0"/>
              <a:t> (purples), </a:t>
            </a:r>
            <a:r>
              <a:rPr lang="en-US" sz="1800" dirty="0" err="1"/>
              <a:t>pleuronectiformes</a:t>
            </a:r>
            <a:r>
              <a:rPr lang="en-US" sz="1800" dirty="0"/>
              <a:t> (oranges), </a:t>
            </a:r>
            <a:r>
              <a:rPr lang="en-US" sz="1800" dirty="0" err="1"/>
              <a:t>perciformes</a:t>
            </a:r>
            <a:r>
              <a:rPr lang="en-US" sz="1800" dirty="0"/>
              <a:t> (blues), and other coastal taxa (greens).</a:t>
            </a:r>
          </a:p>
        </p:txBody>
      </p:sp>
      <p:pic>
        <p:nvPicPr>
          <p:cNvPr id="7" name="Picture 6">
            <a:extLst>
              <a:ext uri="{FF2B5EF4-FFF2-40B4-BE49-F238E27FC236}">
                <a16:creationId xmlns:a16="http://schemas.microsoft.com/office/drawing/2014/main" id="{AE1FF317-9A2F-E860-8021-F2C8C10DE5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7"/>
            <a:ext cx="1828804" cy="5486411"/>
          </a:xfrm>
          <a:prstGeom prst="rect">
            <a:avLst/>
          </a:prstGeom>
        </p:spPr>
      </p:pic>
      <p:pic>
        <p:nvPicPr>
          <p:cNvPr id="13" name="Picture 12">
            <a:extLst>
              <a:ext uri="{FF2B5EF4-FFF2-40B4-BE49-F238E27FC236}">
                <a16:creationId xmlns:a16="http://schemas.microsoft.com/office/drawing/2014/main" id="{5EAA17C9-70A4-BF1F-D737-8B6AF5AE99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7"/>
            <a:ext cx="9144019" cy="4572009"/>
          </a:xfrm>
          <a:prstGeom prst="rect">
            <a:avLst/>
          </a:prstGeom>
        </p:spPr>
      </p:pic>
    </p:spTree>
    <p:extLst>
      <p:ext uri="{BB962C8B-B14F-4D97-AF65-F5344CB8AC3E}">
        <p14:creationId xmlns:p14="http://schemas.microsoft.com/office/powerpoint/2010/main" val="22530579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AA66-029D-2737-FA19-238378A8A2E9}"/>
              </a:ext>
            </a:extLst>
          </p:cNvPr>
          <p:cNvSpPr>
            <a:spLocks noGrp="1"/>
          </p:cNvSpPr>
          <p:nvPr>
            <p:ph type="title"/>
          </p:nvPr>
        </p:nvSpPr>
        <p:spPr/>
        <p:txBody>
          <a:bodyPr>
            <a:normAutofit/>
          </a:bodyPr>
          <a:lstStyle/>
          <a:p>
            <a:r>
              <a:rPr lang="en-US" sz="1800" b="1" dirty="0"/>
              <a:t>Fig. 2b. </a:t>
            </a:r>
            <a:r>
              <a:rPr lang="en-US" sz="1800" dirty="0"/>
              <a:t>Concentration of taxa in samples assigned to each cluster in each year.</a:t>
            </a:r>
          </a:p>
        </p:txBody>
      </p:sp>
      <p:pic>
        <p:nvPicPr>
          <p:cNvPr id="11" name="Picture 10">
            <a:extLst>
              <a:ext uri="{FF2B5EF4-FFF2-40B4-BE49-F238E27FC236}">
                <a16:creationId xmlns:a16="http://schemas.microsoft.com/office/drawing/2014/main" id="{C44959B7-7572-9124-03E9-2C746AD94F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6"/>
            <a:ext cx="1828804" cy="5486411"/>
          </a:xfrm>
          <a:prstGeom prst="rect">
            <a:avLst/>
          </a:prstGeom>
        </p:spPr>
      </p:pic>
      <p:pic>
        <p:nvPicPr>
          <p:cNvPr id="19" name="Picture 18">
            <a:extLst>
              <a:ext uri="{FF2B5EF4-FFF2-40B4-BE49-F238E27FC236}">
                <a16:creationId xmlns:a16="http://schemas.microsoft.com/office/drawing/2014/main" id="{47B1221D-9772-773B-4FE1-A817BD8D4C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6"/>
            <a:ext cx="9144019" cy="4572009"/>
          </a:xfrm>
          <a:prstGeom prst="rect">
            <a:avLst/>
          </a:prstGeom>
        </p:spPr>
      </p:pic>
    </p:spTree>
    <p:extLst>
      <p:ext uri="{BB962C8B-B14F-4D97-AF65-F5344CB8AC3E}">
        <p14:creationId xmlns:p14="http://schemas.microsoft.com/office/powerpoint/2010/main" val="38864925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C8CF3-B85B-9E59-4EEC-DD795A334783}"/>
              </a:ext>
            </a:extLst>
          </p:cNvPr>
          <p:cNvSpPr>
            <a:spLocks noGrp="1"/>
          </p:cNvSpPr>
          <p:nvPr>
            <p:ph type="title"/>
          </p:nvPr>
        </p:nvSpPr>
        <p:spPr/>
        <p:txBody>
          <a:bodyPr>
            <a:normAutofit fontScale="90000"/>
          </a:bodyPr>
          <a:lstStyle/>
          <a:p>
            <a:r>
              <a:rPr lang="en-US" sz="1800" b="1" dirty="0"/>
              <a:t>Fig. 3. </a:t>
            </a:r>
            <a:r>
              <a:rPr lang="en-US" sz="1800" dirty="0"/>
              <a:t>Collection locations of samples assigned to each cluster, separated by sampling replicate. Panel titles indicate the year and, for 2018 and 2019, whether collection took place primarily during day (D) or night (N) and the sampling replicate number. Circle colors indicate the cluster each sample was assigned to and translucence indicates mean sampling depth of the net tow each sample was collected in. “X”s indicate net tows in which fewer than 10 fish larvae or no larvae belonging to taxa present in &gt; 5% of net tows were collected.</a:t>
            </a:r>
            <a:endParaRPr lang="en-US" sz="1800" b="1" dirty="0"/>
          </a:p>
        </p:txBody>
      </p:sp>
      <p:pic>
        <p:nvPicPr>
          <p:cNvPr id="9" name="Picture 8">
            <a:extLst>
              <a:ext uri="{FF2B5EF4-FFF2-40B4-BE49-F238E27FC236}">
                <a16:creationId xmlns:a16="http://schemas.microsoft.com/office/drawing/2014/main" id="{5A2C3FC7-3E67-40C9-9E42-A6BE97A2FC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62546" y="1613395"/>
            <a:ext cx="7866908" cy="5244605"/>
          </a:xfrm>
          <a:prstGeom prst="rect">
            <a:avLst/>
          </a:prstGeom>
        </p:spPr>
      </p:pic>
    </p:spTree>
    <p:extLst>
      <p:ext uri="{BB962C8B-B14F-4D97-AF65-F5344CB8AC3E}">
        <p14:creationId xmlns:p14="http://schemas.microsoft.com/office/powerpoint/2010/main" val="28089718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9162D-E849-72F2-C826-DA9FCE8E44A5}"/>
              </a:ext>
            </a:extLst>
          </p:cNvPr>
          <p:cNvSpPr>
            <a:spLocks noGrp="1"/>
          </p:cNvSpPr>
          <p:nvPr>
            <p:ph type="title"/>
          </p:nvPr>
        </p:nvSpPr>
        <p:spPr/>
        <p:txBody>
          <a:bodyPr>
            <a:normAutofit/>
          </a:bodyPr>
          <a:lstStyle/>
          <a:p>
            <a:r>
              <a:rPr lang="en-US" sz="1800" b="1" dirty="0"/>
              <a:t>Fig. 4. </a:t>
            </a:r>
            <a:r>
              <a:rPr lang="en-US" sz="1800" dirty="0"/>
              <a:t>NMDS ordination of larval fish samples. Points represent samples and are colored by cluster assignment. Colored polygons encompass all samples assigned to each cluster. Arrows indicate the direction of increasing values and relative strength of post hoc associations between spatiotemporal covariates and the NMDS ordination space.</a:t>
            </a:r>
          </a:p>
        </p:txBody>
      </p:sp>
      <p:pic>
        <p:nvPicPr>
          <p:cNvPr id="4" name="Picture 3">
            <a:extLst>
              <a:ext uri="{FF2B5EF4-FFF2-40B4-BE49-F238E27FC236}">
                <a16:creationId xmlns:a16="http://schemas.microsoft.com/office/drawing/2014/main" id="{505DB7AE-32B4-0DD1-7939-4F0FDCAD4E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78881" y="1690688"/>
            <a:ext cx="7234237" cy="5167312"/>
          </a:xfrm>
          <a:prstGeom prst="rect">
            <a:avLst/>
          </a:prstGeom>
        </p:spPr>
      </p:pic>
    </p:spTree>
    <p:extLst>
      <p:ext uri="{BB962C8B-B14F-4D97-AF65-F5344CB8AC3E}">
        <p14:creationId xmlns:p14="http://schemas.microsoft.com/office/powerpoint/2010/main" val="27813850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E81EF6B-92EC-B3CD-A47F-0B7CC9B85E45}"/>
              </a:ext>
            </a:extLst>
          </p:cNvPr>
          <p:cNvGraphicFramePr>
            <a:graphicFrameLocks noGrp="1"/>
          </p:cNvGraphicFramePr>
          <p:nvPr>
            <p:extLst>
              <p:ext uri="{D42A27DB-BD31-4B8C-83A1-F6EECF244321}">
                <p14:modId xmlns:p14="http://schemas.microsoft.com/office/powerpoint/2010/main" val="1699974126"/>
              </p:ext>
            </p:extLst>
          </p:nvPr>
        </p:nvGraphicFramePr>
        <p:xfrm>
          <a:off x="302755" y="1067386"/>
          <a:ext cx="8627532" cy="1394567"/>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2178007675"/>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err="1"/>
                        <a:t>dbRDA</a:t>
                      </a:r>
                      <a:r>
                        <a:rPr lang="en-US" sz="1600" b="1" dirty="0"/>
                        <a:t> model</a:t>
                      </a:r>
                    </a:p>
                  </a:txBody>
                  <a:tcPr/>
                </a:tc>
                <a:tc>
                  <a:txBody>
                    <a:bodyPr/>
                    <a:lstStyle/>
                    <a:p>
                      <a:r>
                        <a:rPr lang="en-US" sz="1600" b="1" dirty="0"/>
                        <a:t>R</a:t>
                      </a:r>
                      <a:r>
                        <a:rPr lang="en-US" sz="1600" b="1" baseline="30000" dirty="0"/>
                        <a:t>2</a:t>
                      </a:r>
                      <a:endParaRPr lang="en-US" sz="1600" b="1" dirty="0"/>
                    </a:p>
                  </a:txBody>
                  <a:tcPr/>
                </a:tc>
                <a:tc>
                  <a:txBody>
                    <a:bodyPr/>
                    <a:lstStyle/>
                    <a:p>
                      <a:r>
                        <a:rPr lang="en-US" sz="1600" b="1" dirty="0"/>
                        <a:t>Adj. R</a:t>
                      </a:r>
                      <a:r>
                        <a:rPr lang="en-US" sz="1600" b="1" baseline="30000" dirty="0"/>
                        <a:t>2</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0.10</a:t>
                      </a:r>
                    </a:p>
                  </a:txBody>
                  <a:tcPr/>
                </a:tc>
                <a:tc>
                  <a:txBody>
                    <a:bodyPr/>
                    <a:lstStyle/>
                    <a:p>
                      <a:r>
                        <a:rPr lang="en-US" sz="1600" dirty="0"/>
                        <a:t>0.07</a:t>
                      </a:r>
                    </a:p>
                  </a:txBody>
                  <a:tcPr/>
                </a:tc>
                <a:tc>
                  <a:txBody>
                    <a:bodyPr/>
                    <a:lstStyle/>
                    <a:p>
                      <a:r>
                        <a:rPr lang="en-US" sz="1600" dirty="0"/>
                        <a:t>3.04</a:t>
                      </a:r>
                    </a:p>
                  </a:txBody>
                  <a:tcPr/>
                </a:tc>
                <a:tc>
                  <a:txBody>
                    <a:bodyPr/>
                    <a:lstStyle/>
                    <a:p>
                      <a:r>
                        <a:rPr lang="en-US" sz="1600" dirty="0"/>
                        <a:t>0.001</a:t>
                      </a:r>
                    </a:p>
                  </a:txBody>
                  <a:tcPr/>
                </a:tc>
                <a:extLst>
                  <a:ext uri="{0D108BD9-81ED-4DB2-BD59-A6C34878D82A}">
                    <a16:rowId xmlns:a16="http://schemas.microsoft.com/office/drawing/2014/main" val="3145787672"/>
                  </a:ext>
                </a:extLst>
              </a:tr>
              <a:tr h="652887">
                <a:tc>
                  <a:txBody>
                    <a:bodyPr/>
                    <a:lstStyle/>
                    <a:p>
                      <a:r>
                        <a:rPr lang="en-US" sz="1600" dirty="0"/>
                        <a:t>Spatiotemporal</a:t>
                      </a:r>
                      <a:r>
                        <a:rPr lang="en-US" sz="1600" baseline="0" dirty="0"/>
                        <a:t> + environmental </a:t>
                      </a:r>
                      <a:endParaRPr lang="en-US" sz="1600" dirty="0"/>
                    </a:p>
                  </a:txBody>
                  <a:tcPr/>
                </a:tc>
                <a:tc>
                  <a:txBody>
                    <a:bodyPr/>
                    <a:lstStyle/>
                    <a:p>
                      <a:r>
                        <a:rPr lang="en-US" sz="1600" i="0" dirty="0"/>
                        <a:t>0.13</a:t>
                      </a:r>
                    </a:p>
                  </a:txBody>
                  <a:tcPr/>
                </a:tc>
                <a:tc>
                  <a:txBody>
                    <a:bodyPr/>
                    <a:lstStyle/>
                    <a:p>
                      <a:r>
                        <a:rPr lang="en-US" sz="1600" i="0" dirty="0"/>
                        <a:t>0.08</a:t>
                      </a:r>
                    </a:p>
                  </a:txBody>
                  <a:tcPr/>
                </a:tc>
                <a:tc>
                  <a:txBody>
                    <a:bodyPr/>
                    <a:lstStyle/>
                    <a:p>
                      <a:r>
                        <a:rPr lang="en-US" sz="1600" i="0" dirty="0"/>
                        <a:t>2.56</a:t>
                      </a:r>
                    </a:p>
                  </a:txBody>
                  <a:tcPr/>
                </a:tc>
                <a:tc>
                  <a:txBody>
                    <a:bodyPr/>
                    <a:lstStyle/>
                    <a:p>
                      <a:r>
                        <a:rPr lang="en-US" sz="1600" dirty="0"/>
                        <a:t>0.001</a:t>
                      </a:r>
                    </a:p>
                  </a:txBody>
                  <a:tcPr/>
                </a:tc>
                <a:extLst>
                  <a:ext uri="{0D108BD9-81ED-4DB2-BD59-A6C34878D82A}">
                    <a16:rowId xmlns:a16="http://schemas.microsoft.com/office/drawing/2014/main" val="1892644640"/>
                  </a:ext>
                </a:extLst>
              </a:tr>
            </a:tbl>
          </a:graphicData>
        </a:graphic>
      </p:graphicFrame>
      <p:graphicFrame>
        <p:nvGraphicFramePr>
          <p:cNvPr id="6" name="Table 5">
            <a:extLst>
              <a:ext uri="{FF2B5EF4-FFF2-40B4-BE49-F238E27FC236}">
                <a16:creationId xmlns:a16="http://schemas.microsoft.com/office/drawing/2014/main" id="{960F6F38-9597-84E5-D544-D833084D2F03}"/>
              </a:ext>
            </a:extLst>
          </p:cNvPr>
          <p:cNvGraphicFramePr>
            <a:graphicFrameLocks noGrp="1"/>
          </p:cNvGraphicFramePr>
          <p:nvPr>
            <p:extLst>
              <p:ext uri="{D42A27DB-BD31-4B8C-83A1-F6EECF244321}">
                <p14:modId xmlns:p14="http://schemas.microsoft.com/office/powerpoint/2010/main" val="4095774315"/>
              </p:ext>
            </p:extLst>
          </p:nvPr>
        </p:nvGraphicFramePr>
        <p:xfrm>
          <a:off x="302755" y="2774852"/>
          <a:ext cx="6855800" cy="370840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a:t>Model term</a:t>
                      </a:r>
                    </a:p>
                  </a:txBody>
                  <a:tcPr/>
                </a:tc>
                <a:tc>
                  <a:txBody>
                    <a:bodyPr/>
                    <a:lstStyle/>
                    <a:p>
                      <a:r>
                        <a:rPr lang="en-US" sz="1600" b="1" dirty="0" err="1"/>
                        <a:t>Df</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Year</a:t>
                      </a:r>
                    </a:p>
                  </a:txBody>
                  <a:tcPr/>
                </a:tc>
                <a:tc>
                  <a:txBody>
                    <a:bodyPr/>
                    <a:lstStyle/>
                    <a:p>
                      <a:r>
                        <a:rPr lang="en-US" sz="1600" dirty="0"/>
                        <a:t>3</a:t>
                      </a:r>
                    </a:p>
                  </a:txBody>
                  <a:tcPr/>
                </a:tc>
                <a:tc>
                  <a:txBody>
                    <a:bodyPr/>
                    <a:lstStyle/>
                    <a:p>
                      <a:r>
                        <a:rPr lang="en-US" sz="1600" dirty="0"/>
                        <a:t>1.88</a:t>
                      </a:r>
                    </a:p>
                  </a:txBody>
                  <a:tcPr/>
                </a:tc>
                <a:tc>
                  <a:txBody>
                    <a:bodyPr/>
                    <a:lstStyle/>
                    <a:p>
                      <a:r>
                        <a:rPr lang="en-US" sz="1600" dirty="0"/>
                        <a:t>0.001</a:t>
                      </a:r>
                    </a:p>
                  </a:txBody>
                  <a:tcPr/>
                </a:tc>
                <a:extLst>
                  <a:ext uri="{0D108BD9-81ED-4DB2-BD59-A6C34878D82A}">
                    <a16:rowId xmlns:a16="http://schemas.microsoft.com/office/drawing/2014/main" val="3145787672"/>
                  </a:ext>
                </a:extLst>
              </a:tr>
              <a:tr h="370840">
                <a:tc>
                  <a:txBody>
                    <a:bodyPr/>
                    <a:lstStyle/>
                    <a:p>
                      <a:r>
                        <a:rPr lang="en-US" sz="1600" dirty="0"/>
                        <a:t>Daytime</a:t>
                      </a:r>
                    </a:p>
                  </a:txBody>
                  <a:tcPr/>
                </a:tc>
                <a:tc>
                  <a:txBody>
                    <a:bodyPr/>
                    <a:lstStyle/>
                    <a:p>
                      <a:r>
                        <a:rPr lang="en-US" sz="1600" dirty="0"/>
                        <a:t>1</a:t>
                      </a:r>
                    </a:p>
                  </a:txBody>
                  <a:tcPr/>
                </a:tc>
                <a:tc>
                  <a:txBody>
                    <a:bodyPr/>
                    <a:lstStyle/>
                    <a:p>
                      <a:r>
                        <a:rPr lang="en-US" sz="1600" dirty="0"/>
                        <a:t>1.39</a:t>
                      </a:r>
                    </a:p>
                  </a:txBody>
                  <a:tcPr/>
                </a:tc>
                <a:tc>
                  <a:txBody>
                    <a:bodyPr/>
                    <a:lstStyle/>
                    <a:p>
                      <a:r>
                        <a:rPr lang="en-US" sz="1600" dirty="0"/>
                        <a:t>0.020</a:t>
                      </a:r>
                    </a:p>
                  </a:txBody>
                  <a:tcPr/>
                </a:tc>
                <a:extLst>
                  <a:ext uri="{0D108BD9-81ED-4DB2-BD59-A6C34878D82A}">
                    <a16:rowId xmlns:a16="http://schemas.microsoft.com/office/drawing/2014/main" val="1902562398"/>
                  </a:ext>
                </a:extLst>
              </a:tr>
              <a:tr h="370840">
                <a:tc>
                  <a:txBody>
                    <a:bodyPr/>
                    <a:lstStyle/>
                    <a:p>
                      <a:r>
                        <a:rPr lang="en-US" sz="1600" dirty="0"/>
                        <a:t>Latitude</a:t>
                      </a:r>
                    </a:p>
                  </a:txBody>
                  <a:tcPr/>
                </a:tc>
                <a:tc>
                  <a:txBody>
                    <a:bodyPr/>
                    <a:lstStyle/>
                    <a:p>
                      <a:r>
                        <a:rPr lang="en-US" sz="1600" dirty="0"/>
                        <a:t>1</a:t>
                      </a:r>
                    </a:p>
                  </a:txBody>
                  <a:tcPr/>
                </a:tc>
                <a:tc>
                  <a:txBody>
                    <a:bodyPr/>
                    <a:lstStyle/>
                    <a:p>
                      <a:r>
                        <a:rPr lang="en-US" sz="1600" dirty="0"/>
                        <a:t>2.49</a:t>
                      </a:r>
                    </a:p>
                  </a:txBody>
                  <a:tcPr/>
                </a:tc>
                <a:tc>
                  <a:txBody>
                    <a:bodyPr/>
                    <a:lstStyle/>
                    <a:p>
                      <a:r>
                        <a:rPr lang="en-US" sz="1600" dirty="0"/>
                        <a:t>0.001</a:t>
                      </a:r>
                    </a:p>
                  </a:txBody>
                  <a:tcPr/>
                </a:tc>
                <a:extLst>
                  <a:ext uri="{0D108BD9-81ED-4DB2-BD59-A6C34878D82A}">
                    <a16:rowId xmlns:a16="http://schemas.microsoft.com/office/drawing/2014/main" val="2106028848"/>
                  </a:ext>
                </a:extLst>
              </a:tr>
              <a:tr h="370840">
                <a:tc>
                  <a:txBody>
                    <a:bodyPr/>
                    <a:lstStyle/>
                    <a:p>
                      <a:r>
                        <a:rPr lang="en-US" sz="1600" dirty="0"/>
                        <a:t>Mean tow depth</a:t>
                      </a:r>
                    </a:p>
                  </a:txBody>
                  <a:tcPr/>
                </a:tc>
                <a:tc>
                  <a:txBody>
                    <a:bodyPr/>
                    <a:lstStyle/>
                    <a:p>
                      <a:r>
                        <a:rPr lang="en-US" sz="1600" dirty="0"/>
                        <a:t>1</a:t>
                      </a:r>
                    </a:p>
                  </a:txBody>
                  <a:tcPr/>
                </a:tc>
                <a:tc>
                  <a:txBody>
                    <a:bodyPr/>
                    <a:lstStyle/>
                    <a:p>
                      <a:r>
                        <a:rPr lang="en-US" sz="1600" dirty="0"/>
                        <a:t>2.38</a:t>
                      </a:r>
                    </a:p>
                  </a:txBody>
                  <a:tcPr/>
                </a:tc>
                <a:tc>
                  <a:txBody>
                    <a:bodyPr/>
                    <a:lstStyle/>
                    <a:p>
                      <a:r>
                        <a:rPr lang="en-US" sz="1600" dirty="0"/>
                        <a:t>0.001</a:t>
                      </a:r>
                    </a:p>
                  </a:txBody>
                  <a:tcPr/>
                </a:tc>
                <a:extLst>
                  <a:ext uri="{0D108BD9-81ED-4DB2-BD59-A6C34878D82A}">
                    <a16:rowId xmlns:a16="http://schemas.microsoft.com/office/drawing/2014/main" val="3753500853"/>
                  </a:ext>
                </a:extLst>
              </a:tr>
              <a:tr h="370840">
                <a:tc>
                  <a:txBody>
                    <a:bodyPr/>
                    <a:lstStyle/>
                    <a:p>
                      <a:r>
                        <a:rPr lang="en-US" sz="1600" dirty="0"/>
                        <a:t>Seafloor depth</a:t>
                      </a:r>
                    </a:p>
                  </a:txBody>
                  <a:tcPr/>
                </a:tc>
                <a:tc>
                  <a:txBody>
                    <a:bodyPr/>
                    <a:lstStyle/>
                    <a:p>
                      <a:r>
                        <a:rPr lang="en-US" sz="1600" dirty="0"/>
                        <a:t>1</a:t>
                      </a:r>
                    </a:p>
                  </a:txBody>
                  <a:tcPr/>
                </a:tc>
                <a:tc>
                  <a:txBody>
                    <a:bodyPr/>
                    <a:lstStyle/>
                    <a:p>
                      <a:r>
                        <a:rPr lang="en-US" sz="1600" dirty="0"/>
                        <a:t>2.20</a:t>
                      </a:r>
                    </a:p>
                  </a:txBody>
                  <a:tcPr/>
                </a:tc>
                <a:tc>
                  <a:txBody>
                    <a:bodyPr/>
                    <a:lstStyle/>
                    <a:p>
                      <a:r>
                        <a:rPr lang="en-US" sz="1600" dirty="0"/>
                        <a:t>0.001</a:t>
                      </a:r>
                    </a:p>
                  </a:txBody>
                  <a:tcPr/>
                </a:tc>
                <a:extLst>
                  <a:ext uri="{0D108BD9-81ED-4DB2-BD59-A6C34878D82A}">
                    <a16:rowId xmlns:a16="http://schemas.microsoft.com/office/drawing/2014/main" val="490168775"/>
                  </a:ext>
                </a:extLst>
              </a:tr>
              <a:tr h="370840">
                <a:tc>
                  <a:txBody>
                    <a:bodyPr/>
                    <a:lstStyle/>
                    <a:p>
                      <a:r>
                        <a:rPr lang="en-US" sz="1600" dirty="0"/>
                        <a:t>Temperature</a:t>
                      </a:r>
                    </a:p>
                  </a:txBody>
                  <a:tcPr/>
                </a:tc>
                <a:tc>
                  <a:txBody>
                    <a:bodyPr/>
                    <a:lstStyle/>
                    <a:p>
                      <a:r>
                        <a:rPr lang="en-US" sz="1600" dirty="0"/>
                        <a:t>1</a:t>
                      </a:r>
                    </a:p>
                  </a:txBody>
                  <a:tcPr/>
                </a:tc>
                <a:tc>
                  <a:txBody>
                    <a:bodyPr/>
                    <a:lstStyle/>
                    <a:p>
                      <a:r>
                        <a:rPr lang="en-US" sz="1600" dirty="0"/>
                        <a:t>1.21</a:t>
                      </a:r>
                    </a:p>
                  </a:txBody>
                  <a:tcPr/>
                </a:tc>
                <a:tc>
                  <a:txBody>
                    <a:bodyPr/>
                    <a:lstStyle/>
                    <a:p>
                      <a:r>
                        <a:rPr lang="en-US" sz="1600" dirty="0"/>
                        <a:t>0.093</a:t>
                      </a:r>
                    </a:p>
                  </a:txBody>
                  <a:tcPr/>
                </a:tc>
                <a:extLst>
                  <a:ext uri="{0D108BD9-81ED-4DB2-BD59-A6C34878D82A}">
                    <a16:rowId xmlns:a16="http://schemas.microsoft.com/office/drawing/2014/main" val="761281110"/>
                  </a:ext>
                </a:extLst>
              </a:tr>
              <a:tr h="370840">
                <a:tc>
                  <a:txBody>
                    <a:bodyPr/>
                    <a:lstStyle/>
                    <a:p>
                      <a:r>
                        <a:rPr lang="en-US" sz="1600" dirty="0"/>
                        <a:t>Salinity</a:t>
                      </a:r>
                    </a:p>
                  </a:txBody>
                  <a:tcPr/>
                </a:tc>
                <a:tc>
                  <a:txBody>
                    <a:bodyPr/>
                    <a:lstStyle/>
                    <a:p>
                      <a:r>
                        <a:rPr lang="en-US" sz="1600" dirty="0"/>
                        <a:t>1</a:t>
                      </a:r>
                    </a:p>
                  </a:txBody>
                  <a:tcPr/>
                </a:tc>
                <a:tc>
                  <a:txBody>
                    <a:bodyPr/>
                    <a:lstStyle/>
                    <a:p>
                      <a:r>
                        <a:rPr lang="en-US" sz="1600" dirty="0"/>
                        <a:t>1.36</a:t>
                      </a:r>
                    </a:p>
                  </a:txBody>
                  <a:tcPr/>
                </a:tc>
                <a:tc>
                  <a:txBody>
                    <a:bodyPr/>
                    <a:lstStyle/>
                    <a:p>
                      <a:r>
                        <a:rPr lang="en-US" sz="1600" dirty="0"/>
                        <a:t>0.020</a:t>
                      </a:r>
                    </a:p>
                  </a:txBody>
                  <a:tcPr/>
                </a:tc>
                <a:extLst>
                  <a:ext uri="{0D108BD9-81ED-4DB2-BD59-A6C34878D82A}">
                    <a16:rowId xmlns:a16="http://schemas.microsoft.com/office/drawing/2014/main" val="3148699751"/>
                  </a:ext>
                </a:extLst>
              </a:tr>
              <a:tr h="370840">
                <a:tc>
                  <a:txBody>
                    <a:bodyPr/>
                    <a:lstStyle/>
                    <a:p>
                      <a:r>
                        <a:rPr lang="en-US" sz="1600" dirty="0"/>
                        <a:t>Dissolved oxygen</a:t>
                      </a:r>
                    </a:p>
                  </a:txBody>
                  <a:tcPr/>
                </a:tc>
                <a:tc>
                  <a:txBody>
                    <a:bodyPr/>
                    <a:lstStyle/>
                    <a:p>
                      <a:r>
                        <a:rPr lang="en-US" sz="1600" dirty="0"/>
                        <a:t>1</a:t>
                      </a:r>
                    </a:p>
                  </a:txBody>
                  <a:tcPr/>
                </a:tc>
                <a:tc>
                  <a:txBody>
                    <a:bodyPr/>
                    <a:lstStyle/>
                    <a:p>
                      <a:r>
                        <a:rPr lang="en-US" sz="1600" dirty="0"/>
                        <a:t>1.95</a:t>
                      </a:r>
                    </a:p>
                  </a:txBody>
                  <a:tcPr/>
                </a:tc>
                <a:tc>
                  <a:txBody>
                    <a:bodyPr/>
                    <a:lstStyle/>
                    <a:p>
                      <a:r>
                        <a:rPr lang="en-US" sz="1600" dirty="0"/>
                        <a:t>0.001</a:t>
                      </a:r>
                    </a:p>
                  </a:txBody>
                  <a:tcPr/>
                </a:tc>
                <a:extLst>
                  <a:ext uri="{0D108BD9-81ED-4DB2-BD59-A6C34878D82A}">
                    <a16:rowId xmlns:a16="http://schemas.microsoft.com/office/drawing/2014/main" val="4235185002"/>
                  </a:ext>
                </a:extLst>
              </a:tr>
              <a:tr h="370840">
                <a:tc>
                  <a:txBody>
                    <a:bodyPr/>
                    <a:lstStyle/>
                    <a:p>
                      <a:r>
                        <a:rPr lang="en-US" sz="1600" dirty="0"/>
                        <a:t>Chlorophyll</a:t>
                      </a:r>
                    </a:p>
                  </a:txBody>
                  <a:tcPr/>
                </a:tc>
                <a:tc>
                  <a:txBody>
                    <a:bodyPr/>
                    <a:lstStyle/>
                    <a:p>
                      <a:r>
                        <a:rPr lang="en-US" sz="1600" dirty="0"/>
                        <a:t>1</a:t>
                      </a:r>
                    </a:p>
                  </a:txBody>
                  <a:tcPr/>
                </a:tc>
                <a:tc>
                  <a:txBody>
                    <a:bodyPr/>
                    <a:lstStyle/>
                    <a:p>
                      <a:r>
                        <a:rPr lang="en-US" sz="1600" dirty="0"/>
                        <a:t>2.12</a:t>
                      </a:r>
                    </a:p>
                  </a:txBody>
                  <a:tcPr/>
                </a:tc>
                <a:tc>
                  <a:txBody>
                    <a:bodyPr/>
                    <a:lstStyle/>
                    <a:p>
                      <a:r>
                        <a:rPr lang="en-US" sz="1600" dirty="0"/>
                        <a:t>0.001</a:t>
                      </a:r>
                    </a:p>
                  </a:txBody>
                  <a:tcPr/>
                </a:tc>
                <a:extLst>
                  <a:ext uri="{0D108BD9-81ED-4DB2-BD59-A6C34878D82A}">
                    <a16:rowId xmlns:a16="http://schemas.microsoft.com/office/drawing/2014/main" val="3596044027"/>
                  </a:ext>
                </a:extLst>
              </a:tr>
            </a:tbl>
          </a:graphicData>
        </a:graphic>
      </p:graphicFrame>
      <p:graphicFrame>
        <p:nvGraphicFramePr>
          <p:cNvPr id="8" name="Table 7">
            <a:extLst>
              <a:ext uri="{FF2B5EF4-FFF2-40B4-BE49-F238E27FC236}">
                <a16:creationId xmlns:a16="http://schemas.microsoft.com/office/drawing/2014/main" id="{14369AA0-D52E-A147-85E5-A4560D548AE6}"/>
              </a:ext>
            </a:extLst>
          </p:cNvPr>
          <p:cNvGraphicFramePr>
            <a:graphicFrameLocks noGrp="1"/>
          </p:cNvGraphicFramePr>
          <p:nvPr>
            <p:extLst>
              <p:ext uri="{D42A27DB-BD31-4B8C-83A1-F6EECF244321}">
                <p14:modId xmlns:p14="http://schemas.microsoft.com/office/powerpoint/2010/main" val="1535789234"/>
              </p:ext>
            </p:extLst>
          </p:nvPr>
        </p:nvGraphicFramePr>
        <p:xfrm>
          <a:off x="7737681" y="3898983"/>
          <a:ext cx="3555890" cy="169164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tblGrid>
              <a:tr h="370840">
                <a:tc>
                  <a:txBody>
                    <a:bodyPr/>
                    <a:lstStyle/>
                    <a:p>
                      <a:r>
                        <a:rPr lang="en-US" sz="1600" b="1" dirty="0"/>
                        <a:t>Model component</a:t>
                      </a:r>
                    </a:p>
                  </a:txBody>
                  <a:tcPr/>
                </a:tc>
                <a:tc>
                  <a:txBody>
                    <a:bodyPr/>
                    <a:lstStyle/>
                    <a:p>
                      <a:r>
                        <a:rPr lang="en-US" sz="1600" b="1" dirty="0"/>
                        <a:t>Variance explained</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0.0404</a:t>
                      </a:r>
                    </a:p>
                  </a:txBody>
                  <a:tcPr/>
                </a:tc>
                <a:extLst>
                  <a:ext uri="{0D108BD9-81ED-4DB2-BD59-A6C34878D82A}">
                    <a16:rowId xmlns:a16="http://schemas.microsoft.com/office/drawing/2014/main" val="3145787672"/>
                  </a:ext>
                </a:extLst>
              </a:tr>
              <a:tr h="370840">
                <a:tc>
                  <a:txBody>
                    <a:bodyPr/>
                    <a:lstStyle/>
                    <a:p>
                      <a:r>
                        <a:rPr lang="en-US" sz="1600" dirty="0"/>
                        <a:t>Environmental</a:t>
                      </a:r>
                    </a:p>
                  </a:txBody>
                  <a:tcPr/>
                </a:tc>
                <a:tc>
                  <a:txBody>
                    <a:bodyPr/>
                    <a:lstStyle/>
                    <a:p>
                      <a:r>
                        <a:rPr lang="en-US" sz="1600" dirty="0"/>
                        <a:t>0.0141</a:t>
                      </a:r>
                    </a:p>
                  </a:txBody>
                  <a:tcPr/>
                </a:tc>
                <a:extLst>
                  <a:ext uri="{0D108BD9-81ED-4DB2-BD59-A6C34878D82A}">
                    <a16:rowId xmlns:a16="http://schemas.microsoft.com/office/drawing/2014/main" val="1562106180"/>
                  </a:ext>
                </a:extLst>
              </a:tr>
              <a:tr h="370840">
                <a:tc>
                  <a:txBody>
                    <a:bodyPr/>
                    <a:lstStyle/>
                    <a:p>
                      <a:r>
                        <a:rPr lang="en-US" sz="1600" dirty="0"/>
                        <a:t>Shared</a:t>
                      </a:r>
                    </a:p>
                  </a:txBody>
                  <a:tcPr/>
                </a:tc>
                <a:tc>
                  <a:txBody>
                    <a:bodyPr/>
                    <a:lstStyle/>
                    <a:p>
                      <a:r>
                        <a:rPr lang="en-US" sz="1600" dirty="0"/>
                        <a:t>0.0269</a:t>
                      </a:r>
                    </a:p>
                  </a:txBody>
                  <a:tcPr/>
                </a:tc>
                <a:extLst>
                  <a:ext uri="{0D108BD9-81ED-4DB2-BD59-A6C34878D82A}">
                    <a16:rowId xmlns:a16="http://schemas.microsoft.com/office/drawing/2014/main" val="2651729687"/>
                  </a:ext>
                </a:extLst>
              </a:tr>
            </a:tbl>
          </a:graphicData>
        </a:graphic>
      </p:graphicFrame>
      <p:sp>
        <p:nvSpPr>
          <p:cNvPr id="2" name="TextBox 1">
            <a:extLst>
              <a:ext uri="{FF2B5EF4-FFF2-40B4-BE49-F238E27FC236}">
                <a16:creationId xmlns:a16="http://schemas.microsoft.com/office/drawing/2014/main" id="{F86E690F-BB73-622C-E92D-89C30BD147D1}"/>
              </a:ext>
            </a:extLst>
          </p:cNvPr>
          <p:cNvSpPr txBox="1"/>
          <p:nvPr/>
        </p:nvSpPr>
        <p:spPr>
          <a:xfrm>
            <a:off x="745671" y="374748"/>
            <a:ext cx="10700658" cy="369332"/>
          </a:xfrm>
          <a:prstGeom prst="rect">
            <a:avLst/>
          </a:prstGeom>
          <a:noFill/>
        </p:spPr>
        <p:txBody>
          <a:bodyPr wrap="square" rtlCol="0">
            <a:spAutoFit/>
          </a:bodyPr>
          <a:lstStyle/>
          <a:p>
            <a:r>
              <a:rPr lang="en-US" dirty="0" err="1"/>
              <a:t>dbRDA</a:t>
            </a:r>
            <a:r>
              <a:rPr lang="en-US" dirty="0"/>
              <a:t> results (won’t be included in manuscript in table form)</a:t>
            </a:r>
          </a:p>
        </p:txBody>
      </p:sp>
    </p:spTree>
    <p:extLst>
      <p:ext uri="{BB962C8B-B14F-4D97-AF65-F5344CB8AC3E}">
        <p14:creationId xmlns:p14="http://schemas.microsoft.com/office/powerpoint/2010/main" val="7004495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283123-BEF6-5219-184A-38E95D8112A4}"/>
              </a:ext>
            </a:extLst>
          </p:cNvPr>
          <p:cNvSpPr>
            <a:spLocks noGrp="1"/>
          </p:cNvSpPr>
          <p:nvPr>
            <p:ph type="title"/>
          </p:nvPr>
        </p:nvSpPr>
        <p:spPr/>
        <p:txBody>
          <a:bodyPr>
            <a:normAutofit/>
          </a:bodyPr>
          <a:lstStyle/>
          <a:p>
            <a:r>
              <a:rPr lang="en-US" sz="1800" b="1" dirty="0"/>
              <a:t>Fig. 5.</a:t>
            </a:r>
            <a:r>
              <a:rPr lang="en-US" sz="1800" dirty="0"/>
              <a:t> </a:t>
            </a:r>
            <a:r>
              <a:rPr lang="en-US" sz="1800" dirty="0" err="1"/>
              <a:t>dbRDA</a:t>
            </a:r>
            <a:r>
              <a:rPr lang="en-US" sz="1800" dirty="0"/>
              <a:t> ordination of larval fish samples. Points represent samples and are colored by cluster assignment. Colored polygons encompass all samples assigned to each cluster. Arrows indicate the direction and relative strength of associations between covariates and the constrained ordination axes.</a:t>
            </a:r>
          </a:p>
        </p:txBody>
      </p:sp>
      <p:pic>
        <p:nvPicPr>
          <p:cNvPr id="4" name="Picture 3">
            <a:extLst>
              <a:ext uri="{FF2B5EF4-FFF2-40B4-BE49-F238E27FC236}">
                <a16:creationId xmlns:a16="http://schemas.microsoft.com/office/drawing/2014/main" id="{A20AA7C5-2BE5-EC28-81CC-CC4F01F5B5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78881" y="1690688"/>
            <a:ext cx="7234237" cy="5167312"/>
          </a:xfrm>
          <a:prstGeom prst="rect">
            <a:avLst/>
          </a:prstGeom>
        </p:spPr>
      </p:pic>
    </p:spTree>
    <p:extLst>
      <p:ext uri="{BB962C8B-B14F-4D97-AF65-F5344CB8AC3E}">
        <p14:creationId xmlns:p14="http://schemas.microsoft.com/office/powerpoint/2010/main" val="4248385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1398-12A7-8097-E1FA-2E52522EFB2F}"/>
              </a:ext>
            </a:extLst>
          </p:cNvPr>
          <p:cNvSpPr>
            <a:spLocks noGrp="1"/>
          </p:cNvSpPr>
          <p:nvPr>
            <p:ph type="title"/>
          </p:nvPr>
        </p:nvSpPr>
        <p:spPr/>
        <p:txBody>
          <a:bodyPr/>
          <a:lstStyle/>
          <a:p>
            <a:r>
              <a:rPr lang="en-US" dirty="0"/>
              <a:t>Fig. 6. Effect plots for each taxon from vertical position model</a:t>
            </a:r>
          </a:p>
        </p:txBody>
      </p:sp>
      <p:sp>
        <p:nvSpPr>
          <p:cNvPr id="3" name="Content Placeholder 2">
            <a:extLst>
              <a:ext uri="{FF2B5EF4-FFF2-40B4-BE49-F238E27FC236}">
                <a16:creationId xmlns:a16="http://schemas.microsoft.com/office/drawing/2014/main" id="{8F6F819C-97CA-18C4-FD21-F38A9C7319C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6284246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E62EC-21AD-8D3E-7604-956FE891D1E8}"/>
              </a:ext>
            </a:extLst>
          </p:cNvPr>
          <p:cNvSpPr>
            <a:spLocks noGrp="1"/>
          </p:cNvSpPr>
          <p:nvPr>
            <p:ph type="title"/>
          </p:nvPr>
        </p:nvSpPr>
        <p:spPr/>
        <p:txBody>
          <a:bodyPr/>
          <a:lstStyle/>
          <a:p>
            <a:r>
              <a:rPr lang="en-US" dirty="0"/>
              <a:t>Fig. S1. Dendrogram</a:t>
            </a:r>
          </a:p>
        </p:txBody>
      </p:sp>
      <p:pic>
        <p:nvPicPr>
          <p:cNvPr id="5" name="Picture 4">
            <a:extLst>
              <a:ext uri="{FF2B5EF4-FFF2-40B4-BE49-F238E27FC236}">
                <a16:creationId xmlns:a16="http://schemas.microsoft.com/office/drawing/2014/main" id="{9CB95630-CC35-AFAF-2F32-D3C3D71F3C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589" y="1371589"/>
            <a:ext cx="10972822" cy="5486411"/>
          </a:xfrm>
          <a:prstGeom prst="rect">
            <a:avLst/>
          </a:prstGeom>
        </p:spPr>
      </p:pic>
    </p:spTree>
    <p:extLst>
      <p:ext uri="{BB962C8B-B14F-4D97-AF65-F5344CB8AC3E}">
        <p14:creationId xmlns:p14="http://schemas.microsoft.com/office/powerpoint/2010/main" val="38736420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4360E0-E560-A35B-8217-840673FD100C}"/>
              </a:ext>
            </a:extLst>
          </p:cNvPr>
          <p:cNvSpPr>
            <a:spLocks noGrp="1"/>
          </p:cNvSpPr>
          <p:nvPr>
            <p:ph type="title"/>
          </p:nvPr>
        </p:nvSpPr>
        <p:spPr/>
        <p:txBody>
          <a:bodyPr/>
          <a:lstStyle/>
          <a:p>
            <a:r>
              <a:rPr lang="en-US" dirty="0"/>
              <a:t>Fig. S2. Scatterplot of vertical position by taxon</a:t>
            </a:r>
          </a:p>
        </p:txBody>
      </p:sp>
      <p:sp>
        <p:nvSpPr>
          <p:cNvPr id="3" name="Content Placeholder 2">
            <a:extLst>
              <a:ext uri="{FF2B5EF4-FFF2-40B4-BE49-F238E27FC236}">
                <a16:creationId xmlns:a16="http://schemas.microsoft.com/office/drawing/2014/main" id="{A3C538C8-9529-D672-5482-9F5B3306E68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2408701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A5EF60-05CD-4063-EA5E-3D2BEED307E2}"/>
              </a:ext>
            </a:extLst>
          </p:cNvPr>
          <p:cNvSpPr>
            <a:spLocks noGrp="1"/>
          </p:cNvSpPr>
          <p:nvPr>
            <p:ph type="title"/>
          </p:nvPr>
        </p:nvSpPr>
        <p:spPr/>
        <p:txBody>
          <a:bodyPr/>
          <a:lstStyle/>
          <a:p>
            <a:r>
              <a:rPr lang="en-US" dirty="0"/>
              <a:t>Table S1. Single-taxon model results</a:t>
            </a:r>
          </a:p>
        </p:txBody>
      </p:sp>
      <p:sp>
        <p:nvSpPr>
          <p:cNvPr id="3" name="Content Placeholder 2">
            <a:extLst>
              <a:ext uri="{FF2B5EF4-FFF2-40B4-BE49-F238E27FC236}">
                <a16:creationId xmlns:a16="http://schemas.microsoft.com/office/drawing/2014/main" id="{D1850EFD-E31D-D7A0-03EA-9503892FEB4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5420445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2765</TotalTime>
  <Words>483</Words>
  <Application>Microsoft Office PowerPoint</Application>
  <PresentationFormat>Widescreen</PresentationFormat>
  <Paragraphs>106</Paragraphs>
  <Slides>13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Aptos Display</vt:lpstr>
      <vt:lpstr>Arial</vt:lpstr>
      <vt:lpstr>Office Theme</vt:lpstr>
      <vt:lpstr>Figures made using final data set</vt:lpstr>
      <vt:lpstr>Fig. 1. Locations sampled during each year and sampling replicate. Symbols indicate year.</vt:lpstr>
      <vt:lpstr>Table 1. Taxa associated with each cluster as determined using indicator taxa analysis. Taxa are listed in order of summed abundance within each cluster.</vt:lpstr>
      <vt:lpstr>Fig. 2a. Proportion of taxa in samples assigned to each cluster. Colors correspond to coarse habitat affinity and taxonomic groups: mesopelagics (purples), pleuronectiformes (oranges), perciformes (blues), and other coastal taxa (greens).</vt:lpstr>
      <vt:lpstr>Fig. 2b. Concentration of taxa in samples assigned to each cluster in each year.</vt:lpstr>
      <vt:lpstr>Fig. 3. Collection locations of samples assigned to each cluster, separated by sampling replicate. Panel titles indicate the year and, for 2018 and 2019, whether collection took place primarily during day (D) or night (N) and the sampling replicate number. Circle colors indicate the cluster each sample was assigned to and translucence indicates mean sampling depth of the net tow each sample was collected in. “X”s indicate net tows in which fewer than 10 fish larvae or no larvae belonging to taxa present in &gt; 5% of net tows were collected.</vt:lpstr>
      <vt:lpstr>Fig. 4. NMDS ordination of larval fish samples. Points represent samples and are colored by cluster assignment. Colored polygons encompass all samples assigned to each cluster. Arrows indicate the direction of increasing values and relative strength of post hoc associations between spatiotemporal covariates and the NMDS ordination space.</vt:lpstr>
      <vt:lpstr>PowerPoint Presentation</vt:lpstr>
      <vt:lpstr>Fig. 5. dbRDA ordination of larval fish samples. Points represent samples and are colored by cluster assignment. Colored polygons encompass all samples assigned to each cluster. Arrows indicate the direction and relative strength of associations between covariates and the constrained ordination axes.</vt:lpstr>
      <vt:lpstr>Fig. 6. Effect plots for each taxon from vertical position model</vt:lpstr>
      <vt:lpstr>Fig. S1. Dendrogram</vt:lpstr>
      <vt:lpstr>Fig. S2. Scatterplot of vertical position by taxon</vt:lpstr>
      <vt:lpstr>Table S1. Single-taxon model results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Bobay, Luke Andrew</dc:creator>
  <cp:lastModifiedBy>Bobay, Luke Andrew</cp:lastModifiedBy>
  <cp:revision>11</cp:revision>
  <dcterms:created xsi:type="dcterms:W3CDTF">2026-08-12T08:12:03Z</dcterms:created>
  <dcterms:modified xsi:type="dcterms:W3CDTF">2026-08-14T13:49:32Z</dcterms:modified>
</cp:coreProperties>
</file>