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modernComment_121_CA7AF24E.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9" r:id="rId3"/>
    <p:sldId id="266" r:id="rId4"/>
    <p:sldId id="259" r:id="rId5"/>
    <p:sldId id="290" r:id="rId6"/>
    <p:sldId id="263" r:id="rId7"/>
    <p:sldId id="261" r:id="rId8"/>
    <p:sldId id="285" r:id="rId9"/>
    <p:sldId id="262" r:id="rId10"/>
    <p:sldId id="264" r:id="rId11"/>
    <p:sldId id="288" r:id="rId12"/>
    <p:sldId id="287" r:id="rId13"/>
    <p:sldId id="260" r:id="rId14"/>
    <p:sldId id="258" r:id="rId15"/>
    <p:sldId id="286"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FD40F21-D16F-913E-F6A3-417C7EBBEA4C}" name="McCloskey, Ross" initials="RM" userId="S::mccloskw@oregonstate.edu::b1990487-ee44-4922-b58f-5b2980a02730" providerId="AD"/>
  <p188:author id="{58A79AF3-4AA9-6BD6-8246-7CA6D5AD80B3}" name="Bobay, Luke Andrew" initials="LB" userId="S::bobayl@oregonstate.edu::51702319-4e48-496d-9001-3f54d6daf042"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173" autoAdjust="0"/>
    <p:restoredTop sz="94660"/>
  </p:normalViewPr>
  <p:slideViewPr>
    <p:cSldViewPr snapToGrid="0">
      <p:cViewPr>
        <p:scale>
          <a:sx n="109" d="100"/>
          <a:sy n="109" d="100"/>
        </p:scale>
        <p:origin x="750"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8/10/relationships/authors" Targe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omments/modernComment_121_CA7AF24E.xml><?xml version="1.0" encoding="utf-8"?>
<p188:cmLst xmlns:a="http://schemas.openxmlformats.org/drawingml/2006/main" xmlns:r="http://schemas.openxmlformats.org/officeDocument/2006/relationships" xmlns:p188="http://schemas.microsoft.com/office/powerpoint/2018/8/main">
  <p188:cm id="{D2705CE3-BBB0-4AFA-BB6E-B67C692E90E2}" authorId="{1FD40F21-D16F-913E-F6A3-417C7EBBEA4C}" created="2026-08-24T19:16:18.082">
    <pc:sldMkLst xmlns:pc="http://schemas.microsoft.com/office/powerpoint/2013/main/command">
      <pc:docMk/>
      <pc:sldMk cId="3397055054" sldId="289"/>
    </pc:sldMkLst>
    <p188:replyLst>
      <p188:reply id="{B62A5B33-ACCE-4BA6-ADE0-65A162970DAF}" authorId="{58A79AF3-4AA9-6BD6-8246-7CA6D5AD80B3}" created="2026-08-29T01:21:15.484">
        <p188:txBody>
          <a:bodyPr/>
          <a:lstStyle/>
          <a:p>
            <a:r>
              <a:rPr lang="en-US"/>
              <a:t>It shows all sampling stations. It would be nice to indicate which ones had samples that were filtered out, but there were up to 4 samples per station and they were filtered at the level of samples rather than stations, so I can’t think of a good way to indicate when samples were filtered out that won’t complicate the map quite a bit.</a:t>
            </a:r>
          </a:p>
        </p188:txBody>
      </p188:reply>
    </p188:replyLst>
    <p188:txBody>
      <a:bodyPr/>
      <a:lstStyle/>
      <a:p>
        <a:r>
          <a:rPr lang="en-US"/>
          <a:t>Does the map have all sampling locations or only those remaining after thresholding? Maybe we could have some indication on the map which stations were filtered out.</a:t>
        </a:r>
      </a:p>
    </p188:txBody>
  </p188:cm>
</p188: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B75F8-FDAB-EFAA-6A61-C3CF577055A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36B9C6D-A4D8-A6F8-3C43-99B3D008A79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F501DB4-6D35-29B0-272A-47F214449F4E}"/>
              </a:ext>
            </a:extLst>
          </p:cNvPr>
          <p:cNvSpPr>
            <a:spLocks noGrp="1"/>
          </p:cNvSpPr>
          <p:nvPr>
            <p:ph type="dt" sz="half" idx="10"/>
          </p:nvPr>
        </p:nvSpPr>
        <p:spPr/>
        <p:txBody>
          <a:bodyPr/>
          <a:lstStyle/>
          <a:p>
            <a:fld id="{BE76205E-E917-4F89-9EAE-D9F9DED07A8F}" type="datetimeFigureOut">
              <a:rPr lang="en-US" smtClean="0"/>
              <a:t>9/8/2026</a:t>
            </a:fld>
            <a:endParaRPr lang="en-US"/>
          </a:p>
        </p:txBody>
      </p:sp>
      <p:sp>
        <p:nvSpPr>
          <p:cNvPr id="5" name="Footer Placeholder 4">
            <a:extLst>
              <a:ext uri="{FF2B5EF4-FFF2-40B4-BE49-F238E27FC236}">
                <a16:creationId xmlns:a16="http://schemas.microsoft.com/office/drawing/2014/main" id="{B1F5AB66-3323-58A4-FCA7-7981402044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B41442-8AAE-5E9E-88DA-53E92E265D5D}"/>
              </a:ext>
            </a:extLst>
          </p:cNvPr>
          <p:cNvSpPr>
            <a:spLocks noGrp="1"/>
          </p:cNvSpPr>
          <p:nvPr>
            <p:ph type="sldNum" sz="quarter" idx="12"/>
          </p:nvPr>
        </p:nvSpPr>
        <p:spPr/>
        <p:txBody>
          <a:bodyPr/>
          <a:lstStyle/>
          <a:p>
            <a:fld id="{336AB136-D116-4918-914A-0B96CB4A5AC6}" type="slidenum">
              <a:rPr lang="en-US" smtClean="0"/>
              <a:t>‹#›</a:t>
            </a:fld>
            <a:endParaRPr lang="en-US"/>
          </a:p>
        </p:txBody>
      </p:sp>
    </p:spTree>
    <p:extLst>
      <p:ext uri="{BB962C8B-B14F-4D97-AF65-F5344CB8AC3E}">
        <p14:creationId xmlns:p14="http://schemas.microsoft.com/office/powerpoint/2010/main" val="18518992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12F7A-A111-0CD7-0DBA-D0C49438687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95D3F2-3225-30D3-941B-A5C28E668BA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5BBDE04-10A4-1729-E231-4B72AEBF4FB7}"/>
              </a:ext>
            </a:extLst>
          </p:cNvPr>
          <p:cNvSpPr>
            <a:spLocks noGrp="1"/>
          </p:cNvSpPr>
          <p:nvPr>
            <p:ph type="dt" sz="half" idx="10"/>
          </p:nvPr>
        </p:nvSpPr>
        <p:spPr/>
        <p:txBody>
          <a:bodyPr/>
          <a:lstStyle/>
          <a:p>
            <a:fld id="{BE76205E-E917-4F89-9EAE-D9F9DED07A8F}" type="datetimeFigureOut">
              <a:rPr lang="en-US" smtClean="0"/>
              <a:t>9/8/2026</a:t>
            </a:fld>
            <a:endParaRPr lang="en-US"/>
          </a:p>
        </p:txBody>
      </p:sp>
      <p:sp>
        <p:nvSpPr>
          <p:cNvPr id="5" name="Footer Placeholder 4">
            <a:extLst>
              <a:ext uri="{FF2B5EF4-FFF2-40B4-BE49-F238E27FC236}">
                <a16:creationId xmlns:a16="http://schemas.microsoft.com/office/drawing/2014/main" id="{AF850AF6-CEFB-BA1F-EFF8-31726B6A0A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F1239A-78C7-6243-794F-D388D4D5E5B7}"/>
              </a:ext>
            </a:extLst>
          </p:cNvPr>
          <p:cNvSpPr>
            <a:spLocks noGrp="1"/>
          </p:cNvSpPr>
          <p:nvPr>
            <p:ph type="sldNum" sz="quarter" idx="12"/>
          </p:nvPr>
        </p:nvSpPr>
        <p:spPr/>
        <p:txBody>
          <a:bodyPr/>
          <a:lstStyle/>
          <a:p>
            <a:fld id="{336AB136-D116-4918-914A-0B96CB4A5AC6}" type="slidenum">
              <a:rPr lang="en-US" smtClean="0"/>
              <a:t>‹#›</a:t>
            </a:fld>
            <a:endParaRPr lang="en-US"/>
          </a:p>
        </p:txBody>
      </p:sp>
    </p:spTree>
    <p:extLst>
      <p:ext uri="{BB962C8B-B14F-4D97-AF65-F5344CB8AC3E}">
        <p14:creationId xmlns:p14="http://schemas.microsoft.com/office/powerpoint/2010/main" val="7053012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E1235-816B-BBE2-462B-31E1DFDAC76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B01106F-66C1-B3C9-3814-D5965FBC940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4453E89-1897-8A45-1C2B-22C6C0585FA2}"/>
              </a:ext>
            </a:extLst>
          </p:cNvPr>
          <p:cNvSpPr>
            <a:spLocks noGrp="1"/>
          </p:cNvSpPr>
          <p:nvPr>
            <p:ph type="dt" sz="half" idx="10"/>
          </p:nvPr>
        </p:nvSpPr>
        <p:spPr/>
        <p:txBody>
          <a:bodyPr/>
          <a:lstStyle/>
          <a:p>
            <a:fld id="{BE76205E-E917-4F89-9EAE-D9F9DED07A8F}" type="datetimeFigureOut">
              <a:rPr lang="en-US" smtClean="0"/>
              <a:t>9/8/2026</a:t>
            </a:fld>
            <a:endParaRPr lang="en-US"/>
          </a:p>
        </p:txBody>
      </p:sp>
      <p:sp>
        <p:nvSpPr>
          <p:cNvPr id="5" name="Footer Placeholder 4">
            <a:extLst>
              <a:ext uri="{FF2B5EF4-FFF2-40B4-BE49-F238E27FC236}">
                <a16:creationId xmlns:a16="http://schemas.microsoft.com/office/drawing/2014/main" id="{A83489FC-BBF5-7436-65FF-F3AF0397B1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E34887-4FE1-F8BD-B7C0-7EDAB7268260}"/>
              </a:ext>
            </a:extLst>
          </p:cNvPr>
          <p:cNvSpPr>
            <a:spLocks noGrp="1"/>
          </p:cNvSpPr>
          <p:nvPr>
            <p:ph type="sldNum" sz="quarter" idx="12"/>
          </p:nvPr>
        </p:nvSpPr>
        <p:spPr/>
        <p:txBody>
          <a:bodyPr/>
          <a:lstStyle/>
          <a:p>
            <a:fld id="{336AB136-D116-4918-914A-0B96CB4A5AC6}" type="slidenum">
              <a:rPr lang="en-US" smtClean="0"/>
              <a:t>‹#›</a:t>
            </a:fld>
            <a:endParaRPr lang="en-US"/>
          </a:p>
        </p:txBody>
      </p:sp>
    </p:spTree>
    <p:extLst>
      <p:ext uri="{BB962C8B-B14F-4D97-AF65-F5344CB8AC3E}">
        <p14:creationId xmlns:p14="http://schemas.microsoft.com/office/powerpoint/2010/main" val="4561156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E8869-3C58-83FA-A233-1FA34562B32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8D94907-0428-4E44-C0F6-6E10C44375C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1EEF328-5491-5F3C-64B3-D799067C9DB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E0C6CAF-BE7D-790B-ED1B-D248DE6F8362}"/>
              </a:ext>
            </a:extLst>
          </p:cNvPr>
          <p:cNvSpPr>
            <a:spLocks noGrp="1"/>
          </p:cNvSpPr>
          <p:nvPr>
            <p:ph type="dt" sz="half" idx="10"/>
          </p:nvPr>
        </p:nvSpPr>
        <p:spPr/>
        <p:txBody>
          <a:bodyPr/>
          <a:lstStyle/>
          <a:p>
            <a:fld id="{BE76205E-E917-4F89-9EAE-D9F9DED07A8F}" type="datetimeFigureOut">
              <a:rPr lang="en-US" smtClean="0"/>
              <a:t>9/8/2026</a:t>
            </a:fld>
            <a:endParaRPr lang="en-US"/>
          </a:p>
        </p:txBody>
      </p:sp>
      <p:sp>
        <p:nvSpPr>
          <p:cNvPr id="6" name="Footer Placeholder 5">
            <a:extLst>
              <a:ext uri="{FF2B5EF4-FFF2-40B4-BE49-F238E27FC236}">
                <a16:creationId xmlns:a16="http://schemas.microsoft.com/office/drawing/2014/main" id="{4532F5C5-BE00-30A9-A7B3-33E6071D79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E5C640A-6BCB-4543-A4D9-4F691A69FA69}"/>
              </a:ext>
            </a:extLst>
          </p:cNvPr>
          <p:cNvSpPr>
            <a:spLocks noGrp="1"/>
          </p:cNvSpPr>
          <p:nvPr>
            <p:ph type="sldNum" sz="quarter" idx="12"/>
          </p:nvPr>
        </p:nvSpPr>
        <p:spPr/>
        <p:txBody>
          <a:bodyPr/>
          <a:lstStyle/>
          <a:p>
            <a:fld id="{336AB136-D116-4918-914A-0B96CB4A5AC6}" type="slidenum">
              <a:rPr lang="en-US" smtClean="0"/>
              <a:t>‹#›</a:t>
            </a:fld>
            <a:endParaRPr lang="en-US"/>
          </a:p>
        </p:txBody>
      </p:sp>
    </p:spTree>
    <p:extLst>
      <p:ext uri="{BB962C8B-B14F-4D97-AF65-F5344CB8AC3E}">
        <p14:creationId xmlns:p14="http://schemas.microsoft.com/office/powerpoint/2010/main" val="20904799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AAD25-CBEA-206B-3D71-C8BB58D93B5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6E709CA-0E31-CA23-A474-C371EBC972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6DDD722-803B-D7E7-E255-5993A97952C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BF0197E-1529-D26D-7CCC-5C760C565BA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426CE32-0BB3-EF48-407A-4495E5E0D66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D383070-AEA8-AA84-6EDE-795F08F5F46A}"/>
              </a:ext>
            </a:extLst>
          </p:cNvPr>
          <p:cNvSpPr>
            <a:spLocks noGrp="1"/>
          </p:cNvSpPr>
          <p:nvPr>
            <p:ph type="dt" sz="half" idx="10"/>
          </p:nvPr>
        </p:nvSpPr>
        <p:spPr/>
        <p:txBody>
          <a:bodyPr/>
          <a:lstStyle/>
          <a:p>
            <a:fld id="{BE76205E-E917-4F89-9EAE-D9F9DED07A8F}" type="datetimeFigureOut">
              <a:rPr lang="en-US" smtClean="0"/>
              <a:t>9/8/2026</a:t>
            </a:fld>
            <a:endParaRPr lang="en-US"/>
          </a:p>
        </p:txBody>
      </p:sp>
      <p:sp>
        <p:nvSpPr>
          <p:cNvPr id="8" name="Footer Placeholder 7">
            <a:extLst>
              <a:ext uri="{FF2B5EF4-FFF2-40B4-BE49-F238E27FC236}">
                <a16:creationId xmlns:a16="http://schemas.microsoft.com/office/drawing/2014/main" id="{C628F8AB-5A3B-DF2E-B43E-AA808FE6FF9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34A4CB4-5A3B-E18D-C262-E9A97C8461B7}"/>
              </a:ext>
            </a:extLst>
          </p:cNvPr>
          <p:cNvSpPr>
            <a:spLocks noGrp="1"/>
          </p:cNvSpPr>
          <p:nvPr>
            <p:ph type="sldNum" sz="quarter" idx="12"/>
          </p:nvPr>
        </p:nvSpPr>
        <p:spPr/>
        <p:txBody>
          <a:bodyPr/>
          <a:lstStyle/>
          <a:p>
            <a:fld id="{336AB136-D116-4918-914A-0B96CB4A5AC6}" type="slidenum">
              <a:rPr lang="en-US" smtClean="0"/>
              <a:t>‹#›</a:t>
            </a:fld>
            <a:endParaRPr lang="en-US"/>
          </a:p>
        </p:txBody>
      </p:sp>
    </p:spTree>
    <p:extLst>
      <p:ext uri="{BB962C8B-B14F-4D97-AF65-F5344CB8AC3E}">
        <p14:creationId xmlns:p14="http://schemas.microsoft.com/office/powerpoint/2010/main" val="13402383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82566-FA2A-7C78-BD8F-BEB964A6FEC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8FB7324-7B7F-3256-4455-F2F5DFE797A1}"/>
              </a:ext>
            </a:extLst>
          </p:cNvPr>
          <p:cNvSpPr>
            <a:spLocks noGrp="1"/>
          </p:cNvSpPr>
          <p:nvPr>
            <p:ph type="dt" sz="half" idx="10"/>
          </p:nvPr>
        </p:nvSpPr>
        <p:spPr/>
        <p:txBody>
          <a:bodyPr/>
          <a:lstStyle/>
          <a:p>
            <a:fld id="{BE76205E-E917-4F89-9EAE-D9F9DED07A8F}" type="datetimeFigureOut">
              <a:rPr lang="en-US" smtClean="0"/>
              <a:t>9/8/2026</a:t>
            </a:fld>
            <a:endParaRPr lang="en-US"/>
          </a:p>
        </p:txBody>
      </p:sp>
      <p:sp>
        <p:nvSpPr>
          <p:cNvPr id="4" name="Footer Placeholder 3">
            <a:extLst>
              <a:ext uri="{FF2B5EF4-FFF2-40B4-BE49-F238E27FC236}">
                <a16:creationId xmlns:a16="http://schemas.microsoft.com/office/drawing/2014/main" id="{E36EE4B8-F1F5-7E10-3523-0A84975995F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47986A5-692C-A5EE-0A8A-2EB7210FDC3F}"/>
              </a:ext>
            </a:extLst>
          </p:cNvPr>
          <p:cNvSpPr>
            <a:spLocks noGrp="1"/>
          </p:cNvSpPr>
          <p:nvPr>
            <p:ph type="sldNum" sz="quarter" idx="12"/>
          </p:nvPr>
        </p:nvSpPr>
        <p:spPr/>
        <p:txBody>
          <a:bodyPr/>
          <a:lstStyle/>
          <a:p>
            <a:fld id="{336AB136-D116-4918-914A-0B96CB4A5AC6}" type="slidenum">
              <a:rPr lang="en-US" smtClean="0"/>
              <a:t>‹#›</a:t>
            </a:fld>
            <a:endParaRPr lang="en-US"/>
          </a:p>
        </p:txBody>
      </p:sp>
    </p:spTree>
    <p:extLst>
      <p:ext uri="{BB962C8B-B14F-4D97-AF65-F5344CB8AC3E}">
        <p14:creationId xmlns:p14="http://schemas.microsoft.com/office/powerpoint/2010/main" val="24617774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D535186-1838-3D58-BAA5-FB8B0E28DA22}"/>
              </a:ext>
            </a:extLst>
          </p:cNvPr>
          <p:cNvSpPr>
            <a:spLocks noGrp="1"/>
          </p:cNvSpPr>
          <p:nvPr>
            <p:ph type="dt" sz="half" idx="10"/>
          </p:nvPr>
        </p:nvSpPr>
        <p:spPr/>
        <p:txBody>
          <a:bodyPr/>
          <a:lstStyle/>
          <a:p>
            <a:fld id="{BE76205E-E917-4F89-9EAE-D9F9DED07A8F}" type="datetimeFigureOut">
              <a:rPr lang="en-US" smtClean="0"/>
              <a:t>9/8/2026</a:t>
            </a:fld>
            <a:endParaRPr lang="en-US"/>
          </a:p>
        </p:txBody>
      </p:sp>
      <p:sp>
        <p:nvSpPr>
          <p:cNvPr id="3" name="Footer Placeholder 2">
            <a:extLst>
              <a:ext uri="{FF2B5EF4-FFF2-40B4-BE49-F238E27FC236}">
                <a16:creationId xmlns:a16="http://schemas.microsoft.com/office/drawing/2014/main" id="{6A771071-CB2F-E788-0B4D-EFD6E59BA1F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E98D040-BE17-3276-2887-F8B7EE52AB3A}"/>
              </a:ext>
            </a:extLst>
          </p:cNvPr>
          <p:cNvSpPr>
            <a:spLocks noGrp="1"/>
          </p:cNvSpPr>
          <p:nvPr>
            <p:ph type="sldNum" sz="quarter" idx="12"/>
          </p:nvPr>
        </p:nvSpPr>
        <p:spPr/>
        <p:txBody>
          <a:bodyPr/>
          <a:lstStyle/>
          <a:p>
            <a:fld id="{336AB136-D116-4918-914A-0B96CB4A5AC6}" type="slidenum">
              <a:rPr lang="en-US" smtClean="0"/>
              <a:t>‹#›</a:t>
            </a:fld>
            <a:endParaRPr lang="en-US"/>
          </a:p>
        </p:txBody>
      </p:sp>
    </p:spTree>
    <p:extLst>
      <p:ext uri="{BB962C8B-B14F-4D97-AF65-F5344CB8AC3E}">
        <p14:creationId xmlns:p14="http://schemas.microsoft.com/office/powerpoint/2010/main" val="37219064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C45B4-A469-89A8-85AC-39484B37C2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1A5C319-C2CA-BEB1-FB21-125D32F2E5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27DAF60-EAEE-B838-572D-718D01BE98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460C7B-D050-60C7-9EC0-E032860F9867}"/>
              </a:ext>
            </a:extLst>
          </p:cNvPr>
          <p:cNvSpPr>
            <a:spLocks noGrp="1"/>
          </p:cNvSpPr>
          <p:nvPr>
            <p:ph type="dt" sz="half" idx="10"/>
          </p:nvPr>
        </p:nvSpPr>
        <p:spPr/>
        <p:txBody>
          <a:bodyPr/>
          <a:lstStyle/>
          <a:p>
            <a:fld id="{BE76205E-E917-4F89-9EAE-D9F9DED07A8F}" type="datetimeFigureOut">
              <a:rPr lang="en-US" smtClean="0"/>
              <a:t>9/8/2026</a:t>
            </a:fld>
            <a:endParaRPr lang="en-US"/>
          </a:p>
        </p:txBody>
      </p:sp>
      <p:sp>
        <p:nvSpPr>
          <p:cNvPr id="6" name="Footer Placeholder 5">
            <a:extLst>
              <a:ext uri="{FF2B5EF4-FFF2-40B4-BE49-F238E27FC236}">
                <a16:creationId xmlns:a16="http://schemas.microsoft.com/office/drawing/2014/main" id="{EAE2CA4B-4189-13C1-7DC6-6AC2EEF334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E5BC38C-5121-EE7A-1838-F3B15F71E692}"/>
              </a:ext>
            </a:extLst>
          </p:cNvPr>
          <p:cNvSpPr>
            <a:spLocks noGrp="1"/>
          </p:cNvSpPr>
          <p:nvPr>
            <p:ph type="sldNum" sz="quarter" idx="12"/>
          </p:nvPr>
        </p:nvSpPr>
        <p:spPr/>
        <p:txBody>
          <a:bodyPr/>
          <a:lstStyle/>
          <a:p>
            <a:fld id="{336AB136-D116-4918-914A-0B96CB4A5AC6}" type="slidenum">
              <a:rPr lang="en-US" smtClean="0"/>
              <a:t>‹#›</a:t>
            </a:fld>
            <a:endParaRPr lang="en-US"/>
          </a:p>
        </p:txBody>
      </p:sp>
    </p:spTree>
    <p:extLst>
      <p:ext uri="{BB962C8B-B14F-4D97-AF65-F5344CB8AC3E}">
        <p14:creationId xmlns:p14="http://schemas.microsoft.com/office/powerpoint/2010/main" val="12348522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6154A-E588-1C99-C4EC-8C785F4B68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8FB7AAA-BCED-092F-2DE3-5563F56D97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718A554-A855-E4B9-6563-7E073D722C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BF4AE67-4B15-AB07-621E-D3DC91EB3F60}"/>
              </a:ext>
            </a:extLst>
          </p:cNvPr>
          <p:cNvSpPr>
            <a:spLocks noGrp="1"/>
          </p:cNvSpPr>
          <p:nvPr>
            <p:ph type="dt" sz="half" idx="10"/>
          </p:nvPr>
        </p:nvSpPr>
        <p:spPr/>
        <p:txBody>
          <a:bodyPr/>
          <a:lstStyle/>
          <a:p>
            <a:fld id="{BE76205E-E917-4F89-9EAE-D9F9DED07A8F}" type="datetimeFigureOut">
              <a:rPr lang="en-US" smtClean="0"/>
              <a:t>9/8/2026</a:t>
            </a:fld>
            <a:endParaRPr lang="en-US"/>
          </a:p>
        </p:txBody>
      </p:sp>
      <p:sp>
        <p:nvSpPr>
          <p:cNvPr id="6" name="Footer Placeholder 5">
            <a:extLst>
              <a:ext uri="{FF2B5EF4-FFF2-40B4-BE49-F238E27FC236}">
                <a16:creationId xmlns:a16="http://schemas.microsoft.com/office/drawing/2014/main" id="{68ED63D6-9EBF-C0CE-37CD-631A1C604D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0C3FA61-46CE-A369-84C5-8199D7A1E5B9}"/>
              </a:ext>
            </a:extLst>
          </p:cNvPr>
          <p:cNvSpPr>
            <a:spLocks noGrp="1"/>
          </p:cNvSpPr>
          <p:nvPr>
            <p:ph type="sldNum" sz="quarter" idx="12"/>
          </p:nvPr>
        </p:nvSpPr>
        <p:spPr/>
        <p:txBody>
          <a:bodyPr/>
          <a:lstStyle/>
          <a:p>
            <a:fld id="{336AB136-D116-4918-914A-0B96CB4A5AC6}" type="slidenum">
              <a:rPr lang="en-US" smtClean="0"/>
              <a:t>‹#›</a:t>
            </a:fld>
            <a:endParaRPr lang="en-US"/>
          </a:p>
        </p:txBody>
      </p:sp>
    </p:spTree>
    <p:extLst>
      <p:ext uri="{BB962C8B-B14F-4D97-AF65-F5344CB8AC3E}">
        <p14:creationId xmlns:p14="http://schemas.microsoft.com/office/powerpoint/2010/main" val="36876273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A0161-53BE-316D-984F-2288C96F6E2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F9D74AE-B495-AB81-C563-69FA2CEA879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C51821-7C49-C993-C23F-BC8E4D43491F}"/>
              </a:ext>
            </a:extLst>
          </p:cNvPr>
          <p:cNvSpPr>
            <a:spLocks noGrp="1"/>
          </p:cNvSpPr>
          <p:nvPr>
            <p:ph type="dt" sz="half" idx="10"/>
          </p:nvPr>
        </p:nvSpPr>
        <p:spPr/>
        <p:txBody>
          <a:bodyPr/>
          <a:lstStyle/>
          <a:p>
            <a:fld id="{BE76205E-E917-4F89-9EAE-D9F9DED07A8F}" type="datetimeFigureOut">
              <a:rPr lang="en-US" smtClean="0"/>
              <a:t>9/8/2026</a:t>
            </a:fld>
            <a:endParaRPr lang="en-US"/>
          </a:p>
        </p:txBody>
      </p:sp>
      <p:sp>
        <p:nvSpPr>
          <p:cNvPr id="5" name="Footer Placeholder 4">
            <a:extLst>
              <a:ext uri="{FF2B5EF4-FFF2-40B4-BE49-F238E27FC236}">
                <a16:creationId xmlns:a16="http://schemas.microsoft.com/office/drawing/2014/main" id="{041DABD7-D8F1-55C5-88F8-CB806E0EFE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0AC87B-BCC1-000B-E2EA-2150FDC558CF}"/>
              </a:ext>
            </a:extLst>
          </p:cNvPr>
          <p:cNvSpPr>
            <a:spLocks noGrp="1"/>
          </p:cNvSpPr>
          <p:nvPr>
            <p:ph type="sldNum" sz="quarter" idx="12"/>
          </p:nvPr>
        </p:nvSpPr>
        <p:spPr/>
        <p:txBody>
          <a:bodyPr/>
          <a:lstStyle/>
          <a:p>
            <a:fld id="{336AB136-D116-4918-914A-0B96CB4A5AC6}" type="slidenum">
              <a:rPr lang="en-US" smtClean="0"/>
              <a:t>‹#›</a:t>
            </a:fld>
            <a:endParaRPr lang="en-US"/>
          </a:p>
        </p:txBody>
      </p:sp>
    </p:spTree>
    <p:extLst>
      <p:ext uri="{BB962C8B-B14F-4D97-AF65-F5344CB8AC3E}">
        <p14:creationId xmlns:p14="http://schemas.microsoft.com/office/powerpoint/2010/main" val="27218122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8D63B1D-9C77-7414-CD72-FFACE67988B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6841D0F-0FAF-C7A7-ED79-588F3C343B3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34485E-8611-FDCE-86B5-5795C3612FAB}"/>
              </a:ext>
            </a:extLst>
          </p:cNvPr>
          <p:cNvSpPr>
            <a:spLocks noGrp="1"/>
          </p:cNvSpPr>
          <p:nvPr>
            <p:ph type="dt" sz="half" idx="10"/>
          </p:nvPr>
        </p:nvSpPr>
        <p:spPr/>
        <p:txBody>
          <a:bodyPr/>
          <a:lstStyle/>
          <a:p>
            <a:fld id="{BE76205E-E917-4F89-9EAE-D9F9DED07A8F}" type="datetimeFigureOut">
              <a:rPr lang="en-US" smtClean="0"/>
              <a:t>9/8/2026</a:t>
            </a:fld>
            <a:endParaRPr lang="en-US"/>
          </a:p>
        </p:txBody>
      </p:sp>
      <p:sp>
        <p:nvSpPr>
          <p:cNvPr id="5" name="Footer Placeholder 4">
            <a:extLst>
              <a:ext uri="{FF2B5EF4-FFF2-40B4-BE49-F238E27FC236}">
                <a16:creationId xmlns:a16="http://schemas.microsoft.com/office/drawing/2014/main" id="{ED5D6F28-4FED-A960-B55F-3D1A3A7030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D6C49C-95DA-9D3B-4AB0-3877C051841D}"/>
              </a:ext>
            </a:extLst>
          </p:cNvPr>
          <p:cNvSpPr>
            <a:spLocks noGrp="1"/>
          </p:cNvSpPr>
          <p:nvPr>
            <p:ph type="sldNum" sz="quarter" idx="12"/>
          </p:nvPr>
        </p:nvSpPr>
        <p:spPr/>
        <p:txBody>
          <a:bodyPr/>
          <a:lstStyle/>
          <a:p>
            <a:fld id="{336AB136-D116-4918-914A-0B96CB4A5AC6}" type="slidenum">
              <a:rPr lang="en-US" smtClean="0"/>
              <a:t>‹#›</a:t>
            </a:fld>
            <a:endParaRPr lang="en-US"/>
          </a:p>
        </p:txBody>
      </p:sp>
    </p:spTree>
    <p:extLst>
      <p:ext uri="{BB962C8B-B14F-4D97-AF65-F5344CB8AC3E}">
        <p14:creationId xmlns:p14="http://schemas.microsoft.com/office/powerpoint/2010/main" val="14276994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A39E9F-AC83-5D19-CCAE-CAA3458C3BF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67CAB80-120A-E5D8-F75B-C8E5E5D572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53A2AF-6D13-E61C-5C1E-CCB8EEE9B2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E76205E-E917-4F89-9EAE-D9F9DED07A8F}" type="datetimeFigureOut">
              <a:rPr lang="en-US" smtClean="0"/>
              <a:t>9/8/2026</a:t>
            </a:fld>
            <a:endParaRPr lang="en-US"/>
          </a:p>
        </p:txBody>
      </p:sp>
      <p:sp>
        <p:nvSpPr>
          <p:cNvPr id="5" name="Footer Placeholder 4">
            <a:extLst>
              <a:ext uri="{FF2B5EF4-FFF2-40B4-BE49-F238E27FC236}">
                <a16:creationId xmlns:a16="http://schemas.microsoft.com/office/drawing/2014/main" id="{2438033A-ECDB-D59C-9888-A7177B926A8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35FC040-3752-3025-C4B4-845E215606B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6AB136-D116-4918-914A-0B96CB4A5AC6}" type="slidenum">
              <a:rPr lang="en-US" smtClean="0"/>
              <a:t>‹#›</a:t>
            </a:fld>
            <a:endParaRPr lang="en-US"/>
          </a:p>
        </p:txBody>
      </p:sp>
    </p:spTree>
    <p:extLst>
      <p:ext uri="{BB962C8B-B14F-4D97-AF65-F5344CB8AC3E}">
        <p14:creationId xmlns:p14="http://schemas.microsoft.com/office/powerpoint/2010/main" val="21719674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8/10/relationships/comments" Target="../comments/modernComment_121_CA7AF24E.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C2265-3B48-CBBD-86B0-D3B1F94C1224}"/>
              </a:ext>
            </a:extLst>
          </p:cNvPr>
          <p:cNvSpPr>
            <a:spLocks noGrp="1"/>
          </p:cNvSpPr>
          <p:nvPr>
            <p:ph type="ctrTitle"/>
          </p:nvPr>
        </p:nvSpPr>
        <p:spPr/>
        <p:txBody>
          <a:bodyPr/>
          <a:lstStyle/>
          <a:p>
            <a:r>
              <a:rPr lang="en-US" dirty="0"/>
              <a:t>Figures made using final data set</a:t>
            </a:r>
          </a:p>
        </p:txBody>
      </p:sp>
      <p:sp>
        <p:nvSpPr>
          <p:cNvPr id="3" name="Subtitle 2">
            <a:extLst>
              <a:ext uri="{FF2B5EF4-FFF2-40B4-BE49-F238E27FC236}">
                <a16:creationId xmlns:a16="http://schemas.microsoft.com/office/drawing/2014/main" id="{8BECDDD2-3F15-DE97-F0B2-51B5FC9A519C}"/>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4164709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FF4EF-3BA5-A120-C73D-C7E359891EC9}"/>
              </a:ext>
            </a:extLst>
          </p:cNvPr>
          <p:cNvSpPr>
            <a:spLocks noGrp="1"/>
          </p:cNvSpPr>
          <p:nvPr>
            <p:ph type="title"/>
          </p:nvPr>
        </p:nvSpPr>
        <p:spPr/>
        <p:txBody>
          <a:bodyPr>
            <a:normAutofit fontScale="90000"/>
          </a:bodyPr>
          <a:lstStyle/>
          <a:p>
            <a:r>
              <a:rPr lang="en-US" sz="1800" b="1" dirty="0"/>
              <a:t>Fig. 1.</a:t>
            </a:r>
            <a:r>
              <a:rPr lang="en-US" sz="1800" dirty="0"/>
              <a:t>  Environmental conditions at each sampling station: (A) locations sampled; (B) temperature, (C) salinity, and (D) dissolved oxygen at the mean depth of each net tow, with locally weighted scatterplot smooths; and (E) mean chlorophyll-a concentration in the top 100 m of the water column in each year. Symbol shapes and line types indicate year and symbol color indicates seafloor depth. Variation in the position of points along the x-axis in (E) has been added for increased visibility.</a:t>
            </a:r>
            <a:endParaRPr lang="en-US" sz="1800" b="1" dirty="0"/>
          </a:p>
        </p:txBody>
      </p:sp>
      <p:pic>
        <p:nvPicPr>
          <p:cNvPr id="19" name="Picture 18">
            <a:extLst>
              <a:ext uri="{FF2B5EF4-FFF2-40B4-BE49-F238E27FC236}">
                <a16:creationId xmlns:a16="http://schemas.microsoft.com/office/drawing/2014/main" id="{350DD683-BCFE-19DC-E18D-660E2A447A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6506" y="1690688"/>
            <a:ext cx="7598988" cy="5167312"/>
          </a:xfrm>
          <a:prstGeom prst="rect">
            <a:avLst/>
          </a:prstGeom>
        </p:spPr>
      </p:pic>
    </p:spTree>
    <p:extLst>
      <p:ext uri="{BB962C8B-B14F-4D97-AF65-F5344CB8AC3E}">
        <p14:creationId xmlns:p14="http://schemas.microsoft.com/office/powerpoint/2010/main" val="3397055054"/>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6758B-8A96-DF41-2D41-26638157FEC8}"/>
              </a:ext>
            </a:extLst>
          </p:cNvPr>
          <p:cNvSpPr>
            <a:spLocks noGrp="1"/>
          </p:cNvSpPr>
          <p:nvPr>
            <p:ph type="title"/>
          </p:nvPr>
        </p:nvSpPr>
        <p:spPr/>
        <p:txBody>
          <a:bodyPr>
            <a:normAutofit/>
          </a:bodyPr>
          <a:lstStyle/>
          <a:p>
            <a:r>
              <a:rPr lang="en-US" sz="1800" b="1" dirty="0"/>
              <a:t>Table 1. </a:t>
            </a:r>
            <a:r>
              <a:rPr lang="en-US" sz="1800" dirty="0"/>
              <a:t>Taxa associated with each cluster as determined using indicator taxa analysis. Taxa are listed in order of summed abundance within each cluster.</a:t>
            </a:r>
          </a:p>
        </p:txBody>
      </p:sp>
      <p:graphicFrame>
        <p:nvGraphicFramePr>
          <p:cNvPr id="5" name="Table 4">
            <a:extLst>
              <a:ext uri="{FF2B5EF4-FFF2-40B4-BE49-F238E27FC236}">
                <a16:creationId xmlns:a16="http://schemas.microsoft.com/office/drawing/2014/main" id="{00A303FB-CAB9-ED2D-7237-A5B4B4E7674B}"/>
              </a:ext>
            </a:extLst>
          </p:cNvPr>
          <p:cNvGraphicFramePr>
            <a:graphicFrameLocks noGrp="1"/>
          </p:cNvGraphicFramePr>
          <p:nvPr>
            <p:extLst>
              <p:ext uri="{D42A27DB-BD31-4B8C-83A1-F6EECF244321}">
                <p14:modId xmlns:p14="http://schemas.microsoft.com/office/powerpoint/2010/main" val="1456711037"/>
              </p:ext>
            </p:extLst>
          </p:nvPr>
        </p:nvGraphicFramePr>
        <p:xfrm>
          <a:off x="2032000" y="1690688"/>
          <a:ext cx="8127999" cy="3591560"/>
        </p:xfrm>
        <a:graphic>
          <a:graphicData uri="http://schemas.openxmlformats.org/drawingml/2006/table">
            <a:tbl>
              <a:tblPr firstRow="1" bandRow="1">
                <a:tableStyleId>{5940675A-B579-460E-94D1-54222C63F5DA}</a:tableStyleId>
              </a:tblPr>
              <a:tblGrid>
                <a:gridCol w="1390822">
                  <a:extLst>
                    <a:ext uri="{9D8B030D-6E8A-4147-A177-3AD203B41FA5}">
                      <a16:colId xmlns:a16="http://schemas.microsoft.com/office/drawing/2014/main" val="3288010381"/>
                    </a:ext>
                  </a:extLst>
                </a:gridCol>
                <a:gridCol w="4027844">
                  <a:extLst>
                    <a:ext uri="{9D8B030D-6E8A-4147-A177-3AD203B41FA5}">
                      <a16:colId xmlns:a16="http://schemas.microsoft.com/office/drawing/2014/main" val="238683654"/>
                    </a:ext>
                  </a:extLst>
                </a:gridCol>
                <a:gridCol w="2709333">
                  <a:extLst>
                    <a:ext uri="{9D8B030D-6E8A-4147-A177-3AD203B41FA5}">
                      <a16:colId xmlns:a16="http://schemas.microsoft.com/office/drawing/2014/main" val="2418419917"/>
                    </a:ext>
                  </a:extLst>
                </a:gridCol>
              </a:tblGrid>
              <a:tr h="370840">
                <a:tc>
                  <a:txBody>
                    <a:bodyPr/>
                    <a:lstStyle/>
                    <a:p>
                      <a:r>
                        <a:rPr lang="en-US" sz="1600" b="1" dirty="0"/>
                        <a:t>Cluster</a:t>
                      </a:r>
                    </a:p>
                  </a:txBody>
                  <a:tcPr/>
                </a:tc>
                <a:tc>
                  <a:txBody>
                    <a:bodyPr/>
                    <a:lstStyle/>
                    <a:p>
                      <a:r>
                        <a:rPr lang="en-US" sz="1600" b="1" dirty="0"/>
                        <a:t>Taxa</a:t>
                      </a:r>
                    </a:p>
                  </a:txBody>
                  <a:tcPr/>
                </a:tc>
                <a:tc>
                  <a:txBody>
                    <a:bodyPr/>
                    <a:lstStyle/>
                    <a:p>
                      <a:r>
                        <a:rPr lang="en-US" sz="1600" b="1" dirty="0"/>
                        <a:t>p</a:t>
                      </a:r>
                    </a:p>
                  </a:txBody>
                  <a:tcPr/>
                </a:tc>
                <a:extLst>
                  <a:ext uri="{0D108BD9-81ED-4DB2-BD59-A6C34878D82A}">
                    <a16:rowId xmlns:a16="http://schemas.microsoft.com/office/drawing/2014/main" val="3621098174"/>
                  </a:ext>
                </a:extLst>
              </a:tr>
              <a:tr h="370840">
                <a:tc>
                  <a:txBody>
                    <a:bodyPr/>
                    <a:lstStyle/>
                    <a:p>
                      <a:r>
                        <a:rPr lang="en-US" sz="1600" dirty="0"/>
                        <a:t>1</a:t>
                      </a:r>
                    </a:p>
                  </a:txBody>
                  <a:tcPr/>
                </a:tc>
                <a:tc>
                  <a:txBody>
                    <a:bodyPr/>
                    <a:lstStyle/>
                    <a:p>
                      <a:r>
                        <a:rPr lang="en-US" sz="1600" i="1" dirty="0"/>
                        <a:t>Sebastes</a:t>
                      </a:r>
                      <a:r>
                        <a:rPr lang="en-US" sz="1600" dirty="0"/>
                        <a:t> spp.</a:t>
                      </a:r>
                    </a:p>
                  </a:txBody>
                  <a:tcPr/>
                </a:tc>
                <a:tc>
                  <a:txBody>
                    <a:bodyPr/>
                    <a:lstStyle/>
                    <a:p>
                      <a:r>
                        <a:rPr lang="en-US" sz="1600" dirty="0"/>
                        <a:t>0.005</a:t>
                      </a:r>
                    </a:p>
                  </a:txBody>
                  <a:tcPr/>
                </a:tc>
                <a:extLst>
                  <a:ext uri="{0D108BD9-81ED-4DB2-BD59-A6C34878D82A}">
                    <a16:rowId xmlns:a16="http://schemas.microsoft.com/office/drawing/2014/main" val="3145787672"/>
                  </a:ext>
                </a:extLst>
              </a:tr>
              <a:tr h="370840">
                <a:tc>
                  <a:txBody>
                    <a:bodyPr/>
                    <a:lstStyle/>
                    <a:p>
                      <a:r>
                        <a:rPr lang="en-US" sz="1600" dirty="0"/>
                        <a:t>2</a:t>
                      </a:r>
                    </a:p>
                  </a:txBody>
                  <a:tcPr/>
                </a:tc>
                <a:tc>
                  <a:txBody>
                    <a:bodyPr/>
                    <a:lstStyle/>
                    <a:p>
                      <a:r>
                        <a:rPr lang="en-US" sz="1600" i="1" dirty="0" err="1"/>
                        <a:t>Parophrys</a:t>
                      </a:r>
                      <a:r>
                        <a:rPr lang="en-US" sz="1600" i="1" dirty="0"/>
                        <a:t> </a:t>
                      </a:r>
                      <a:r>
                        <a:rPr lang="en-US" sz="1600" i="1" dirty="0" err="1"/>
                        <a:t>vetulus</a:t>
                      </a:r>
                      <a:endParaRPr lang="en-US" sz="1600" i="0" dirty="0"/>
                    </a:p>
                    <a:p>
                      <a:r>
                        <a:rPr lang="en-US" sz="1600" i="1" dirty="0"/>
                        <a:t>Sebastes </a:t>
                      </a:r>
                      <a:r>
                        <a:rPr lang="en-US" sz="1600" i="0" dirty="0"/>
                        <a:t>spp.</a:t>
                      </a:r>
                      <a:endParaRPr lang="en-US" sz="1600" i="1" dirty="0"/>
                    </a:p>
                  </a:txBody>
                  <a:tcPr/>
                </a:tc>
                <a:tc>
                  <a:txBody>
                    <a:bodyPr/>
                    <a:lstStyle/>
                    <a:p>
                      <a:r>
                        <a:rPr lang="en-US" sz="1600" dirty="0"/>
                        <a:t>0.005</a:t>
                      </a:r>
                    </a:p>
                    <a:p>
                      <a:r>
                        <a:rPr lang="en-US" sz="1600" dirty="0"/>
                        <a:t>0.005</a:t>
                      </a:r>
                    </a:p>
                  </a:txBody>
                  <a:tcPr/>
                </a:tc>
                <a:extLst>
                  <a:ext uri="{0D108BD9-81ED-4DB2-BD59-A6C34878D82A}">
                    <a16:rowId xmlns:a16="http://schemas.microsoft.com/office/drawing/2014/main" val="1892644640"/>
                  </a:ext>
                </a:extLst>
              </a:tr>
              <a:tr h="370840">
                <a:tc>
                  <a:txBody>
                    <a:bodyPr/>
                    <a:lstStyle/>
                    <a:p>
                      <a:r>
                        <a:rPr lang="en-US" sz="1600" dirty="0"/>
                        <a:t>3</a:t>
                      </a:r>
                    </a:p>
                  </a:txBody>
                  <a:tcPr/>
                </a:tc>
                <a:tc>
                  <a:txBody>
                    <a:bodyPr/>
                    <a:lstStyle/>
                    <a:p>
                      <a:r>
                        <a:rPr lang="en-US" sz="1600" i="1" dirty="0" err="1"/>
                        <a:t>Stenobrachius</a:t>
                      </a:r>
                      <a:r>
                        <a:rPr lang="en-US" sz="1600" i="1" dirty="0"/>
                        <a:t> </a:t>
                      </a:r>
                      <a:r>
                        <a:rPr lang="en-US" sz="1600" i="1" dirty="0" err="1"/>
                        <a:t>leucopsarus</a:t>
                      </a:r>
                      <a:endParaRPr lang="en-US" sz="1600" i="1" dirty="0"/>
                    </a:p>
                  </a:txBody>
                  <a:tcPr/>
                </a:tc>
                <a:tc>
                  <a:txBody>
                    <a:bodyPr/>
                    <a:lstStyle/>
                    <a:p>
                      <a:r>
                        <a:rPr lang="en-US" sz="1600" dirty="0"/>
                        <a:t>0.02</a:t>
                      </a:r>
                    </a:p>
                  </a:txBody>
                  <a:tcPr/>
                </a:tc>
                <a:extLst>
                  <a:ext uri="{0D108BD9-81ED-4DB2-BD59-A6C34878D82A}">
                    <a16:rowId xmlns:a16="http://schemas.microsoft.com/office/drawing/2014/main" val="2227666454"/>
                  </a:ext>
                </a:extLst>
              </a:tr>
              <a:tr h="370840">
                <a:tc>
                  <a:txBody>
                    <a:bodyPr/>
                    <a:lstStyle/>
                    <a:p>
                      <a:r>
                        <a:rPr lang="en-US" sz="1600" dirty="0"/>
                        <a:t>4</a:t>
                      </a:r>
                    </a:p>
                  </a:txBody>
                  <a:tcPr/>
                </a:tc>
                <a:tc>
                  <a:txBody>
                    <a:bodyPr/>
                    <a:lstStyle/>
                    <a:p>
                      <a:r>
                        <a:rPr lang="en-US" sz="1600" i="1" dirty="0" err="1"/>
                        <a:t>Stenobrachius</a:t>
                      </a:r>
                      <a:r>
                        <a:rPr lang="en-US" sz="1600" i="1" dirty="0"/>
                        <a:t> </a:t>
                      </a:r>
                      <a:r>
                        <a:rPr lang="en-US" sz="1600" i="1" dirty="0" err="1"/>
                        <a:t>leucopsarus</a:t>
                      </a:r>
                      <a:endParaRPr lang="en-US" sz="1600" i="1" dirty="0"/>
                    </a:p>
                  </a:txBody>
                  <a:tcPr/>
                </a:tc>
                <a:tc>
                  <a:txBody>
                    <a:bodyPr/>
                    <a:lstStyle/>
                    <a:p>
                      <a:r>
                        <a:rPr lang="en-US" sz="1600" dirty="0"/>
                        <a:t>0.02</a:t>
                      </a:r>
                    </a:p>
                  </a:txBody>
                  <a:tcPr/>
                </a:tc>
                <a:extLst>
                  <a:ext uri="{0D108BD9-81ED-4DB2-BD59-A6C34878D82A}">
                    <a16:rowId xmlns:a16="http://schemas.microsoft.com/office/drawing/2014/main" val="3253798277"/>
                  </a:ext>
                </a:extLst>
              </a:tr>
              <a:tr h="370840">
                <a:tc>
                  <a:txBody>
                    <a:bodyPr/>
                    <a:lstStyle/>
                    <a:p>
                      <a:r>
                        <a:rPr lang="en-US" sz="1600" dirty="0"/>
                        <a:t>5</a:t>
                      </a:r>
                    </a:p>
                  </a:txBody>
                  <a:tcPr/>
                </a:tc>
                <a:tc>
                  <a:txBody>
                    <a:bodyPr/>
                    <a:lstStyle/>
                    <a:p>
                      <a:r>
                        <a:rPr lang="en-US" sz="1600" i="1" dirty="0" err="1"/>
                        <a:t>Parophrys</a:t>
                      </a:r>
                      <a:r>
                        <a:rPr lang="en-US" sz="1600" i="1" dirty="0"/>
                        <a:t> </a:t>
                      </a:r>
                      <a:r>
                        <a:rPr lang="en-US" sz="1600" i="1" dirty="0" err="1"/>
                        <a:t>vetulus</a:t>
                      </a:r>
                      <a:endParaRPr lang="en-US" sz="1600" i="1" dirty="0"/>
                    </a:p>
                    <a:p>
                      <a:r>
                        <a:rPr lang="en-US" sz="1600" i="1" dirty="0"/>
                        <a:t>Liparis </a:t>
                      </a:r>
                      <a:r>
                        <a:rPr lang="en-US" sz="1600" i="0" dirty="0"/>
                        <a:t>spp.</a:t>
                      </a:r>
                    </a:p>
                  </a:txBody>
                  <a:tcPr/>
                </a:tc>
                <a:tc>
                  <a:txBody>
                    <a:bodyPr/>
                    <a:lstStyle/>
                    <a:p>
                      <a:r>
                        <a:rPr lang="en-US" sz="1600" dirty="0"/>
                        <a:t>0.005</a:t>
                      </a:r>
                    </a:p>
                    <a:p>
                      <a:r>
                        <a:rPr lang="en-US" sz="1600" dirty="0"/>
                        <a:t>0.03</a:t>
                      </a:r>
                    </a:p>
                  </a:txBody>
                  <a:tcPr/>
                </a:tc>
                <a:extLst>
                  <a:ext uri="{0D108BD9-81ED-4DB2-BD59-A6C34878D82A}">
                    <a16:rowId xmlns:a16="http://schemas.microsoft.com/office/drawing/2014/main" val="2364807414"/>
                  </a:ext>
                </a:extLst>
              </a:tr>
              <a:tr h="370840">
                <a:tc>
                  <a:txBody>
                    <a:bodyPr/>
                    <a:lstStyle/>
                    <a:p>
                      <a:r>
                        <a:rPr lang="en-US" sz="1600" dirty="0"/>
                        <a:t>6</a:t>
                      </a:r>
                    </a:p>
                  </a:txBody>
                  <a:tcPr/>
                </a:tc>
                <a:tc>
                  <a:txBody>
                    <a:bodyPr/>
                    <a:lstStyle/>
                    <a:p>
                      <a:r>
                        <a:rPr lang="en-US" sz="1600" i="0" dirty="0"/>
                        <a:t>Osmeridae</a:t>
                      </a:r>
                    </a:p>
                  </a:txBody>
                  <a:tcPr/>
                </a:tc>
                <a:tc>
                  <a:txBody>
                    <a:bodyPr/>
                    <a:lstStyle/>
                    <a:p>
                      <a:r>
                        <a:rPr lang="en-US" sz="1600" dirty="0"/>
                        <a:t>0.005</a:t>
                      </a:r>
                    </a:p>
                  </a:txBody>
                  <a:tcPr/>
                </a:tc>
                <a:extLst>
                  <a:ext uri="{0D108BD9-81ED-4DB2-BD59-A6C34878D82A}">
                    <a16:rowId xmlns:a16="http://schemas.microsoft.com/office/drawing/2014/main" val="4229098351"/>
                  </a:ext>
                </a:extLst>
              </a:tr>
              <a:tr h="370840">
                <a:tc>
                  <a:txBody>
                    <a:bodyPr/>
                    <a:lstStyle/>
                    <a:p>
                      <a:r>
                        <a:rPr lang="en-US" sz="1600" dirty="0"/>
                        <a:t>7</a:t>
                      </a:r>
                    </a:p>
                  </a:txBody>
                  <a:tcPr/>
                </a:tc>
                <a:tc>
                  <a:txBody>
                    <a:bodyPr/>
                    <a:lstStyle/>
                    <a:p>
                      <a:r>
                        <a:rPr lang="en-US" sz="1600" i="0" dirty="0" err="1"/>
                        <a:t>Hexagrammidae</a:t>
                      </a:r>
                      <a:endParaRPr lang="en-US" sz="1600" i="0" dirty="0"/>
                    </a:p>
                    <a:p>
                      <a:r>
                        <a:rPr lang="en-US" sz="1600" i="1" dirty="0"/>
                        <a:t>Liparis </a:t>
                      </a:r>
                      <a:r>
                        <a:rPr lang="en-US" sz="1600" i="0" dirty="0"/>
                        <a:t>spp.</a:t>
                      </a:r>
                      <a:endParaRPr lang="en-US" sz="1600" i="1" dirty="0"/>
                    </a:p>
                  </a:txBody>
                  <a:tcPr/>
                </a:tc>
                <a:tc>
                  <a:txBody>
                    <a:bodyPr/>
                    <a:lstStyle/>
                    <a:p>
                      <a:r>
                        <a:rPr lang="en-US" sz="1600" dirty="0"/>
                        <a:t>0.005</a:t>
                      </a:r>
                    </a:p>
                    <a:p>
                      <a:r>
                        <a:rPr lang="en-US" sz="1600" dirty="0"/>
                        <a:t>0.03</a:t>
                      </a:r>
                    </a:p>
                  </a:txBody>
                  <a:tcPr/>
                </a:tc>
                <a:extLst>
                  <a:ext uri="{0D108BD9-81ED-4DB2-BD59-A6C34878D82A}">
                    <a16:rowId xmlns:a16="http://schemas.microsoft.com/office/drawing/2014/main" val="1711312673"/>
                  </a:ext>
                </a:extLst>
              </a:tr>
            </a:tbl>
          </a:graphicData>
        </a:graphic>
      </p:graphicFrame>
    </p:spTree>
    <p:extLst>
      <p:ext uri="{BB962C8B-B14F-4D97-AF65-F5344CB8AC3E}">
        <p14:creationId xmlns:p14="http://schemas.microsoft.com/office/powerpoint/2010/main" val="18244560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8DFC3-299E-CD84-D40C-7145E6A1356D}"/>
              </a:ext>
            </a:extLst>
          </p:cNvPr>
          <p:cNvSpPr>
            <a:spLocks noGrp="1"/>
          </p:cNvSpPr>
          <p:nvPr>
            <p:ph type="title"/>
          </p:nvPr>
        </p:nvSpPr>
        <p:spPr/>
        <p:txBody>
          <a:bodyPr>
            <a:noAutofit/>
          </a:bodyPr>
          <a:lstStyle/>
          <a:p>
            <a:r>
              <a:rPr lang="en-US" sz="1800" b="1" dirty="0"/>
              <a:t>Fig. 2a. </a:t>
            </a:r>
            <a:r>
              <a:rPr lang="en-US" sz="1800" dirty="0"/>
              <a:t>Proportion of taxa in samples assigned to each cluster. Colors correspond to coarse habitat affinity and taxonomic groups: </a:t>
            </a:r>
            <a:r>
              <a:rPr lang="en-US" sz="1800" dirty="0" err="1"/>
              <a:t>mesopelagics</a:t>
            </a:r>
            <a:r>
              <a:rPr lang="en-US" sz="1800" dirty="0"/>
              <a:t> (purples), </a:t>
            </a:r>
            <a:r>
              <a:rPr lang="en-US" sz="1800" dirty="0" err="1"/>
              <a:t>Pleuronectiformes</a:t>
            </a:r>
            <a:r>
              <a:rPr lang="en-US" sz="1800" dirty="0"/>
              <a:t> (oranges), Perciformes (blues), and other coastal taxa (greens).</a:t>
            </a:r>
          </a:p>
        </p:txBody>
      </p:sp>
      <p:pic>
        <p:nvPicPr>
          <p:cNvPr id="7" name="Picture 6">
            <a:extLst>
              <a:ext uri="{FF2B5EF4-FFF2-40B4-BE49-F238E27FC236}">
                <a16:creationId xmlns:a16="http://schemas.microsoft.com/office/drawing/2014/main" id="{AE1FF317-9A2F-E860-8021-F2C8C10DE5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82219" y="1233487"/>
            <a:ext cx="1828804" cy="5486411"/>
          </a:xfrm>
          <a:prstGeom prst="rect">
            <a:avLst/>
          </a:prstGeom>
        </p:spPr>
      </p:pic>
      <p:pic>
        <p:nvPicPr>
          <p:cNvPr id="4" name="Picture 3">
            <a:extLst>
              <a:ext uri="{FF2B5EF4-FFF2-40B4-BE49-F238E27FC236}">
                <a16:creationId xmlns:a16="http://schemas.microsoft.com/office/drawing/2014/main" id="{B9BB9B82-3FF1-5DB2-2C58-C6A3040E67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0977" y="1690688"/>
            <a:ext cx="9144019" cy="4572009"/>
          </a:xfrm>
          <a:prstGeom prst="rect">
            <a:avLst/>
          </a:prstGeom>
        </p:spPr>
      </p:pic>
    </p:spTree>
    <p:extLst>
      <p:ext uri="{BB962C8B-B14F-4D97-AF65-F5344CB8AC3E}">
        <p14:creationId xmlns:p14="http://schemas.microsoft.com/office/powerpoint/2010/main" val="22530579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5750BFA-E7AD-E00B-E594-2822D59A51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82219" y="1233486"/>
            <a:ext cx="1828804" cy="5486411"/>
          </a:xfrm>
          <a:prstGeom prst="rect">
            <a:avLst/>
          </a:prstGeom>
        </p:spPr>
      </p:pic>
      <p:sp>
        <p:nvSpPr>
          <p:cNvPr id="8" name="Title 1">
            <a:extLst>
              <a:ext uri="{FF2B5EF4-FFF2-40B4-BE49-F238E27FC236}">
                <a16:creationId xmlns:a16="http://schemas.microsoft.com/office/drawing/2014/main" id="{A65183FE-26C0-8275-F052-D3B8EF7CD9E3}"/>
              </a:ext>
            </a:extLst>
          </p:cNvPr>
          <p:cNvSpPr txBox="1">
            <a:spLocks/>
          </p:cNvSpPr>
          <p:nvPr/>
        </p:nvSpPr>
        <p:spPr>
          <a:xfrm>
            <a:off x="838200" y="365125"/>
            <a:ext cx="10515600" cy="1325563"/>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1800" b="1" dirty="0"/>
          </a:p>
          <a:p>
            <a:endParaRPr lang="en-US" sz="1800" b="1" dirty="0"/>
          </a:p>
          <a:p>
            <a:r>
              <a:rPr lang="en-US" sz="1800" b="1" dirty="0"/>
              <a:t>Fig. 2b.</a:t>
            </a:r>
            <a:r>
              <a:rPr lang="en-US" sz="1800" dirty="0"/>
              <a:t> Log-transformed concentration of taxa in samples assigned to each cluster in each year.</a:t>
            </a:r>
          </a:p>
        </p:txBody>
      </p:sp>
      <p:pic>
        <p:nvPicPr>
          <p:cNvPr id="3" name="Picture 2">
            <a:extLst>
              <a:ext uri="{FF2B5EF4-FFF2-40B4-BE49-F238E27FC236}">
                <a16:creationId xmlns:a16="http://schemas.microsoft.com/office/drawing/2014/main" id="{7CA6448C-1BA6-5D4C-757B-FB7DBCD374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0977" y="1690686"/>
            <a:ext cx="9144019" cy="4572009"/>
          </a:xfrm>
          <a:prstGeom prst="rect">
            <a:avLst/>
          </a:prstGeom>
        </p:spPr>
      </p:pic>
    </p:spTree>
    <p:extLst>
      <p:ext uri="{BB962C8B-B14F-4D97-AF65-F5344CB8AC3E}">
        <p14:creationId xmlns:p14="http://schemas.microsoft.com/office/powerpoint/2010/main" val="916007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C8CF3-B85B-9E59-4EEC-DD795A334783}"/>
              </a:ext>
            </a:extLst>
          </p:cNvPr>
          <p:cNvSpPr>
            <a:spLocks noGrp="1"/>
          </p:cNvSpPr>
          <p:nvPr>
            <p:ph type="title"/>
          </p:nvPr>
        </p:nvSpPr>
        <p:spPr/>
        <p:txBody>
          <a:bodyPr>
            <a:normAutofit fontScale="90000"/>
          </a:bodyPr>
          <a:lstStyle/>
          <a:p>
            <a:r>
              <a:rPr lang="en-US" sz="1800" b="1" dirty="0"/>
              <a:t>Fig. 3. </a:t>
            </a:r>
            <a:r>
              <a:rPr lang="en-US" sz="1800" dirty="0"/>
              <a:t>Collection locations of samples assigned to each cluster, separated by sampling replicate. Panel titles indicate the year and, for 2018 and 2019, whether collection took place primarily during day (D) or night (N) and the sampling replicate number. Circle colors indicate the cluster each sample was assigned to and translucence indicates mean sampling depth of the net tow each sample was collected in. “X”s indicate net tows in which fewer than 10 fish larvae or no larvae belonging to taxa present in &gt; 5% of net tows were collected.</a:t>
            </a:r>
            <a:endParaRPr lang="en-US" sz="1800" b="1" dirty="0"/>
          </a:p>
        </p:txBody>
      </p:sp>
      <p:pic>
        <p:nvPicPr>
          <p:cNvPr id="4" name="Picture 3">
            <a:extLst>
              <a:ext uri="{FF2B5EF4-FFF2-40B4-BE49-F238E27FC236}">
                <a16:creationId xmlns:a16="http://schemas.microsoft.com/office/drawing/2014/main" id="{59709B19-44B6-BE12-2CBD-2720277C81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20516" y="1690688"/>
            <a:ext cx="7750968" cy="5167312"/>
          </a:xfrm>
          <a:prstGeom prst="rect">
            <a:avLst/>
          </a:prstGeom>
        </p:spPr>
      </p:pic>
    </p:spTree>
    <p:extLst>
      <p:ext uri="{BB962C8B-B14F-4D97-AF65-F5344CB8AC3E}">
        <p14:creationId xmlns:p14="http://schemas.microsoft.com/office/powerpoint/2010/main" val="28089718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9162D-E849-72F2-C826-DA9FCE8E44A5}"/>
              </a:ext>
            </a:extLst>
          </p:cNvPr>
          <p:cNvSpPr>
            <a:spLocks noGrp="1"/>
          </p:cNvSpPr>
          <p:nvPr>
            <p:ph type="title"/>
          </p:nvPr>
        </p:nvSpPr>
        <p:spPr/>
        <p:txBody>
          <a:bodyPr>
            <a:normAutofit/>
          </a:bodyPr>
          <a:lstStyle/>
          <a:p>
            <a:r>
              <a:rPr lang="en-US" sz="1800" b="1" dirty="0"/>
              <a:t>Fig. 4. </a:t>
            </a:r>
            <a:r>
              <a:rPr lang="en-US" sz="1800" dirty="0"/>
              <a:t>NMDS ordination of larval fish samples. Points represent samples and are colored by cluster assignment. Colored polygons encompass all samples assigned to each cluster. Arrows indicate the direction of increasing values and relative strength of post hoc associations between spatiotemporal covariates and the NMDS ordination space.</a:t>
            </a:r>
          </a:p>
        </p:txBody>
      </p:sp>
      <p:pic>
        <p:nvPicPr>
          <p:cNvPr id="4" name="Picture 3">
            <a:extLst>
              <a:ext uri="{FF2B5EF4-FFF2-40B4-BE49-F238E27FC236}">
                <a16:creationId xmlns:a16="http://schemas.microsoft.com/office/drawing/2014/main" id="{197EB4CE-3393-D4FC-F006-C532829D39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78770" y="2285991"/>
            <a:ext cx="6400813" cy="4572009"/>
          </a:xfrm>
          <a:prstGeom prst="rect">
            <a:avLst/>
          </a:prstGeom>
        </p:spPr>
      </p:pic>
    </p:spTree>
    <p:extLst>
      <p:ext uri="{BB962C8B-B14F-4D97-AF65-F5344CB8AC3E}">
        <p14:creationId xmlns:p14="http://schemas.microsoft.com/office/powerpoint/2010/main" val="27813850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CE81EF6B-92EC-B3CD-A47F-0B7CC9B85E45}"/>
              </a:ext>
            </a:extLst>
          </p:cNvPr>
          <p:cNvGraphicFramePr>
            <a:graphicFrameLocks noGrp="1"/>
          </p:cNvGraphicFramePr>
          <p:nvPr>
            <p:extLst>
              <p:ext uri="{D42A27DB-BD31-4B8C-83A1-F6EECF244321}">
                <p14:modId xmlns:p14="http://schemas.microsoft.com/office/powerpoint/2010/main" val="1461935318"/>
              </p:ext>
            </p:extLst>
          </p:nvPr>
        </p:nvGraphicFramePr>
        <p:xfrm>
          <a:off x="302755" y="1067386"/>
          <a:ext cx="8627532" cy="1394567"/>
        </p:xfrm>
        <a:graphic>
          <a:graphicData uri="http://schemas.openxmlformats.org/drawingml/2006/table">
            <a:tbl>
              <a:tblPr firstRow="1" bandRow="1">
                <a:tableStyleId>{5940675A-B579-460E-94D1-54222C63F5DA}</a:tableStyleId>
              </a:tblPr>
              <a:tblGrid>
                <a:gridCol w="1784158">
                  <a:extLst>
                    <a:ext uri="{9D8B030D-6E8A-4147-A177-3AD203B41FA5}">
                      <a16:colId xmlns:a16="http://schemas.microsoft.com/office/drawing/2014/main" val="3288010381"/>
                    </a:ext>
                  </a:extLst>
                </a:gridCol>
                <a:gridCol w="1771732">
                  <a:extLst>
                    <a:ext uri="{9D8B030D-6E8A-4147-A177-3AD203B41FA5}">
                      <a16:colId xmlns:a16="http://schemas.microsoft.com/office/drawing/2014/main" val="238683654"/>
                    </a:ext>
                  </a:extLst>
                </a:gridCol>
                <a:gridCol w="1771732">
                  <a:extLst>
                    <a:ext uri="{9D8B030D-6E8A-4147-A177-3AD203B41FA5}">
                      <a16:colId xmlns:a16="http://schemas.microsoft.com/office/drawing/2014/main" val="2178007675"/>
                    </a:ext>
                  </a:extLst>
                </a:gridCol>
                <a:gridCol w="1771732">
                  <a:extLst>
                    <a:ext uri="{9D8B030D-6E8A-4147-A177-3AD203B41FA5}">
                      <a16:colId xmlns:a16="http://schemas.microsoft.com/office/drawing/2014/main" val="1571752905"/>
                    </a:ext>
                  </a:extLst>
                </a:gridCol>
                <a:gridCol w="1528178">
                  <a:extLst>
                    <a:ext uri="{9D8B030D-6E8A-4147-A177-3AD203B41FA5}">
                      <a16:colId xmlns:a16="http://schemas.microsoft.com/office/drawing/2014/main" val="2418419917"/>
                    </a:ext>
                  </a:extLst>
                </a:gridCol>
              </a:tblGrid>
              <a:tr h="370840">
                <a:tc>
                  <a:txBody>
                    <a:bodyPr/>
                    <a:lstStyle/>
                    <a:p>
                      <a:r>
                        <a:rPr lang="en-US" sz="1600" b="1" dirty="0" err="1"/>
                        <a:t>dbRDA</a:t>
                      </a:r>
                      <a:r>
                        <a:rPr lang="en-US" sz="1600" b="1" dirty="0"/>
                        <a:t> model</a:t>
                      </a:r>
                    </a:p>
                  </a:txBody>
                  <a:tcPr/>
                </a:tc>
                <a:tc>
                  <a:txBody>
                    <a:bodyPr/>
                    <a:lstStyle/>
                    <a:p>
                      <a:r>
                        <a:rPr lang="en-US" sz="1600" b="1" dirty="0"/>
                        <a:t>R</a:t>
                      </a:r>
                      <a:r>
                        <a:rPr lang="en-US" sz="1600" b="1" baseline="30000" dirty="0"/>
                        <a:t>2</a:t>
                      </a:r>
                      <a:endParaRPr lang="en-US" sz="1600" b="1" dirty="0"/>
                    </a:p>
                  </a:txBody>
                  <a:tcPr/>
                </a:tc>
                <a:tc>
                  <a:txBody>
                    <a:bodyPr/>
                    <a:lstStyle/>
                    <a:p>
                      <a:r>
                        <a:rPr lang="en-US" sz="1600" b="1" dirty="0"/>
                        <a:t>Adj. R</a:t>
                      </a:r>
                      <a:r>
                        <a:rPr lang="en-US" sz="1600" b="1" baseline="30000" dirty="0"/>
                        <a:t>2</a:t>
                      </a:r>
                      <a:endParaRPr lang="en-US" sz="1600" b="1" dirty="0"/>
                    </a:p>
                  </a:txBody>
                  <a:tcPr/>
                </a:tc>
                <a:tc>
                  <a:txBody>
                    <a:bodyPr/>
                    <a:lstStyle/>
                    <a:p>
                      <a:r>
                        <a:rPr lang="en-US" sz="1600" b="1" dirty="0"/>
                        <a:t>Pseudo-F</a:t>
                      </a:r>
                    </a:p>
                  </a:txBody>
                  <a:tcPr/>
                </a:tc>
                <a:tc>
                  <a:txBody>
                    <a:bodyPr/>
                    <a:lstStyle/>
                    <a:p>
                      <a:r>
                        <a:rPr lang="en-US" sz="1600" b="1" dirty="0"/>
                        <a:t>p</a:t>
                      </a:r>
                    </a:p>
                  </a:txBody>
                  <a:tcPr/>
                </a:tc>
                <a:extLst>
                  <a:ext uri="{0D108BD9-81ED-4DB2-BD59-A6C34878D82A}">
                    <a16:rowId xmlns:a16="http://schemas.microsoft.com/office/drawing/2014/main" val="3621098174"/>
                  </a:ext>
                </a:extLst>
              </a:tr>
              <a:tr h="370840">
                <a:tc>
                  <a:txBody>
                    <a:bodyPr/>
                    <a:lstStyle/>
                    <a:p>
                      <a:r>
                        <a:rPr lang="en-US" sz="1600" dirty="0"/>
                        <a:t>Spatiotemporal</a:t>
                      </a:r>
                    </a:p>
                  </a:txBody>
                  <a:tcPr/>
                </a:tc>
                <a:tc>
                  <a:txBody>
                    <a:bodyPr/>
                    <a:lstStyle/>
                    <a:p>
                      <a:r>
                        <a:rPr lang="en-US" sz="1600" dirty="0"/>
                        <a:t>0.10</a:t>
                      </a:r>
                    </a:p>
                  </a:txBody>
                  <a:tcPr/>
                </a:tc>
                <a:tc>
                  <a:txBody>
                    <a:bodyPr/>
                    <a:lstStyle/>
                    <a:p>
                      <a:r>
                        <a:rPr lang="en-US" sz="1600" dirty="0"/>
                        <a:t>0.07</a:t>
                      </a:r>
                    </a:p>
                  </a:txBody>
                  <a:tcPr/>
                </a:tc>
                <a:tc>
                  <a:txBody>
                    <a:bodyPr/>
                    <a:lstStyle/>
                    <a:p>
                      <a:r>
                        <a:rPr lang="en-US" sz="1600" dirty="0"/>
                        <a:t>3.04</a:t>
                      </a:r>
                    </a:p>
                  </a:txBody>
                  <a:tcPr/>
                </a:tc>
                <a:tc>
                  <a:txBody>
                    <a:bodyPr/>
                    <a:lstStyle/>
                    <a:p>
                      <a:r>
                        <a:rPr lang="en-US" sz="1600" dirty="0"/>
                        <a:t>0.001</a:t>
                      </a:r>
                    </a:p>
                  </a:txBody>
                  <a:tcPr/>
                </a:tc>
                <a:extLst>
                  <a:ext uri="{0D108BD9-81ED-4DB2-BD59-A6C34878D82A}">
                    <a16:rowId xmlns:a16="http://schemas.microsoft.com/office/drawing/2014/main" val="3145787672"/>
                  </a:ext>
                </a:extLst>
              </a:tr>
              <a:tr h="652887">
                <a:tc>
                  <a:txBody>
                    <a:bodyPr/>
                    <a:lstStyle/>
                    <a:p>
                      <a:r>
                        <a:rPr lang="en-US" sz="1600" dirty="0"/>
                        <a:t>Spatiotemporal</a:t>
                      </a:r>
                      <a:r>
                        <a:rPr lang="en-US" sz="1600" baseline="0" dirty="0"/>
                        <a:t> + environmental </a:t>
                      </a:r>
                      <a:endParaRPr lang="en-US" sz="1600" dirty="0"/>
                    </a:p>
                  </a:txBody>
                  <a:tcPr/>
                </a:tc>
                <a:tc>
                  <a:txBody>
                    <a:bodyPr/>
                    <a:lstStyle/>
                    <a:p>
                      <a:r>
                        <a:rPr lang="en-US" sz="1600" i="0" dirty="0"/>
                        <a:t>0.14</a:t>
                      </a:r>
                    </a:p>
                  </a:txBody>
                  <a:tcPr/>
                </a:tc>
                <a:tc>
                  <a:txBody>
                    <a:bodyPr/>
                    <a:lstStyle/>
                    <a:p>
                      <a:r>
                        <a:rPr lang="en-US" sz="1600" i="0" dirty="0"/>
                        <a:t>0.09</a:t>
                      </a:r>
                    </a:p>
                  </a:txBody>
                  <a:tcPr/>
                </a:tc>
                <a:tc>
                  <a:txBody>
                    <a:bodyPr/>
                    <a:lstStyle/>
                    <a:p>
                      <a:r>
                        <a:rPr lang="en-US" sz="1600" i="0" dirty="0"/>
                        <a:t>2.70</a:t>
                      </a:r>
                    </a:p>
                  </a:txBody>
                  <a:tcPr/>
                </a:tc>
                <a:tc>
                  <a:txBody>
                    <a:bodyPr/>
                    <a:lstStyle/>
                    <a:p>
                      <a:r>
                        <a:rPr lang="en-US" sz="1600" dirty="0"/>
                        <a:t>0.001</a:t>
                      </a:r>
                    </a:p>
                  </a:txBody>
                  <a:tcPr/>
                </a:tc>
                <a:extLst>
                  <a:ext uri="{0D108BD9-81ED-4DB2-BD59-A6C34878D82A}">
                    <a16:rowId xmlns:a16="http://schemas.microsoft.com/office/drawing/2014/main" val="1892644640"/>
                  </a:ext>
                </a:extLst>
              </a:tr>
            </a:tbl>
          </a:graphicData>
        </a:graphic>
      </p:graphicFrame>
      <p:graphicFrame>
        <p:nvGraphicFramePr>
          <p:cNvPr id="6" name="Table 5">
            <a:extLst>
              <a:ext uri="{FF2B5EF4-FFF2-40B4-BE49-F238E27FC236}">
                <a16:creationId xmlns:a16="http://schemas.microsoft.com/office/drawing/2014/main" id="{960F6F38-9597-84E5-D544-D833084D2F03}"/>
              </a:ext>
            </a:extLst>
          </p:cNvPr>
          <p:cNvGraphicFramePr>
            <a:graphicFrameLocks noGrp="1"/>
          </p:cNvGraphicFramePr>
          <p:nvPr>
            <p:extLst>
              <p:ext uri="{D42A27DB-BD31-4B8C-83A1-F6EECF244321}">
                <p14:modId xmlns:p14="http://schemas.microsoft.com/office/powerpoint/2010/main" val="3229592323"/>
              </p:ext>
            </p:extLst>
          </p:nvPr>
        </p:nvGraphicFramePr>
        <p:xfrm>
          <a:off x="302755" y="2774852"/>
          <a:ext cx="6855800" cy="3708400"/>
        </p:xfrm>
        <a:graphic>
          <a:graphicData uri="http://schemas.openxmlformats.org/drawingml/2006/table">
            <a:tbl>
              <a:tblPr firstRow="1" bandRow="1">
                <a:tableStyleId>{5940675A-B579-460E-94D1-54222C63F5DA}</a:tableStyleId>
              </a:tblPr>
              <a:tblGrid>
                <a:gridCol w="1784158">
                  <a:extLst>
                    <a:ext uri="{9D8B030D-6E8A-4147-A177-3AD203B41FA5}">
                      <a16:colId xmlns:a16="http://schemas.microsoft.com/office/drawing/2014/main" val="3288010381"/>
                    </a:ext>
                  </a:extLst>
                </a:gridCol>
                <a:gridCol w="1771732">
                  <a:extLst>
                    <a:ext uri="{9D8B030D-6E8A-4147-A177-3AD203B41FA5}">
                      <a16:colId xmlns:a16="http://schemas.microsoft.com/office/drawing/2014/main" val="238683654"/>
                    </a:ext>
                  </a:extLst>
                </a:gridCol>
                <a:gridCol w="1771732">
                  <a:extLst>
                    <a:ext uri="{9D8B030D-6E8A-4147-A177-3AD203B41FA5}">
                      <a16:colId xmlns:a16="http://schemas.microsoft.com/office/drawing/2014/main" val="1571752905"/>
                    </a:ext>
                  </a:extLst>
                </a:gridCol>
                <a:gridCol w="1528178">
                  <a:extLst>
                    <a:ext uri="{9D8B030D-6E8A-4147-A177-3AD203B41FA5}">
                      <a16:colId xmlns:a16="http://schemas.microsoft.com/office/drawing/2014/main" val="2418419917"/>
                    </a:ext>
                  </a:extLst>
                </a:gridCol>
              </a:tblGrid>
              <a:tr h="370840">
                <a:tc>
                  <a:txBody>
                    <a:bodyPr/>
                    <a:lstStyle/>
                    <a:p>
                      <a:r>
                        <a:rPr lang="en-US" sz="1600" b="1" dirty="0"/>
                        <a:t>Model term</a:t>
                      </a:r>
                    </a:p>
                  </a:txBody>
                  <a:tcPr/>
                </a:tc>
                <a:tc>
                  <a:txBody>
                    <a:bodyPr/>
                    <a:lstStyle/>
                    <a:p>
                      <a:r>
                        <a:rPr lang="en-US" sz="1600" b="1" dirty="0" err="1"/>
                        <a:t>Df</a:t>
                      </a:r>
                      <a:endParaRPr lang="en-US" sz="1600" b="1" dirty="0"/>
                    </a:p>
                  </a:txBody>
                  <a:tcPr/>
                </a:tc>
                <a:tc>
                  <a:txBody>
                    <a:bodyPr/>
                    <a:lstStyle/>
                    <a:p>
                      <a:r>
                        <a:rPr lang="en-US" sz="1600" b="1" dirty="0"/>
                        <a:t>Pseudo-F</a:t>
                      </a:r>
                    </a:p>
                  </a:txBody>
                  <a:tcPr/>
                </a:tc>
                <a:tc>
                  <a:txBody>
                    <a:bodyPr/>
                    <a:lstStyle/>
                    <a:p>
                      <a:r>
                        <a:rPr lang="en-US" sz="1600" b="1" dirty="0"/>
                        <a:t>p</a:t>
                      </a:r>
                    </a:p>
                  </a:txBody>
                  <a:tcPr/>
                </a:tc>
                <a:extLst>
                  <a:ext uri="{0D108BD9-81ED-4DB2-BD59-A6C34878D82A}">
                    <a16:rowId xmlns:a16="http://schemas.microsoft.com/office/drawing/2014/main" val="3621098174"/>
                  </a:ext>
                </a:extLst>
              </a:tr>
              <a:tr h="370840">
                <a:tc>
                  <a:txBody>
                    <a:bodyPr/>
                    <a:lstStyle/>
                    <a:p>
                      <a:r>
                        <a:rPr lang="en-US" sz="1600" dirty="0"/>
                        <a:t>Year</a:t>
                      </a:r>
                    </a:p>
                  </a:txBody>
                  <a:tcPr/>
                </a:tc>
                <a:tc>
                  <a:txBody>
                    <a:bodyPr/>
                    <a:lstStyle/>
                    <a:p>
                      <a:r>
                        <a:rPr lang="en-US" sz="1600" dirty="0"/>
                        <a:t>3</a:t>
                      </a:r>
                    </a:p>
                  </a:txBody>
                  <a:tcPr/>
                </a:tc>
                <a:tc>
                  <a:txBody>
                    <a:bodyPr/>
                    <a:lstStyle/>
                    <a:p>
                      <a:r>
                        <a:rPr lang="en-US" sz="1600" dirty="0"/>
                        <a:t>1.65</a:t>
                      </a:r>
                    </a:p>
                  </a:txBody>
                  <a:tcPr/>
                </a:tc>
                <a:tc>
                  <a:txBody>
                    <a:bodyPr/>
                    <a:lstStyle/>
                    <a:p>
                      <a:r>
                        <a:rPr lang="en-US" sz="1600" dirty="0"/>
                        <a:t>0.001</a:t>
                      </a:r>
                    </a:p>
                  </a:txBody>
                  <a:tcPr/>
                </a:tc>
                <a:extLst>
                  <a:ext uri="{0D108BD9-81ED-4DB2-BD59-A6C34878D82A}">
                    <a16:rowId xmlns:a16="http://schemas.microsoft.com/office/drawing/2014/main" val="3145787672"/>
                  </a:ext>
                </a:extLst>
              </a:tr>
              <a:tr h="370840">
                <a:tc>
                  <a:txBody>
                    <a:bodyPr/>
                    <a:lstStyle/>
                    <a:p>
                      <a:r>
                        <a:rPr lang="en-US" sz="1600" dirty="0"/>
                        <a:t>Time of day</a:t>
                      </a:r>
                    </a:p>
                  </a:txBody>
                  <a:tcPr/>
                </a:tc>
                <a:tc>
                  <a:txBody>
                    <a:bodyPr/>
                    <a:lstStyle/>
                    <a:p>
                      <a:r>
                        <a:rPr lang="en-US" sz="1600" dirty="0"/>
                        <a:t>1</a:t>
                      </a:r>
                    </a:p>
                  </a:txBody>
                  <a:tcPr/>
                </a:tc>
                <a:tc>
                  <a:txBody>
                    <a:bodyPr/>
                    <a:lstStyle/>
                    <a:p>
                      <a:r>
                        <a:rPr lang="en-US" sz="1600" dirty="0"/>
                        <a:t>1.36</a:t>
                      </a:r>
                    </a:p>
                  </a:txBody>
                  <a:tcPr/>
                </a:tc>
                <a:tc>
                  <a:txBody>
                    <a:bodyPr/>
                    <a:lstStyle/>
                    <a:p>
                      <a:r>
                        <a:rPr lang="en-US" sz="1600" dirty="0"/>
                        <a:t>0.027</a:t>
                      </a:r>
                    </a:p>
                  </a:txBody>
                  <a:tcPr/>
                </a:tc>
                <a:extLst>
                  <a:ext uri="{0D108BD9-81ED-4DB2-BD59-A6C34878D82A}">
                    <a16:rowId xmlns:a16="http://schemas.microsoft.com/office/drawing/2014/main" val="1902562398"/>
                  </a:ext>
                </a:extLst>
              </a:tr>
              <a:tr h="370840">
                <a:tc>
                  <a:txBody>
                    <a:bodyPr/>
                    <a:lstStyle/>
                    <a:p>
                      <a:r>
                        <a:rPr lang="en-US" sz="1600" dirty="0"/>
                        <a:t>Latitude</a:t>
                      </a:r>
                    </a:p>
                  </a:txBody>
                  <a:tcPr/>
                </a:tc>
                <a:tc>
                  <a:txBody>
                    <a:bodyPr/>
                    <a:lstStyle/>
                    <a:p>
                      <a:r>
                        <a:rPr lang="en-US" sz="1600" dirty="0"/>
                        <a:t>1</a:t>
                      </a:r>
                    </a:p>
                  </a:txBody>
                  <a:tcPr/>
                </a:tc>
                <a:tc>
                  <a:txBody>
                    <a:bodyPr/>
                    <a:lstStyle/>
                    <a:p>
                      <a:r>
                        <a:rPr lang="en-US" sz="1600" dirty="0"/>
                        <a:t>2.55</a:t>
                      </a:r>
                    </a:p>
                  </a:txBody>
                  <a:tcPr/>
                </a:tc>
                <a:tc>
                  <a:txBody>
                    <a:bodyPr/>
                    <a:lstStyle/>
                    <a:p>
                      <a:r>
                        <a:rPr lang="en-US" sz="1600" dirty="0"/>
                        <a:t>0.001</a:t>
                      </a:r>
                    </a:p>
                  </a:txBody>
                  <a:tcPr/>
                </a:tc>
                <a:extLst>
                  <a:ext uri="{0D108BD9-81ED-4DB2-BD59-A6C34878D82A}">
                    <a16:rowId xmlns:a16="http://schemas.microsoft.com/office/drawing/2014/main" val="2106028848"/>
                  </a:ext>
                </a:extLst>
              </a:tr>
              <a:tr h="370840">
                <a:tc>
                  <a:txBody>
                    <a:bodyPr/>
                    <a:lstStyle/>
                    <a:p>
                      <a:r>
                        <a:rPr lang="en-US" sz="1600" dirty="0"/>
                        <a:t>Mean tow depth</a:t>
                      </a:r>
                    </a:p>
                  </a:txBody>
                  <a:tcPr/>
                </a:tc>
                <a:tc>
                  <a:txBody>
                    <a:bodyPr/>
                    <a:lstStyle/>
                    <a:p>
                      <a:r>
                        <a:rPr lang="en-US" sz="1600" dirty="0"/>
                        <a:t>1</a:t>
                      </a:r>
                    </a:p>
                  </a:txBody>
                  <a:tcPr/>
                </a:tc>
                <a:tc>
                  <a:txBody>
                    <a:bodyPr/>
                    <a:lstStyle/>
                    <a:p>
                      <a:r>
                        <a:rPr lang="en-US" sz="1600" dirty="0"/>
                        <a:t>2.85</a:t>
                      </a:r>
                    </a:p>
                  </a:txBody>
                  <a:tcPr/>
                </a:tc>
                <a:tc>
                  <a:txBody>
                    <a:bodyPr/>
                    <a:lstStyle/>
                    <a:p>
                      <a:r>
                        <a:rPr lang="en-US" sz="1600" dirty="0"/>
                        <a:t>0.001</a:t>
                      </a:r>
                    </a:p>
                  </a:txBody>
                  <a:tcPr/>
                </a:tc>
                <a:extLst>
                  <a:ext uri="{0D108BD9-81ED-4DB2-BD59-A6C34878D82A}">
                    <a16:rowId xmlns:a16="http://schemas.microsoft.com/office/drawing/2014/main" val="3753500853"/>
                  </a:ext>
                </a:extLst>
              </a:tr>
              <a:tr h="370840">
                <a:tc>
                  <a:txBody>
                    <a:bodyPr/>
                    <a:lstStyle/>
                    <a:p>
                      <a:r>
                        <a:rPr lang="en-US" sz="1600" dirty="0"/>
                        <a:t>Seafloor depth</a:t>
                      </a:r>
                    </a:p>
                  </a:txBody>
                  <a:tcPr/>
                </a:tc>
                <a:tc>
                  <a:txBody>
                    <a:bodyPr/>
                    <a:lstStyle/>
                    <a:p>
                      <a:r>
                        <a:rPr lang="en-US" sz="1600" dirty="0"/>
                        <a:t>1</a:t>
                      </a:r>
                    </a:p>
                  </a:txBody>
                  <a:tcPr/>
                </a:tc>
                <a:tc>
                  <a:txBody>
                    <a:bodyPr/>
                    <a:lstStyle/>
                    <a:p>
                      <a:r>
                        <a:rPr lang="en-US" sz="1600" dirty="0"/>
                        <a:t>1.95</a:t>
                      </a:r>
                    </a:p>
                  </a:txBody>
                  <a:tcPr/>
                </a:tc>
                <a:tc>
                  <a:txBody>
                    <a:bodyPr/>
                    <a:lstStyle/>
                    <a:p>
                      <a:r>
                        <a:rPr lang="en-US" sz="1600" dirty="0"/>
                        <a:t>0.002</a:t>
                      </a:r>
                    </a:p>
                  </a:txBody>
                  <a:tcPr/>
                </a:tc>
                <a:extLst>
                  <a:ext uri="{0D108BD9-81ED-4DB2-BD59-A6C34878D82A}">
                    <a16:rowId xmlns:a16="http://schemas.microsoft.com/office/drawing/2014/main" val="490168775"/>
                  </a:ext>
                </a:extLst>
              </a:tr>
              <a:tr h="370840">
                <a:tc>
                  <a:txBody>
                    <a:bodyPr/>
                    <a:lstStyle/>
                    <a:p>
                      <a:r>
                        <a:rPr lang="en-US" sz="1600" dirty="0"/>
                        <a:t>Temperature</a:t>
                      </a:r>
                    </a:p>
                  </a:txBody>
                  <a:tcPr/>
                </a:tc>
                <a:tc>
                  <a:txBody>
                    <a:bodyPr/>
                    <a:lstStyle/>
                    <a:p>
                      <a:r>
                        <a:rPr lang="en-US" sz="1600" dirty="0"/>
                        <a:t>1</a:t>
                      </a:r>
                    </a:p>
                  </a:txBody>
                  <a:tcPr/>
                </a:tc>
                <a:tc>
                  <a:txBody>
                    <a:bodyPr/>
                    <a:lstStyle/>
                    <a:p>
                      <a:r>
                        <a:rPr lang="en-US" sz="1600" dirty="0"/>
                        <a:t>1.55</a:t>
                      </a:r>
                    </a:p>
                  </a:txBody>
                  <a:tcPr/>
                </a:tc>
                <a:tc>
                  <a:txBody>
                    <a:bodyPr/>
                    <a:lstStyle/>
                    <a:p>
                      <a:r>
                        <a:rPr lang="en-US" sz="1600" dirty="0"/>
                        <a:t>0.010</a:t>
                      </a:r>
                    </a:p>
                  </a:txBody>
                  <a:tcPr/>
                </a:tc>
                <a:extLst>
                  <a:ext uri="{0D108BD9-81ED-4DB2-BD59-A6C34878D82A}">
                    <a16:rowId xmlns:a16="http://schemas.microsoft.com/office/drawing/2014/main" val="761281110"/>
                  </a:ext>
                </a:extLst>
              </a:tr>
              <a:tr h="370840">
                <a:tc>
                  <a:txBody>
                    <a:bodyPr/>
                    <a:lstStyle/>
                    <a:p>
                      <a:r>
                        <a:rPr lang="en-US" sz="1600" dirty="0"/>
                        <a:t>Salinity</a:t>
                      </a:r>
                    </a:p>
                  </a:txBody>
                  <a:tcPr/>
                </a:tc>
                <a:tc>
                  <a:txBody>
                    <a:bodyPr/>
                    <a:lstStyle/>
                    <a:p>
                      <a:r>
                        <a:rPr lang="en-US" sz="1600" dirty="0"/>
                        <a:t>1</a:t>
                      </a:r>
                    </a:p>
                  </a:txBody>
                  <a:tcPr/>
                </a:tc>
                <a:tc>
                  <a:txBody>
                    <a:bodyPr/>
                    <a:lstStyle/>
                    <a:p>
                      <a:r>
                        <a:rPr lang="en-US" sz="1600" dirty="0"/>
                        <a:t>1.78</a:t>
                      </a:r>
                    </a:p>
                  </a:txBody>
                  <a:tcPr/>
                </a:tc>
                <a:tc>
                  <a:txBody>
                    <a:bodyPr/>
                    <a:lstStyle/>
                    <a:p>
                      <a:r>
                        <a:rPr lang="en-US" sz="1600" dirty="0"/>
                        <a:t>0.001</a:t>
                      </a:r>
                    </a:p>
                  </a:txBody>
                  <a:tcPr/>
                </a:tc>
                <a:extLst>
                  <a:ext uri="{0D108BD9-81ED-4DB2-BD59-A6C34878D82A}">
                    <a16:rowId xmlns:a16="http://schemas.microsoft.com/office/drawing/2014/main" val="3148699751"/>
                  </a:ext>
                </a:extLst>
              </a:tr>
              <a:tr h="370840">
                <a:tc>
                  <a:txBody>
                    <a:bodyPr/>
                    <a:lstStyle/>
                    <a:p>
                      <a:r>
                        <a:rPr lang="en-US" sz="1600" dirty="0"/>
                        <a:t>Dissolved oxygen</a:t>
                      </a:r>
                    </a:p>
                  </a:txBody>
                  <a:tcPr/>
                </a:tc>
                <a:tc>
                  <a:txBody>
                    <a:bodyPr/>
                    <a:lstStyle/>
                    <a:p>
                      <a:r>
                        <a:rPr lang="en-US" sz="1600" dirty="0"/>
                        <a:t>1</a:t>
                      </a:r>
                    </a:p>
                  </a:txBody>
                  <a:tcPr/>
                </a:tc>
                <a:tc>
                  <a:txBody>
                    <a:bodyPr/>
                    <a:lstStyle/>
                    <a:p>
                      <a:r>
                        <a:rPr lang="en-US" sz="1600" dirty="0"/>
                        <a:t>3.24</a:t>
                      </a:r>
                    </a:p>
                  </a:txBody>
                  <a:tcPr/>
                </a:tc>
                <a:tc>
                  <a:txBody>
                    <a:bodyPr/>
                    <a:lstStyle/>
                    <a:p>
                      <a:r>
                        <a:rPr lang="en-US" sz="1600" dirty="0"/>
                        <a:t>0.001</a:t>
                      </a:r>
                    </a:p>
                  </a:txBody>
                  <a:tcPr/>
                </a:tc>
                <a:extLst>
                  <a:ext uri="{0D108BD9-81ED-4DB2-BD59-A6C34878D82A}">
                    <a16:rowId xmlns:a16="http://schemas.microsoft.com/office/drawing/2014/main" val="4235185002"/>
                  </a:ext>
                </a:extLst>
              </a:tr>
              <a:tr h="370840">
                <a:tc>
                  <a:txBody>
                    <a:bodyPr/>
                    <a:lstStyle/>
                    <a:p>
                      <a:r>
                        <a:rPr lang="en-US" sz="1600" dirty="0"/>
                        <a:t>Chlorophyll</a:t>
                      </a:r>
                    </a:p>
                  </a:txBody>
                  <a:tcPr/>
                </a:tc>
                <a:tc>
                  <a:txBody>
                    <a:bodyPr/>
                    <a:lstStyle/>
                    <a:p>
                      <a:r>
                        <a:rPr lang="en-US" sz="1600" dirty="0"/>
                        <a:t>1</a:t>
                      </a:r>
                    </a:p>
                  </a:txBody>
                  <a:tcPr/>
                </a:tc>
                <a:tc>
                  <a:txBody>
                    <a:bodyPr/>
                    <a:lstStyle/>
                    <a:p>
                      <a:r>
                        <a:rPr lang="en-US" sz="1600" dirty="0"/>
                        <a:t>2.41</a:t>
                      </a:r>
                    </a:p>
                  </a:txBody>
                  <a:tcPr/>
                </a:tc>
                <a:tc>
                  <a:txBody>
                    <a:bodyPr/>
                    <a:lstStyle/>
                    <a:p>
                      <a:r>
                        <a:rPr lang="en-US" sz="1600" dirty="0"/>
                        <a:t>0.001</a:t>
                      </a:r>
                    </a:p>
                  </a:txBody>
                  <a:tcPr/>
                </a:tc>
                <a:extLst>
                  <a:ext uri="{0D108BD9-81ED-4DB2-BD59-A6C34878D82A}">
                    <a16:rowId xmlns:a16="http://schemas.microsoft.com/office/drawing/2014/main" val="3596044027"/>
                  </a:ext>
                </a:extLst>
              </a:tr>
            </a:tbl>
          </a:graphicData>
        </a:graphic>
      </p:graphicFrame>
      <p:graphicFrame>
        <p:nvGraphicFramePr>
          <p:cNvPr id="8" name="Table 7">
            <a:extLst>
              <a:ext uri="{FF2B5EF4-FFF2-40B4-BE49-F238E27FC236}">
                <a16:creationId xmlns:a16="http://schemas.microsoft.com/office/drawing/2014/main" id="{14369AA0-D52E-A147-85E5-A4560D548AE6}"/>
              </a:ext>
            </a:extLst>
          </p:cNvPr>
          <p:cNvGraphicFramePr>
            <a:graphicFrameLocks noGrp="1"/>
          </p:cNvGraphicFramePr>
          <p:nvPr>
            <p:extLst>
              <p:ext uri="{D42A27DB-BD31-4B8C-83A1-F6EECF244321}">
                <p14:modId xmlns:p14="http://schemas.microsoft.com/office/powerpoint/2010/main" val="3444891104"/>
              </p:ext>
            </p:extLst>
          </p:nvPr>
        </p:nvGraphicFramePr>
        <p:xfrm>
          <a:off x="7737681" y="3898983"/>
          <a:ext cx="3555890" cy="2062480"/>
        </p:xfrm>
        <a:graphic>
          <a:graphicData uri="http://schemas.openxmlformats.org/drawingml/2006/table">
            <a:tbl>
              <a:tblPr firstRow="1" bandRow="1">
                <a:tableStyleId>{5940675A-B579-460E-94D1-54222C63F5DA}</a:tableStyleId>
              </a:tblPr>
              <a:tblGrid>
                <a:gridCol w="1784158">
                  <a:extLst>
                    <a:ext uri="{9D8B030D-6E8A-4147-A177-3AD203B41FA5}">
                      <a16:colId xmlns:a16="http://schemas.microsoft.com/office/drawing/2014/main" val="3288010381"/>
                    </a:ext>
                  </a:extLst>
                </a:gridCol>
                <a:gridCol w="1771732">
                  <a:extLst>
                    <a:ext uri="{9D8B030D-6E8A-4147-A177-3AD203B41FA5}">
                      <a16:colId xmlns:a16="http://schemas.microsoft.com/office/drawing/2014/main" val="238683654"/>
                    </a:ext>
                  </a:extLst>
                </a:gridCol>
              </a:tblGrid>
              <a:tr h="370840">
                <a:tc>
                  <a:txBody>
                    <a:bodyPr/>
                    <a:lstStyle/>
                    <a:p>
                      <a:r>
                        <a:rPr lang="en-US" sz="1600" b="1" dirty="0"/>
                        <a:t>Model component</a:t>
                      </a:r>
                    </a:p>
                  </a:txBody>
                  <a:tcPr/>
                </a:tc>
                <a:tc>
                  <a:txBody>
                    <a:bodyPr/>
                    <a:lstStyle/>
                    <a:p>
                      <a:r>
                        <a:rPr lang="en-US" sz="1600" b="1" dirty="0"/>
                        <a:t>Variance explained</a:t>
                      </a:r>
                    </a:p>
                  </a:txBody>
                  <a:tcPr/>
                </a:tc>
                <a:extLst>
                  <a:ext uri="{0D108BD9-81ED-4DB2-BD59-A6C34878D82A}">
                    <a16:rowId xmlns:a16="http://schemas.microsoft.com/office/drawing/2014/main" val="3621098174"/>
                  </a:ext>
                </a:extLst>
              </a:tr>
              <a:tr h="370840">
                <a:tc>
                  <a:txBody>
                    <a:bodyPr/>
                    <a:lstStyle/>
                    <a:p>
                      <a:r>
                        <a:rPr lang="en-US" sz="1600" dirty="0"/>
                        <a:t>Spatiotemporal</a:t>
                      </a:r>
                    </a:p>
                  </a:txBody>
                  <a:tcPr/>
                </a:tc>
                <a:tc>
                  <a:txBody>
                    <a:bodyPr/>
                    <a:lstStyle/>
                    <a:p>
                      <a:r>
                        <a:rPr lang="en-US" sz="1600" dirty="0"/>
                        <a:t>0.0372</a:t>
                      </a:r>
                    </a:p>
                  </a:txBody>
                  <a:tcPr/>
                </a:tc>
                <a:extLst>
                  <a:ext uri="{0D108BD9-81ED-4DB2-BD59-A6C34878D82A}">
                    <a16:rowId xmlns:a16="http://schemas.microsoft.com/office/drawing/2014/main" val="3145787672"/>
                  </a:ext>
                </a:extLst>
              </a:tr>
              <a:tr h="370840">
                <a:tc>
                  <a:txBody>
                    <a:bodyPr/>
                    <a:lstStyle/>
                    <a:p>
                      <a:r>
                        <a:rPr lang="en-US" sz="1600" dirty="0"/>
                        <a:t>Environmental</a:t>
                      </a:r>
                    </a:p>
                  </a:txBody>
                  <a:tcPr/>
                </a:tc>
                <a:tc>
                  <a:txBody>
                    <a:bodyPr/>
                    <a:lstStyle/>
                    <a:p>
                      <a:r>
                        <a:rPr lang="en-US" sz="1600" dirty="0"/>
                        <a:t>0.0192</a:t>
                      </a:r>
                    </a:p>
                  </a:txBody>
                  <a:tcPr/>
                </a:tc>
                <a:extLst>
                  <a:ext uri="{0D108BD9-81ED-4DB2-BD59-A6C34878D82A}">
                    <a16:rowId xmlns:a16="http://schemas.microsoft.com/office/drawing/2014/main" val="1562106180"/>
                  </a:ext>
                </a:extLst>
              </a:tr>
              <a:tr h="370840">
                <a:tc>
                  <a:txBody>
                    <a:bodyPr/>
                    <a:lstStyle/>
                    <a:p>
                      <a:r>
                        <a:rPr lang="en-US" sz="1600" dirty="0"/>
                        <a:t>Shared</a:t>
                      </a:r>
                    </a:p>
                  </a:txBody>
                  <a:tcPr/>
                </a:tc>
                <a:tc>
                  <a:txBody>
                    <a:bodyPr/>
                    <a:lstStyle/>
                    <a:p>
                      <a:r>
                        <a:rPr lang="en-US" sz="1600" dirty="0"/>
                        <a:t>0.0157</a:t>
                      </a:r>
                    </a:p>
                  </a:txBody>
                  <a:tcPr/>
                </a:tc>
                <a:extLst>
                  <a:ext uri="{0D108BD9-81ED-4DB2-BD59-A6C34878D82A}">
                    <a16:rowId xmlns:a16="http://schemas.microsoft.com/office/drawing/2014/main" val="2651729687"/>
                  </a:ext>
                </a:extLst>
              </a:tr>
              <a:tr h="370840">
                <a:tc>
                  <a:txBody>
                    <a:bodyPr/>
                    <a:lstStyle/>
                    <a:p>
                      <a:r>
                        <a:rPr lang="en-US" sz="1600" dirty="0"/>
                        <a:t>Total</a:t>
                      </a:r>
                    </a:p>
                  </a:txBody>
                  <a:tcPr/>
                </a:tc>
                <a:tc>
                  <a:txBody>
                    <a:bodyPr/>
                    <a:lstStyle/>
                    <a:p>
                      <a:r>
                        <a:rPr lang="en-US" sz="1600" dirty="0"/>
                        <a:t>0.0878</a:t>
                      </a:r>
                    </a:p>
                  </a:txBody>
                  <a:tcPr/>
                </a:tc>
                <a:extLst>
                  <a:ext uri="{0D108BD9-81ED-4DB2-BD59-A6C34878D82A}">
                    <a16:rowId xmlns:a16="http://schemas.microsoft.com/office/drawing/2014/main" val="1207579533"/>
                  </a:ext>
                </a:extLst>
              </a:tr>
            </a:tbl>
          </a:graphicData>
        </a:graphic>
      </p:graphicFrame>
      <p:sp>
        <p:nvSpPr>
          <p:cNvPr id="2" name="TextBox 1">
            <a:extLst>
              <a:ext uri="{FF2B5EF4-FFF2-40B4-BE49-F238E27FC236}">
                <a16:creationId xmlns:a16="http://schemas.microsoft.com/office/drawing/2014/main" id="{F86E690F-BB73-622C-E92D-89C30BD147D1}"/>
              </a:ext>
            </a:extLst>
          </p:cNvPr>
          <p:cNvSpPr txBox="1"/>
          <p:nvPr/>
        </p:nvSpPr>
        <p:spPr>
          <a:xfrm>
            <a:off x="745671" y="374748"/>
            <a:ext cx="10700658" cy="369332"/>
          </a:xfrm>
          <a:prstGeom prst="rect">
            <a:avLst/>
          </a:prstGeom>
          <a:noFill/>
        </p:spPr>
        <p:txBody>
          <a:bodyPr wrap="square" rtlCol="0">
            <a:spAutoFit/>
          </a:bodyPr>
          <a:lstStyle/>
          <a:p>
            <a:r>
              <a:rPr lang="en-US" dirty="0" err="1"/>
              <a:t>dbRDA</a:t>
            </a:r>
            <a:r>
              <a:rPr lang="en-US" dirty="0"/>
              <a:t> results (won’t be included in manuscript in table form)</a:t>
            </a:r>
          </a:p>
        </p:txBody>
      </p:sp>
    </p:spTree>
    <p:extLst>
      <p:ext uri="{BB962C8B-B14F-4D97-AF65-F5344CB8AC3E}">
        <p14:creationId xmlns:p14="http://schemas.microsoft.com/office/powerpoint/2010/main" val="7004495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83123-BEF6-5219-184A-38E95D8112A4}"/>
              </a:ext>
            </a:extLst>
          </p:cNvPr>
          <p:cNvSpPr>
            <a:spLocks noGrp="1"/>
          </p:cNvSpPr>
          <p:nvPr>
            <p:ph type="title"/>
          </p:nvPr>
        </p:nvSpPr>
        <p:spPr/>
        <p:txBody>
          <a:bodyPr>
            <a:normAutofit/>
          </a:bodyPr>
          <a:lstStyle/>
          <a:p>
            <a:r>
              <a:rPr lang="en-US" sz="1800" b="1" dirty="0"/>
              <a:t>Fig. 5.</a:t>
            </a:r>
            <a:r>
              <a:rPr lang="en-US" sz="1800" dirty="0"/>
              <a:t> </a:t>
            </a:r>
            <a:r>
              <a:rPr lang="en-US" sz="1800" dirty="0" err="1"/>
              <a:t>dbRDA</a:t>
            </a:r>
            <a:r>
              <a:rPr lang="en-US" sz="1800" dirty="0"/>
              <a:t> ordination of larval fish samples. Points represent samples and are colored by cluster assignment. Colored polygons encompass all samples assigned to each cluster. Arrows indicate the direction and relative strength of associations between covariates and the constrained ordination axes.</a:t>
            </a:r>
          </a:p>
        </p:txBody>
      </p:sp>
      <p:pic>
        <p:nvPicPr>
          <p:cNvPr id="5" name="Picture 4">
            <a:extLst>
              <a:ext uri="{FF2B5EF4-FFF2-40B4-BE49-F238E27FC236}">
                <a16:creationId xmlns:a16="http://schemas.microsoft.com/office/drawing/2014/main" id="{070384AF-6F2F-B95F-1D83-382FEF2906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78881" y="1690688"/>
            <a:ext cx="7234237" cy="5167312"/>
          </a:xfrm>
          <a:prstGeom prst="rect">
            <a:avLst/>
          </a:prstGeom>
        </p:spPr>
      </p:pic>
    </p:spTree>
    <p:extLst>
      <p:ext uri="{BB962C8B-B14F-4D97-AF65-F5344CB8AC3E}">
        <p14:creationId xmlns:p14="http://schemas.microsoft.com/office/powerpoint/2010/main" val="42483856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481398-12A7-8097-E1FA-2E52522EFB2F}"/>
              </a:ext>
            </a:extLst>
          </p:cNvPr>
          <p:cNvSpPr>
            <a:spLocks noGrp="1"/>
          </p:cNvSpPr>
          <p:nvPr>
            <p:ph type="title"/>
          </p:nvPr>
        </p:nvSpPr>
        <p:spPr/>
        <p:txBody>
          <a:bodyPr>
            <a:normAutofit/>
          </a:bodyPr>
          <a:lstStyle/>
          <a:p>
            <a:r>
              <a:rPr lang="en-US" sz="1800" b="1" dirty="0"/>
              <a:t>Fig. 6. </a:t>
            </a:r>
            <a:r>
              <a:rPr lang="en-US" sz="1800" dirty="0"/>
              <a:t>Surfaces showing abundance of each taxon predicted from GLMM, normalized to the highest predicted abundance of each taxon, at combinations of depth and time of day.</a:t>
            </a:r>
          </a:p>
        </p:txBody>
      </p:sp>
      <p:pic>
        <p:nvPicPr>
          <p:cNvPr id="6" name="Picture 5">
            <a:extLst>
              <a:ext uri="{FF2B5EF4-FFF2-40B4-BE49-F238E27FC236}">
                <a16:creationId xmlns:a16="http://schemas.microsoft.com/office/drawing/2014/main" id="{F4191932-5B6E-6874-BB7D-49E663E650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22365" y="1693153"/>
            <a:ext cx="7747270" cy="5164847"/>
          </a:xfrm>
          <a:prstGeom prst="rect">
            <a:avLst/>
          </a:prstGeom>
        </p:spPr>
      </p:pic>
    </p:spTree>
    <p:extLst>
      <p:ext uri="{BB962C8B-B14F-4D97-AF65-F5344CB8AC3E}">
        <p14:creationId xmlns:p14="http://schemas.microsoft.com/office/powerpoint/2010/main" val="26284246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CD816-BFA4-B315-4067-FF3448619119}"/>
              </a:ext>
            </a:extLst>
          </p:cNvPr>
          <p:cNvSpPr>
            <a:spLocks noGrp="1"/>
          </p:cNvSpPr>
          <p:nvPr>
            <p:ph type="title"/>
          </p:nvPr>
        </p:nvSpPr>
        <p:spPr/>
        <p:txBody>
          <a:bodyPr>
            <a:normAutofit/>
          </a:bodyPr>
          <a:lstStyle/>
          <a:p>
            <a:r>
              <a:rPr lang="en-US" sz="1800" b="1" dirty="0"/>
              <a:t>Fig. 7. </a:t>
            </a:r>
            <a:r>
              <a:rPr lang="en-US" sz="1800" dirty="0"/>
              <a:t>Total predicted count in the top 100 m of the water column of each taxon predicted by GLMM vs. time of day.</a:t>
            </a:r>
          </a:p>
        </p:txBody>
      </p:sp>
      <p:pic>
        <p:nvPicPr>
          <p:cNvPr id="6" name="Picture 5">
            <a:extLst>
              <a:ext uri="{FF2B5EF4-FFF2-40B4-BE49-F238E27FC236}">
                <a16:creationId xmlns:a16="http://schemas.microsoft.com/office/drawing/2014/main" id="{EB6D0618-CB44-B56C-C724-37AB365FC7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20516" y="1690688"/>
            <a:ext cx="7750968" cy="5167312"/>
          </a:xfrm>
          <a:prstGeom prst="rect">
            <a:avLst/>
          </a:prstGeom>
        </p:spPr>
      </p:pic>
    </p:spTree>
    <p:extLst>
      <p:ext uri="{BB962C8B-B14F-4D97-AF65-F5344CB8AC3E}">
        <p14:creationId xmlns:p14="http://schemas.microsoft.com/office/powerpoint/2010/main" val="30181482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97513-B622-C2A5-663B-5AF96D9D72E4}"/>
              </a:ext>
            </a:extLst>
          </p:cNvPr>
          <p:cNvSpPr>
            <a:spLocks noGrp="1"/>
          </p:cNvSpPr>
          <p:nvPr>
            <p:ph type="title"/>
          </p:nvPr>
        </p:nvSpPr>
        <p:spPr/>
        <p:txBody>
          <a:bodyPr>
            <a:normAutofit/>
          </a:bodyPr>
          <a:lstStyle/>
          <a:p>
            <a:r>
              <a:rPr lang="en-US" sz="1800" b="1" dirty="0"/>
              <a:t>Fig. 8. </a:t>
            </a:r>
            <a:r>
              <a:rPr lang="en-US" sz="1800" dirty="0"/>
              <a:t>Taxon-specific relationships between the slope of the effect of depth on abundance and time of day predicted from GLMM.</a:t>
            </a:r>
          </a:p>
        </p:txBody>
      </p:sp>
      <p:pic>
        <p:nvPicPr>
          <p:cNvPr id="6" name="Picture 5">
            <a:extLst>
              <a:ext uri="{FF2B5EF4-FFF2-40B4-BE49-F238E27FC236}">
                <a16:creationId xmlns:a16="http://schemas.microsoft.com/office/drawing/2014/main" id="{4CC538AC-5684-A70D-42C9-56D95F2021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20516" y="1690688"/>
            <a:ext cx="7750968" cy="5167312"/>
          </a:xfrm>
          <a:prstGeom prst="rect">
            <a:avLst/>
          </a:prstGeom>
        </p:spPr>
      </p:pic>
    </p:spTree>
    <p:extLst>
      <p:ext uri="{BB962C8B-B14F-4D97-AF65-F5344CB8AC3E}">
        <p14:creationId xmlns:p14="http://schemas.microsoft.com/office/powerpoint/2010/main" val="10924955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E62EC-21AD-8D3E-7604-956FE891D1E8}"/>
              </a:ext>
            </a:extLst>
          </p:cNvPr>
          <p:cNvSpPr>
            <a:spLocks noGrp="1"/>
          </p:cNvSpPr>
          <p:nvPr>
            <p:ph type="title"/>
          </p:nvPr>
        </p:nvSpPr>
        <p:spPr/>
        <p:txBody>
          <a:bodyPr/>
          <a:lstStyle/>
          <a:p>
            <a:r>
              <a:rPr lang="en-US" dirty="0"/>
              <a:t>Fig. S1. Dendrogram</a:t>
            </a:r>
          </a:p>
        </p:txBody>
      </p:sp>
      <p:pic>
        <p:nvPicPr>
          <p:cNvPr id="4" name="Picture 3">
            <a:extLst>
              <a:ext uri="{FF2B5EF4-FFF2-40B4-BE49-F238E27FC236}">
                <a16:creationId xmlns:a16="http://schemas.microsoft.com/office/drawing/2014/main" id="{C205528B-E17E-2AA6-1BA9-533C38FA70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589" y="1371589"/>
            <a:ext cx="10972822" cy="5486411"/>
          </a:xfrm>
          <a:prstGeom prst="rect">
            <a:avLst/>
          </a:prstGeom>
        </p:spPr>
      </p:pic>
    </p:spTree>
    <p:extLst>
      <p:ext uri="{BB962C8B-B14F-4D97-AF65-F5344CB8AC3E}">
        <p14:creationId xmlns:p14="http://schemas.microsoft.com/office/powerpoint/2010/main" val="38736420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BAA66-029D-2737-FA19-238378A8A2E9}"/>
              </a:ext>
            </a:extLst>
          </p:cNvPr>
          <p:cNvSpPr>
            <a:spLocks noGrp="1"/>
          </p:cNvSpPr>
          <p:nvPr>
            <p:ph type="title"/>
          </p:nvPr>
        </p:nvSpPr>
        <p:spPr/>
        <p:txBody>
          <a:bodyPr>
            <a:normAutofit/>
          </a:bodyPr>
          <a:lstStyle/>
          <a:p>
            <a:r>
              <a:rPr lang="en-US" sz="1800" b="1" dirty="0"/>
              <a:t>Fig. S2. </a:t>
            </a:r>
            <a:r>
              <a:rPr lang="en-US" sz="1800" dirty="0"/>
              <a:t>Concentration of taxa in samples assigned to each cluster in each year.</a:t>
            </a:r>
          </a:p>
        </p:txBody>
      </p:sp>
      <p:pic>
        <p:nvPicPr>
          <p:cNvPr id="11" name="Picture 10">
            <a:extLst>
              <a:ext uri="{FF2B5EF4-FFF2-40B4-BE49-F238E27FC236}">
                <a16:creationId xmlns:a16="http://schemas.microsoft.com/office/drawing/2014/main" id="{C44959B7-7572-9124-03E9-2C746AD94F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82219" y="1233486"/>
            <a:ext cx="1828804" cy="5486411"/>
          </a:xfrm>
          <a:prstGeom prst="rect">
            <a:avLst/>
          </a:prstGeom>
        </p:spPr>
      </p:pic>
      <p:pic>
        <p:nvPicPr>
          <p:cNvPr id="4" name="Picture 3">
            <a:extLst>
              <a:ext uri="{FF2B5EF4-FFF2-40B4-BE49-F238E27FC236}">
                <a16:creationId xmlns:a16="http://schemas.microsoft.com/office/drawing/2014/main" id="{C5CD4023-BD98-5854-49C2-98956C8033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0977" y="1690686"/>
            <a:ext cx="9144019" cy="4572009"/>
          </a:xfrm>
          <a:prstGeom prst="rect">
            <a:avLst/>
          </a:prstGeom>
        </p:spPr>
      </p:pic>
    </p:spTree>
    <p:extLst>
      <p:ext uri="{BB962C8B-B14F-4D97-AF65-F5344CB8AC3E}">
        <p14:creationId xmlns:p14="http://schemas.microsoft.com/office/powerpoint/2010/main" val="38864925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546C2-CE27-C327-E7F6-2084BFC32FFE}"/>
              </a:ext>
            </a:extLst>
          </p:cNvPr>
          <p:cNvSpPr>
            <a:spLocks noGrp="1"/>
          </p:cNvSpPr>
          <p:nvPr>
            <p:ph type="title"/>
          </p:nvPr>
        </p:nvSpPr>
        <p:spPr/>
        <p:txBody>
          <a:bodyPr/>
          <a:lstStyle/>
          <a:p>
            <a:r>
              <a:rPr lang="en-US" dirty="0"/>
              <a:t>Table S1. Model parameters from vertical position GLMM?</a:t>
            </a:r>
          </a:p>
        </p:txBody>
      </p:sp>
      <p:sp>
        <p:nvSpPr>
          <p:cNvPr id="3" name="Content Placeholder 2">
            <a:extLst>
              <a:ext uri="{FF2B5EF4-FFF2-40B4-BE49-F238E27FC236}">
                <a16:creationId xmlns:a16="http://schemas.microsoft.com/office/drawing/2014/main" id="{96CEE610-A8BD-AD7D-7BDC-61AEBDB24A66}"/>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9534606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4446</TotalTime>
  <Words>656</Words>
  <Application>Microsoft Office PowerPoint</Application>
  <PresentationFormat>Widescreen</PresentationFormat>
  <Paragraphs>112</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Aptos Display</vt:lpstr>
      <vt:lpstr>Arial</vt:lpstr>
      <vt:lpstr>Office Theme</vt:lpstr>
      <vt:lpstr>Figures made using final data set</vt:lpstr>
      <vt:lpstr>Fig. 1.  Environmental conditions at each sampling station: (A) locations sampled; (B) temperature, (C) salinity, and (D) dissolved oxygen at the mean depth of each net tow, with locally weighted scatterplot smooths; and (E) mean chlorophyll-a concentration in the top 100 m of the water column in each year. Symbol shapes and line types indicate year and symbol color indicates seafloor depth. Variation in the position of points along the x-axis in (E) has been added for increased visibility.</vt:lpstr>
      <vt:lpstr>Table 1. Taxa associated with each cluster as determined using indicator taxa analysis. Taxa are listed in order of summed abundance within each cluster.</vt:lpstr>
      <vt:lpstr>Fig. 2a. Proportion of taxa in samples assigned to each cluster. Colors correspond to coarse habitat affinity and taxonomic groups: mesopelagics (purples), Pleuronectiformes (oranges), Perciformes (blues), and other coastal taxa (greens).</vt:lpstr>
      <vt:lpstr>PowerPoint Presentation</vt:lpstr>
      <vt:lpstr>Fig. 3. Collection locations of samples assigned to each cluster, separated by sampling replicate. Panel titles indicate the year and, for 2018 and 2019, whether collection took place primarily during day (D) or night (N) and the sampling replicate number. Circle colors indicate the cluster each sample was assigned to and translucence indicates mean sampling depth of the net tow each sample was collected in. “X”s indicate net tows in which fewer than 10 fish larvae or no larvae belonging to taxa present in &gt; 5% of net tows were collected.</vt:lpstr>
      <vt:lpstr>Fig. 4. NMDS ordination of larval fish samples. Points represent samples and are colored by cluster assignment. Colored polygons encompass all samples assigned to each cluster. Arrows indicate the direction of increasing values and relative strength of post hoc associations between spatiotemporal covariates and the NMDS ordination space.</vt:lpstr>
      <vt:lpstr>PowerPoint Presentation</vt:lpstr>
      <vt:lpstr>Fig. 5. dbRDA ordination of larval fish samples. Points represent samples and are colored by cluster assignment. Colored polygons encompass all samples assigned to each cluster. Arrows indicate the direction and relative strength of associations between covariates and the constrained ordination axes.</vt:lpstr>
      <vt:lpstr>Fig. 6. Surfaces showing abundance of each taxon predicted from GLMM, normalized to the highest predicted abundance of each taxon, at combinations of depth and time of day.</vt:lpstr>
      <vt:lpstr>Fig. 7. Total predicted count in the top 100 m of the water column of each taxon predicted by GLMM vs. time of day.</vt:lpstr>
      <vt:lpstr>Fig. 8. Taxon-specific relationships between the slope of the effect of depth on abundance and time of day predicted from GLMM.</vt:lpstr>
      <vt:lpstr>Fig. S1. Dendrogram</vt:lpstr>
      <vt:lpstr>Fig. S2. Concentration of taxa in samples assigned to each cluster in each year.</vt:lpstr>
      <vt:lpstr>Table S1. Model parameters from vertical position GLMM?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Bobay, Luke Andrew</dc:creator>
  <cp:lastModifiedBy>Bobay, Luke Andrew</cp:lastModifiedBy>
  <cp:revision>34</cp:revision>
  <dcterms:created xsi:type="dcterms:W3CDTF">2026-08-12T08:12:03Z</dcterms:created>
  <dcterms:modified xsi:type="dcterms:W3CDTF">2026-09-09T05:13:04Z</dcterms:modified>
</cp:coreProperties>
</file>