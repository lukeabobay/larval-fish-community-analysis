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21_CA7AF24E.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66" r:id="rId4"/>
    <p:sldId id="259" r:id="rId5"/>
    <p:sldId id="290" r:id="rId6"/>
    <p:sldId id="263" r:id="rId7"/>
    <p:sldId id="261" r:id="rId8"/>
    <p:sldId id="285" r:id="rId9"/>
    <p:sldId id="262" r:id="rId10"/>
    <p:sldId id="264" r:id="rId11"/>
    <p:sldId id="288" r:id="rId12"/>
    <p:sldId id="287" r:id="rId13"/>
    <p:sldId id="260" r:id="rId14"/>
    <p:sldId id="258" r:id="rId15"/>
    <p:sldId id="28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 id="{58A79AF3-4AA9-6BD6-8246-7CA6D5AD80B3}" name="Bobay, Luke Andrew" initials="LB" userId="S::bobayl@oregonstate.edu::51702319-4e48-496d-9001-3f54d6daf04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94660"/>
  </p:normalViewPr>
  <p:slideViewPr>
    <p:cSldViewPr snapToGrid="0">
      <p:cViewPr>
        <p:scale>
          <a:sx n="98" d="100"/>
          <a:sy n="98" d="100"/>
        </p:scale>
        <p:origin x="1152" y="2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121_CA7AF24E.xml><?xml version="1.0" encoding="utf-8"?>
<p188:cmLst xmlns:a="http://schemas.openxmlformats.org/drawingml/2006/main" xmlns:r="http://schemas.openxmlformats.org/officeDocument/2006/relationships" xmlns:p188="http://schemas.microsoft.com/office/powerpoint/2018/8/main">
  <p188:cm id="{D2705CE3-BBB0-4AFA-BB6E-B67C692E90E2}" authorId="{1FD40F21-D16F-913E-F6A3-417C7EBBEA4C}" created="2026-08-24T19:16:18.082">
    <pc:sldMkLst xmlns:pc="http://schemas.microsoft.com/office/powerpoint/2013/main/command">
      <pc:docMk/>
      <pc:sldMk cId="3397055054" sldId="289"/>
    </pc:sldMkLst>
    <p188:replyLst>
      <p188:reply id="{B62A5B33-ACCE-4BA6-ADE0-65A162970DAF}" authorId="{58A79AF3-4AA9-6BD6-8246-7CA6D5AD80B3}" created="2026-08-29T01:21:15.484">
        <p188:txBody>
          <a:bodyPr/>
          <a:lstStyle/>
          <a:p>
            <a:r>
              <a:rPr lang="en-US"/>
              <a:t>It shows all sampling stations. It would be nice to indicate which ones had samples that were filtered out, but there were up to 4 samples per station and they were filtered at the level of samples rather than stations, so I can’t think of a good way to indicate when samples were filtered out that won’t complicate the map quite a bit.</a:t>
            </a:r>
          </a:p>
        </p188:txBody>
      </p188:reply>
    </p188:replyLst>
    <p188:txBody>
      <a:bodyPr/>
      <a:lstStyle/>
      <a:p>
        <a:r>
          <a:rPr lang="en-US"/>
          <a:t>Does the map have all sampling locations or only those remaining after thresholding? Maybe we could have some indication on the map which stations were filtered out.</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9/8/2026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9/8/2026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1_CA7AF24E.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FF4EF-3BA5-A120-C73D-C7E359891EC9}"/>
              </a:ext>
            </a:extLst>
          </p:cNvPr>
          <p:cNvSpPr>
            <a:spLocks noGrp="1"/>
          </p:cNvSpPr>
          <p:nvPr>
            <p:ph type="title"/>
          </p:nvPr>
        </p:nvSpPr>
        <p:spPr/>
        <p:txBody>
          <a:bodyPr>
            <a:normAutofit fontScale="90000"/>
          </a:bodyPr>
          <a:lstStyle/>
          <a:p>
            <a:r>
              <a:rPr lang="en-US" sz="1800" b="1" dirty="0"/>
              <a:t>Fig. 1.</a:t>
            </a:r>
            <a:r>
              <a:rPr lang="en-US" sz="1800" dirty="0"/>
              <a:t>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 Variation in the position of points along the x-axis in (E) has been added for increased visibility.</a:t>
            </a:r>
            <a:endParaRPr lang="en-US" sz="1800" b="1" dirty="0"/>
          </a:p>
        </p:txBody>
      </p:sp>
      <p:pic>
        <p:nvPicPr>
          <p:cNvPr id="19" name="Picture 18">
            <a:extLst>
              <a:ext uri="{FF2B5EF4-FFF2-40B4-BE49-F238E27FC236}">
                <a16:creationId xmlns:a16="http://schemas.microsoft.com/office/drawing/2014/main" id="{350DD683-BCFE-19DC-E18D-660E2A447A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6506" y="1690688"/>
            <a:ext cx="7598988" cy="5167312"/>
          </a:xfrm>
          <a:prstGeom prst="rect">
            <a:avLst/>
          </a:prstGeom>
        </p:spPr>
      </p:pic>
    </p:spTree>
    <p:extLst>
      <p:ext uri="{BB962C8B-B14F-4D97-AF65-F5344CB8AC3E}">
        <p14:creationId xmlns:p14="http://schemas.microsoft.com/office/powerpoint/2010/main" val="3397055054"/>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5750BFA-E7AD-E00B-E594-2822D59A51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sp>
        <p:nvSpPr>
          <p:cNvPr id="8" name="Title 1">
            <a:extLst>
              <a:ext uri="{FF2B5EF4-FFF2-40B4-BE49-F238E27FC236}">
                <a16:creationId xmlns:a16="http://schemas.microsoft.com/office/drawing/2014/main" id="{A65183FE-26C0-8275-F052-D3B8EF7CD9E3}"/>
              </a:ext>
            </a:extLst>
          </p:cNvPr>
          <p:cNvSpPr txBox="1">
            <a:spLocks/>
          </p:cNvSpPr>
          <p:nvPr/>
        </p:nvSpPr>
        <p:spPr>
          <a:xfrm>
            <a:off x="838200" y="365125"/>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1800" b="1" dirty="0"/>
          </a:p>
          <a:p>
            <a:endParaRPr lang="en-US" sz="1800" b="1" dirty="0"/>
          </a:p>
          <a:p>
            <a:r>
              <a:rPr lang="en-US" sz="1800" b="1" dirty="0"/>
              <a:t>Fig. 2b.</a:t>
            </a:r>
            <a:r>
              <a:rPr lang="en-US" sz="1800" dirty="0"/>
              <a:t> Log-transformed concentration of taxa in samples assigned to each cluster in each year.</a:t>
            </a:r>
          </a:p>
        </p:txBody>
      </p:sp>
      <p:pic>
        <p:nvPicPr>
          <p:cNvPr id="9" name="Picture 8">
            <a:extLst>
              <a:ext uri="{FF2B5EF4-FFF2-40B4-BE49-F238E27FC236}">
                <a16:creationId xmlns:a16="http://schemas.microsoft.com/office/drawing/2014/main" id="{F0C8FB9C-A32F-7CE0-0AF9-C3DC4BAA05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8"/>
            <a:ext cx="9144019" cy="4572009"/>
          </a:xfrm>
          <a:prstGeom prst="rect">
            <a:avLst/>
          </a:prstGeom>
        </p:spPr>
      </p:pic>
    </p:spTree>
    <p:extLst>
      <p:ext uri="{BB962C8B-B14F-4D97-AF65-F5344CB8AC3E}">
        <p14:creationId xmlns:p14="http://schemas.microsoft.com/office/powerpoint/2010/main" val="916007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4" name="Picture 3">
            <a:extLst>
              <a:ext uri="{FF2B5EF4-FFF2-40B4-BE49-F238E27FC236}">
                <a16:creationId xmlns:a16="http://schemas.microsoft.com/office/drawing/2014/main" id="{59709B19-44B6-BE12-2CBD-2720277C81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4" name="Picture 3">
            <a:extLst>
              <a:ext uri="{FF2B5EF4-FFF2-40B4-BE49-F238E27FC236}">
                <a16:creationId xmlns:a16="http://schemas.microsoft.com/office/drawing/2014/main" id="{197EB4CE-3393-D4FC-F006-C532829D39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78770" y="2285991"/>
            <a:ext cx="6400813" cy="4572009"/>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461935318"/>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0.14</a:t>
                      </a:r>
                    </a:p>
                  </a:txBody>
                  <a:tcPr/>
                </a:tc>
                <a:tc>
                  <a:txBody>
                    <a:bodyPr/>
                    <a:lstStyle/>
                    <a:p>
                      <a:r>
                        <a:rPr lang="en-US" sz="1600" i="0" dirty="0"/>
                        <a:t>0.09</a:t>
                      </a:r>
                    </a:p>
                  </a:txBody>
                  <a:tcPr/>
                </a:tc>
                <a:tc>
                  <a:txBody>
                    <a:bodyPr/>
                    <a:lstStyle/>
                    <a:p>
                      <a:r>
                        <a:rPr lang="en-US" sz="1600" i="0" dirty="0"/>
                        <a:t>2.70</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3229592323"/>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1.65</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Time of day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0.027</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2.55</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2.85</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0.002</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1.55</a:t>
                      </a:r>
                    </a:p>
                  </a:txBody>
                  <a:tcPr/>
                </a:tc>
                <a:tc>
                  <a:txBody>
                    <a:bodyPr/>
                    <a:lstStyle/>
                    <a:p>
                      <a:r>
                        <a:rPr lang="en-US" sz="1600" dirty="0"/>
                        <a:t>0.010</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1.78</a:t>
                      </a:r>
                    </a:p>
                  </a:txBody>
                  <a:tcPr/>
                </a:tc>
                <a:tc>
                  <a:txBody>
                    <a:bodyPr/>
                    <a:lstStyle/>
                    <a:p>
                      <a:r>
                        <a:rPr lang="en-US" sz="1600" dirty="0"/>
                        <a:t>0.001</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3.24</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2.41</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3444891104"/>
              </p:ext>
            </p:extLst>
          </p:nvPr>
        </p:nvGraphicFramePr>
        <p:xfrm>
          <a:off x="7737681" y="3898983"/>
          <a:ext cx="3555890" cy="206248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0.0372</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0.0192</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0.0157</a:t>
                      </a:r>
                    </a:p>
                  </a:txBody>
                  <a:tcPr/>
                </a:tc>
                <a:extLst>
                  <a:ext uri="{0D108BD9-81ED-4DB2-BD59-A6C34878D82A}">
                    <a16:rowId xmlns:a16="http://schemas.microsoft.com/office/drawing/2014/main" val="2651729687"/>
                  </a:ext>
                </a:extLst>
              </a:tr>
              <a:tr h="370840">
                <a:tc>
                  <a:txBody>
                    <a:bodyPr/>
                    <a:lstStyle/>
                    <a:p>
                      <a:r>
                        <a:rPr lang="en-US" sz="1600" dirty="0"/>
                        <a:t>Total</a:t>
                      </a:r>
                    </a:p>
                  </a:txBody>
                  <a:tcPr/>
                </a:tc>
                <a:tc>
                  <a:txBody>
                    <a:bodyPr/>
                    <a:lstStyle/>
                    <a:p>
                      <a:r>
                        <a:rPr lang="en-US" sz="1600" dirty="0"/>
                        <a:t>0.0878</a:t>
                      </a:r>
                    </a:p>
                  </a:txBody>
                  <a:tcPr/>
                </a:tc>
                <a:extLst>
                  <a:ext uri="{0D108BD9-81ED-4DB2-BD59-A6C34878D82A}">
                    <a16:rowId xmlns:a16="http://schemas.microsoft.com/office/drawing/2014/main" val="1207579533"/>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5" name="Picture 4">
            <a:extLst>
              <a:ext uri="{FF2B5EF4-FFF2-40B4-BE49-F238E27FC236}">
                <a16:creationId xmlns:a16="http://schemas.microsoft.com/office/drawing/2014/main" id="{070384AF-6F2F-B95F-1D83-382FEF2906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 </a:t>
            </a:r>
            <a:r>
              <a:rPr lang="en-US" sz="1800" dirty="0"/>
              <a:t>Surfaces showing abundance of each taxon predicted from GLMM, normalized to the highest predicted abundance of each taxon, at combinations of depth and time of day.</a:t>
            </a:r>
          </a:p>
        </p:txBody>
      </p:sp>
      <p:pic>
        <p:nvPicPr>
          <p:cNvPr id="6" name="Picture 5">
            <a:extLst>
              <a:ext uri="{FF2B5EF4-FFF2-40B4-BE49-F238E27FC236}">
                <a16:creationId xmlns:a16="http://schemas.microsoft.com/office/drawing/2014/main" id="{F4191932-5B6E-6874-BB7D-49E663E650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2365" y="1693153"/>
            <a:ext cx="7747270" cy="5164847"/>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7. </a:t>
            </a:r>
            <a:r>
              <a:rPr lang="en-US" sz="1800" dirty="0"/>
              <a:t>Total predicted count in the top 100 m of the water column of each taxon predicted by GLMM vs. time of day.</a:t>
            </a:r>
          </a:p>
        </p:txBody>
      </p:sp>
      <p:pic>
        <p:nvPicPr>
          <p:cNvPr id="6" name="Picture 5">
            <a:extLst>
              <a:ext uri="{FF2B5EF4-FFF2-40B4-BE49-F238E27FC236}">
                <a16:creationId xmlns:a16="http://schemas.microsoft.com/office/drawing/2014/main" id="{EB6D0618-CB44-B56C-C724-37AB365FC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8. </a:t>
            </a:r>
            <a:r>
              <a:rPr lang="en-US" sz="1800" dirty="0"/>
              <a:t>Taxon-specific relationships between the slope of the effect of depth on abundance and time of day predicted from GLMM.</a:t>
            </a:r>
          </a:p>
        </p:txBody>
      </p:sp>
      <p:pic>
        <p:nvPicPr>
          <p:cNvPr id="6" name="Picture 5">
            <a:extLst>
              <a:ext uri="{FF2B5EF4-FFF2-40B4-BE49-F238E27FC236}">
                <a16:creationId xmlns:a16="http://schemas.microsoft.com/office/drawing/2014/main" id="{4CC538AC-5684-A70D-42C9-56D95F2021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4" name="Picture 3">
            <a:extLst>
              <a:ext uri="{FF2B5EF4-FFF2-40B4-BE49-F238E27FC236}">
                <a16:creationId xmlns:a16="http://schemas.microsoft.com/office/drawing/2014/main" id="{C205528B-E17E-2AA6-1BA9-533C38FA70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S2.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0" name="Picture 9">
            <a:extLst>
              <a:ext uri="{FF2B5EF4-FFF2-40B4-BE49-F238E27FC236}">
                <a16:creationId xmlns:a16="http://schemas.microsoft.com/office/drawing/2014/main" id="{39257C87-52EA-8C3B-01DC-9D4E45CB00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4436</TotalTime>
  <Words>656</Words>
  <Application>Microsoft Office PowerPoint</Application>
  <PresentationFormat>Widescreen</PresentationFormat>
  <Paragraphs>112</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Figures made using final data set</vt:lpstr>
      <vt:lpstr>Fig. 1.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 Variation in the position of points along the x-axis in (E) has been added for increased visibility.</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PowerPoint Presentation</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 Surfaces showing abundance of each taxon predicted from GLMM, normalized to the highest predicted abundance of each taxon, at combinations of depth and time of day.</vt:lpstr>
      <vt:lpstr>Fig. 7. Total predicted count in the top 100 m of the water column of each taxon predicted by GLMM vs. time of day.</vt:lpstr>
      <vt:lpstr>Fig. 8. Taxon-specific relationships between the slope of the effect of depth on abundance and time of day predicted from GLMM.</vt:lpstr>
      <vt:lpstr>Fig. S1. Dendrogram</vt:lpstr>
      <vt:lpstr>Fig. S2. Concentration of taxa in samples assigned to each cluster in each year.</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31</cp:revision>
  <dcterms:created xsi:type="dcterms:W3CDTF">2026-08-12T08:12:03Z</dcterms:created>
  <dcterms:modified xsi:type="dcterms:W3CDTF">2026-09-09T05:01:58Z</dcterms:modified>
</cp:coreProperties>
</file>