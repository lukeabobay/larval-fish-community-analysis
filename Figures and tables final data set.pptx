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21_CA7AF24E.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90" r:id="rId6"/>
    <p:sldId id="258" r:id="rId7"/>
    <p:sldId id="263" r:id="rId8"/>
    <p:sldId id="261" r:id="rId9"/>
    <p:sldId id="285" r:id="rId10"/>
    <p:sldId id="262" r:id="rId11"/>
    <p:sldId id="264" r:id="rId12"/>
    <p:sldId id="287" r:id="rId13"/>
    <p:sldId id="288" r:id="rId14"/>
    <p:sldId id="260" r:id="rId15"/>
    <p:sldId id="28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91" d="100"/>
          <a:sy n="91" d="100"/>
        </p:scale>
        <p:origin x="1260"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21_CA7AF24E.xml><?xml version="1.0" encoding="utf-8"?>
<p188:cmLst xmlns:a="http://schemas.openxmlformats.org/drawingml/2006/main" xmlns:r="http://schemas.openxmlformats.org/officeDocument/2006/relationships" xmlns:p188="http://schemas.microsoft.com/office/powerpoint/2018/8/main">
  <p188:cm id="{D2705CE3-BBB0-4AFA-BB6E-B67C692E90E2}" authorId="{1FD40F21-D16F-913E-F6A3-417C7EBBEA4C}" created="2026-08-24T19:16:18.082">
    <pc:sldMkLst xmlns:pc="http://schemas.microsoft.com/office/powerpoint/2013/main/command">
      <pc:docMk/>
      <pc:sldMk cId="3397055054" sldId="289"/>
    </pc:sldMkLst>
    <p188:txBody>
      <a:bodyPr/>
      <a:lstStyle/>
      <a:p>
        <a:r>
          <a:rPr lang="en-US"/>
          <a:t>Does the map have all sampling locations or only those remaining after thresholding? Maybe we could have some indication on the map which stations were filtered out.</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1_CA7AF24E.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fontScale="90000"/>
          </a:bodyPr>
          <a:lstStyle/>
          <a:p>
            <a:r>
              <a:rPr lang="en-US" sz="1800" b="1" dirty="0"/>
              <a:t>Fig. 1.</a:t>
            </a:r>
            <a:r>
              <a:rPr lang="en-US" sz="1800" dirty="0"/>
              <a:t>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 Variation in the position of points along the x-axis in (E) has been added for increased visibility.</a:t>
            </a:r>
            <a:endParaRPr lang="en-US" sz="1800" b="1" dirty="0"/>
          </a:p>
        </p:txBody>
      </p:sp>
      <p:pic>
        <p:nvPicPr>
          <p:cNvPr id="4" name="Picture 3">
            <a:extLst>
              <a:ext uri="{FF2B5EF4-FFF2-40B4-BE49-F238E27FC236}">
                <a16:creationId xmlns:a16="http://schemas.microsoft.com/office/drawing/2014/main" id="{D14B784D-E1CF-7FCB-CFEB-D0DAB74FA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6506" y="1690688"/>
            <a:ext cx="7598988" cy="5167312"/>
          </a:xfrm>
          <a:prstGeom prst="rect">
            <a:avLst/>
          </a:prstGeom>
        </p:spPr>
      </p:pic>
    </p:spTree>
    <p:extLst>
      <p:ext uri="{BB962C8B-B14F-4D97-AF65-F5344CB8AC3E}">
        <p14:creationId xmlns:p14="http://schemas.microsoft.com/office/powerpoint/2010/main" val="339705505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5750BFA-E7AD-E00B-E594-2822D59A51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sp>
        <p:nvSpPr>
          <p:cNvPr id="8" name="Title 1">
            <a:extLst>
              <a:ext uri="{FF2B5EF4-FFF2-40B4-BE49-F238E27FC236}">
                <a16:creationId xmlns:a16="http://schemas.microsoft.com/office/drawing/2014/main" id="{A65183FE-26C0-8275-F052-D3B8EF7CD9E3}"/>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1800" b="1" dirty="0"/>
          </a:p>
          <a:p>
            <a:endParaRPr lang="en-US" sz="1800" b="1" dirty="0"/>
          </a:p>
          <a:p>
            <a:r>
              <a:rPr lang="en-US" sz="1800" b="1" dirty="0"/>
              <a:t>Fig. 2b.</a:t>
            </a:r>
            <a:r>
              <a:rPr lang="en-US" sz="1800" dirty="0"/>
              <a:t> Log-transformed concentration of taxa in samples assigned to each cluster in each year.</a:t>
            </a:r>
          </a:p>
        </p:txBody>
      </p:sp>
      <p:pic>
        <p:nvPicPr>
          <p:cNvPr id="10" name="Picture 9">
            <a:extLst>
              <a:ext uri="{FF2B5EF4-FFF2-40B4-BE49-F238E27FC236}">
                <a16:creationId xmlns:a16="http://schemas.microsoft.com/office/drawing/2014/main" id="{ECC175CB-0844-990F-ABA6-DC44316B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8"/>
            <a:ext cx="9144019" cy="4572009"/>
          </a:xfrm>
          <a:prstGeom prst="rect">
            <a:avLst/>
          </a:prstGeom>
        </p:spPr>
      </p:pic>
    </p:spTree>
    <p:extLst>
      <p:ext uri="{BB962C8B-B14F-4D97-AF65-F5344CB8AC3E}">
        <p14:creationId xmlns:p14="http://schemas.microsoft.com/office/powerpoint/2010/main" val="91600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7" name="Picture 6">
            <a:extLst>
              <a:ext uri="{FF2B5EF4-FFF2-40B4-BE49-F238E27FC236}">
                <a16:creationId xmlns:a16="http://schemas.microsoft.com/office/drawing/2014/main" id="{AF71EAE9-90FF-CABE-25EE-3F7A9B6CC7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461935318"/>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0.14</a:t>
                      </a:r>
                    </a:p>
                  </a:txBody>
                  <a:tcPr/>
                </a:tc>
                <a:tc>
                  <a:txBody>
                    <a:bodyPr/>
                    <a:lstStyle/>
                    <a:p>
                      <a:r>
                        <a:rPr lang="en-US" sz="1600" i="0" dirty="0"/>
                        <a:t>0.09</a:t>
                      </a:r>
                    </a:p>
                  </a:txBody>
                  <a:tcPr/>
                </a:tc>
                <a:tc>
                  <a:txBody>
                    <a:bodyPr/>
                    <a:lstStyle/>
                    <a:p>
                      <a:r>
                        <a:rPr lang="en-US" sz="1600" i="0" dirty="0"/>
                        <a:t>2.70</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3229592323"/>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1.65</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Time of day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0.027</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2.55</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2.85</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0.002</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1.55</a:t>
                      </a:r>
                    </a:p>
                  </a:txBody>
                  <a:tcPr/>
                </a:tc>
                <a:tc>
                  <a:txBody>
                    <a:bodyPr/>
                    <a:lstStyle/>
                    <a:p>
                      <a:r>
                        <a:rPr lang="en-US" sz="1600" dirty="0"/>
                        <a:t>0.010</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1.78</a:t>
                      </a:r>
                    </a:p>
                  </a:txBody>
                  <a:tcPr/>
                </a:tc>
                <a:tc>
                  <a:txBody>
                    <a:bodyPr/>
                    <a:lstStyle/>
                    <a:p>
                      <a:r>
                        <a:rPr lang="en-US" sz="1600" dirty="0"/>
                        <a:t>0.001</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3.24</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2.41</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3444891104"/>
              </p:ext>
            </p:extLst>
          </p:nvPr>
        </p:nvGraphicFramePr>
        <p:xfrm>
          <a:off x="7737681" y="3898983"/>
          <a:ext cx="3555890" cy="206248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0.0372</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0.0192</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0.0157</a:t>
                      </a:r>
                    </a:p>
                  </a:txBody>
                  <a:tcPr/>
                </a:tc>
                <a:extLst>
                  <a:ext uri="{0D108BD9-81ED-4DB2-BD59-A6C34878D82A}">
                    <a16:rowId xmlns:a16="http://schemas.microsoft.com/office/drawing/2014/main" val="2651729687"/>
                  </a:ext>
                </a:extLst>
              </a:tr>
              <a:tr h="370840">
                <a:tc>
                  <a:txBody>
                    <a:bodyPr/>
                    <a:lstStyle/>
                    <a:p>
                      <a:r>
                        <a:rPr lang="en-US" sz="1600" dirty="0"/>
                        <a:t>Total</a:t>
                      </a:r>
                    </a:p>
                  </a:txBody>
                  <a:tcPr/>
                </a:tc>
                <a:tc>
                  <a:txBody>
                    <a:bodyPr/>
                    <a:lstStyle/>
                    <a:p>
                      <a:r>
                        <a:rPr lang="en-US" sz="1600" dirty="0"/>
                        <a:t>0.0878</a:t>
                      </a:r>
                    </a:p>
                  </a:txBody>
                  <a:tcPr/>
                </a:tc>
                <a:extLst>
                  <a:ext uri="{0D108BD9-81ED-4DB2-BD59-A6C34878D82A}">
                    <a16:rowId xmlns:a16="http://schemas.microsoft.com/office/drawing/2014/main" val="1207579533"/>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4" name="Picture 3">
            <a:extLst>
              <a:ext uri="{FF2B5EF4-FFF2-40B4-BE49-F238E27FC236}">
                <a16:creationId xmlns:a16="http://schemas.microsoft.com/office/drawing/2014/main" id="{DDA25253-1089-1351-B31F-43CF33F5B70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6a. </a:t>
            </a:r>
            <a:r>
              <a:rPr lang="en-US" sz="1800" dirty="0"/>
              <a:t>Surfaces showing abundance of each taxon predicted from GLMM, normalized to the highest predicted abundance of each taxon, at combinations of depth and time of day.</a:t>
            </a:r>
          </a:p>
        </p:txBody>
      </p:sp>
      <p:pic>
        <p:nvPicPr>
          <p:cNvPr id="4" name="Picture 3">
            <a:extLst>
              <a:ext uri="{FF2B5EF4-FFF2-40B4-BE49-F238E27FC236}">
                <a16:creationId xmlns:a16="http://schemas.microsoft.com/office/drawing/2014/main" id="{5490D76E-8126-F40E-0E10-AB09C78FE2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18422" y="1690688"/>
            <a:ext cx="7755155" cy="5170104"/>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6b. </a:t>
            </a:r>
            <a:r>
              <a:rPr lang="en-US" sz="1800" dirty="0"/>
              <a:t>Taxon-specific relationships between the slope of the effect of depth on abundance and time of day predicted from GLMM.</a:t>
            </a:r>
          </a:p>
        </p:txBody>
      </p:sp>
      <p:pic>
        <p:nvPicPr>
          <p:cNvPr id="5" name="Picture 4">
            <a:extLst>
              <a:ext uri="{FF2B5EF4-FFF2-40B4-BE49-F238E27FC236}">
                <a16:creationId xmlns:a16="http://schemas.microsoft.com/office/drawing/2014/main" id="{E49F40F6-1E3B-8BDA-6D3A-252EE09034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6c. </a:t>
            </a:r>
            <a:r>
              <a:rPr lang="en-US" sz="1800" dirty="0"/>
              <a:t>Total predicted count in the top 100 m of the water column of each taxon predicted by GLMM vs. time of day.</a:t>
            </a:r>
          </a:p>
        </p:txBody>
      </p:sp>
      <p:pic>
        <p:nvPicPr>
          <p:cNvPr id="5" name="Picture 4">
            <a:extLst>
              <a:ext uri="{FF2B5EF4-FFF2-40B4-BE49-F238E27FC236}">
                <a16:creationId xmlns:a16="http://schemas.microsoft.com/office/drawing/2014/main" id="{8C9FBCCC-601D-54F6-878F-CAE5C5B699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3701</TotalTime>
  <Words>656</Words>
  <Application>Microsoft Office PowerPoint</Application>
  <PresentationFormat>Widescreen</PresentationFormat>
  <Paragraphs>112</Paragraphs>
  <Slides>15</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Figures made using final data set</vt:lpstr>
      <vt:lpstr>Fig. 1.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 Variation in the position of points along the x-axis in (E) has been added for increased visibility.</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PowerPoint Presentation</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6a. Surfaces showing abundance of each taxon predicted from GLMM, normalized to the highest predicted abundance of each taxon, at combinations of depth and time of day.</vt:lpstr>
      <vt:lpstr>Fig. 6b. Taxon-specific relationships between the slope of the effect of depth on abundance and time of day predicted from GLMM.</vt:lpstr>
      <vt:lpstr>Fig. 6c. Total predicted count in the top 100 m of the water column of each taxon predicted by GLMM vs. time of day.</vt:lpstr>
      <vt:lpstr>Fig. S1. Dendrogram</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21</cp:revision>
  <dcterms:created xsi:type="dcterms:W3CDTF">2026-08-12T08:12:03Z</dcterms:created>
  <dcterms:modified xsi:type="dcterms:W3CDTF">2026-08-29T01:15:56Z</dcterms:modified>
</cp:coreProperties>
</file>